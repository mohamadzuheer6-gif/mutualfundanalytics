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77" r:id="rId8"/>
    <p:sldId id="278" r:id="rId9"/>
    <p:sldId id="279"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7" d="100"/>
          <a:sy n="97" d="100"/>
        </p:scale>
        <p:origin x="1042"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E76F93-66EB-4E60-8BF7-60FDAA0816BB}" type="datetimeFigureOut">
              <a:rPr lang="en-IN" smtClean="0"/>
              <a:t>13-07-2026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73888E-89A3-46D8-9251-A6A3890753DE}" type="slidenum">
              <a:rPr lang="en-IN" smtClean="0"/>
              <a:t>‹#›</a:t>
            </a:fld>
            <a:endParaRPr lang="en-IN"/>
          </a:p>
        </p:txBody>
      </p:sp>
    </p:spTree>
    <p:extLst>
      <p:ext uri="{BB962C8B-B14F-4D97-AF65-F5344CB8AC3E}">
        <p14:creationId xmlns:p14="http://schemas.microsoft.com/office/powerpoint/2010/main" val="2026861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3467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hyperlink" Target="https://bluestock-mf-analytics.streamlit.app/"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160520"/>
            <a:ext cx="9144000" cy="982980"/>
          </a:xfrm>
          <a:prstGeom prst="rect">
            <a:avLst/>
          </a:prstGeom>
          <a:solidFill>
            <a:srgbClr val="102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52360" y="-822960"/>
            <a:ext cx="2377440" cy="2377440"/>
          </a:xfrm>
          <a:prstGeom prst="ellipse">
            <a:avLst/>
          </a:prstGeom>
          <a:solidFill>
            <a:srgbClr val="F58220">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3291840"/>
            <a:ext cx="2011680" cy="2011680"/>
          </a:xfrm>
          <a:prstGeom prst="ellipse">
            <a:avLst/>
          </a:prstGeom>
          <a:solidFill>
            <a:srgbClr val="F58220">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17320"/>
            <a:ext cx="7315200" cy="200055"/>
          </a:xfrm>
          <a:prstGeom prst="rect">
            <a:avLst/>
          </a:prstGeom>
          <a:noFill/>
        </p:spPr>
        <p:txBody>
          <a:bodyPr wrap="square" lIns="0" tIns="0" rIns="0" bIns="0" anchor="t">
            <a:spAutoFit/>
          </a:bodyPr>
          <a:lstStyle/>
          <a:p>
            <a:r>
              <a:rPr lang="en-IN" sz="1300" b="1" spc="200">
                <a:solidFill>
                  <a:srgbClr val="F58220"/>
                </a:solidFill>
                <a:latin typeface="Calibri"/>
              </a:rPr>
              <a:t>CAPSTONE PROJECT </a:t>
            </a:r>
            <a:r>
              <a:rPr sz="1300" b="1" i="0" spc="200">
                <a:solidFill>
                  <a:srgbClr val="F58220"/>
                </a:solidFill>
                <a:latin typeface="Calibri"/>
              </a:rPr>
              <a:t>PRESENTATION</a:t>
            </a:r>
          </a:p>
        </p:txBody>
      </p:sp>
      <p:sp>
        <p:nvSpPr>
          <p:cNvPr id="7" name="TextBox 6"/>
          <p:cNvSpPr txBox="1"/>
          <p:nvPr/>
        </p:nvSpPr>
        <p:spPr>
          <a:xfrm>
            <a:off x="640080" y="1783080"/>
            <a:ext cx="7863840" cy="1371600"/>
          </a:xfrm>
          <a:prstGeom prst="rect">
            <a:avLst/>
          </a:prstGeom>
          <a:noFill/>
        </p:spPr>
        <p:txBody>
          <a:bodyPr wrap="square" lIns="0" tIns="0" rIns="0" bIns="0" anchor="t">
            <a:spAutoFit/>
          </a:bodyPr>
          <a:lstStyle/>
          <a:p>
            <a:pPr>
              <a:lnSpc>
                <a:spcPct val="105000"/>
              </a:lnSpc>
            </a:pPr>
            <a:r>
              <a:rPr sz="4000" b="1" i="0">
                <a:solidFill>
                  <a:srgbClr val="FFFFFF"/>
                </a:solidFill>
                <a:latin typeface="Calibri"/>
              </a:rPr>
              <a:t>MUTUAL FUND</a:t>
            </a:r>
          </a:p>
          <a:p>
            <a:pPr>
              <a:lnSpc>
                <a:spcPct val="105000"/>
              </a:lnSpc>
            </a:pPr>
            <a:r>
              <a:rPr sz="4000" b="1" i="0">
                <a:solidFill>
                  <a:srgbClr val="FFFFFF"/>
                </a:solidFill>
                <a:latin typeface="Calibri"/>
              </a:rPr>
              <a:t>ANALYTICS PLATFORM</a:t>
            </a:r>
          </a:p>
        </p:txBody>
      </p:sp>
      <p:sp>
        <p:nvSpPr>
          <p:cNvPr id="8" name="TextBox 7"/>
          <p:cNvSpPr txBox="1"/>
          <p:nvPr/>
        </p:nvSpPr>
        <p:spPr>
          <a:xfrm>
            <a:off x="640080" y="3246120"/>
            <a:ext cx="7315200" cy="230832"/>
          </a:xfrm>
          <a:prstGeom prst="rect">
            <a:avLst/>
          </a:prstGeom>
          <a:noFill/>
        </p:spPr>
        <p:txBody>
          <a:bodyPr wrap="square" lIns="0" tIns="0" rIns="0" bIns="0" anchor="t">
            <a:spAutoFit/>
          </a:bodyPr>
          <a:lstStyle/>
          <a:p>
            <a:r>
              <a:rPr sz="1500" b="0" i="0">
                <a:solidFill>
                  <a:srgbClr val="CFD8E8"/>
                </a:solidFill>
                <a:latin typeface="Calibri"/>
              </a:rPr>
              <a:t>Internship </a:t>
            </a:r>
            <a:r>
              <a:rPr lang="en-IN" sz="1500">
                <a:solidFill>
                  <a:srgbClr val="CFD8E8"/>
                </a:solidFill>
                <a:latin typeface="Calibri"/>
              </a:rPr>
              <a:t>Capstone</a:t>
            </a:r>
            <a:r>
              <a:rPr sz="1500" b="0" i="0">
                <a:solidFill>
                  <a:srgbClr val="CFD8E8"/>
                </a:solidFill>
                <a:latin typeface="Calibri"/>
              </a:rPr>
              <a:t> Project Presentation  |  BlueStock Fintech</a:t>
            </a:r>
          </a:p>
        </p:txBody>
      </p:sp>
      <p:sp>
        <p:nvSpPr>
          <p:cNvPr id="9" name="TextBox 8"/>
          <p:cNvSpPr txBox="1"/>
          <p:nvPr/>
        </p:nvSpPr>
        <p:spPr>
          <a:xfrm>
            <a:off x="640080" y="4370832"/>
            <a:ext cx="5486400" cy="594360"/>
          </a:xfrm>
          <a:prstGeom prst="rect">
            <a:avLst/>
          </a:prstGeom>
          <a:noFill/>
        </p:spPr>
        <p:txBody>
          <a:bodyPr wrap="square" lIns="0" tIns="0" rIns="0" bIns="0" anchor="t">
            <a:spAutoFit/>
          </a:bodyPr>
          <a:lstStyle/>
          <a:p>
            <a:r>
              <a:rPr sz="1500" b="1" i="0">
                <a:solidFill>
                  <a:srgbClr val="FFFFFF"/>
                </a:solidFill>
                <a:latin typeface="Calibri"/>
              </a:rPr>
              <a:t>Mohammad Zuheer</a:t>
            </a:r>
          </a:p>
          <a:p>
            <a:r>
              <a:rPr sz="1150" b="0" i="0">
                <a:solidFill>
                  <a:srgbClr val="B8C4D8"/>
                </a:solidFill>
                <a:latin typeface="Calibri"/>
              </a:rPr>
              <a:t>Data Analyst Intern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78308"/>
            <a:ext cx="5486400" cy="274320"/>
          </a:xfrm>
          <a:prstGeom prst="rect">
            <a:avLst/>
          </a:prstGeom>
          <a:noFill/>
        </p:spPr>
        <p:txBody>
          <a:bodyPr wrap="square" lIns="0" tIns="0" rIns="0" bIns="0" anchor="t">
            <a:spAutoFit/>
          </a:bodyPr>
          <a:lstStyle/>
          <a:p>
            <a:r>
              <a:rPr sz="1100" b="1" i="0" spc="150">
                <a:solidFill>
                  <a:srgbClr val="F58220"/>
                </a:solidFill>
                <a:latin typeface="Calibri"/>
              </a:rPr>
              <a:t>OVERVIEW</a:t>
            </a:r>
          </a:p>
        </p:txBody>
      </p:sp>
      <p:sp>
        <p:nvSpPr>
          <p:cNvPr id="4" name="TextBox 3"/>
          <p:cNvSpPr txBox="1"/>
          <p:nvPr/>
        </p:nvSpPr>
        <p:spPr>
          <a:xfrm>
            <a:off x="457200" y="459880"/>
            <a:ext cx="8229600" cy="548640"/>
          </a:xfrm>
          <a:prstGeom prst="rect">
            <a:avLst/>
          </a:prstGeom>
          <a:noFill/>
        </p:spPr>
        <p:txBody>
          <a:bodyPr wrap="square" lIns="0" tIns="0" rIns="0" bIns="0" anchor="t">
            <a:spAutoFit/>
          </a:bodyPr>
          <a:lstStyle/>
          <a:p>
            <a:r>
              <a:rPr sz="2400" b="1" i="0">
                <a:solidFill>
                  <a:srgbClr val="0C1E36"/>
                </a:solidFill>
                <a:latin typeface="Calibri"/>
              </a:rPr>
              <a:t>Executive Summary</a:t>
            </a:r>
          </a:p>
        </p:txBody>
      </p:sp>
      <p:sp>
        <p:nvSpPr>
          <p:cNvPr id="5" name="TextBox 4"/>
          <p:cNvSpPr txBox="1"/>
          <p:nvPr/>
        </p:nvSpPr>
        <p:spPr>
          <a:xfrm>
            <a:off x="658998" y="912508"/>
            <a:ext cx="8485002" cy="3708516"/>
          </a:xfrm>
          <a:prstGeom prst="rect">
            <a:avLst/>
          </a:prstGeom>
          <a:noFill/>
        </p:spPr>
        <p:txBody>
          <a:bodyPr wrap="square" lIns="0" tIns="0" rIns="0" bIns="0" anchor="t">
            <a:spAutoFit/>
          </a:bodyPr>
          <a:lstStyle/>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lang="en-IN"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Context.  </a:t>
            </a:r>
            <a:r>
              <a:rPr sz="1400" b="0" i="0">
                <a:solidFill>
                  <a:srgbClr val="333333"/>
                </a:solidFill>
                <a:latin typeface="Times New Roman" panose="02020603050405020304" pitchFamily="18" charset="0"/>
                <a:cs typeface="Times New Roman" panose="02020603050405020304" pitchFamily="18" charset="0"/>
              </a:rPr>
              <a:t>Built a centralized, interactive Mutual Fund Analytics Platform at BlueStock Fintech to</a:t>
            </a:r>
            <a:r>
              <a:rPr lang="en-IN" sz="140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address</a:t>
            </a:r>
            <a:r>
              <a:rPr lang="en-IN" sz="1400" b="0" i="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database fragmentation in retail wealth</a:t>
            </a:r>
            <a:r>
              <a:rPr lang="en-IN" sz="1400" b="0" i="0">
                <a:solidFill>
                  <a:srgbClr val="333333"/>
                </a:solidFill>
                <a:latin typeface="Times New Roman" panose="02020603050405020304" pitchFamily="18" charset="0"/>
                <a:cs typeface="Times New Roman" panose="02020603050405020304" pitchFamily="18" charset="0"/>
              </a:rPr>
              <a:t> </a:t>
            </a:r>
            <a:r>
              <a:rPr sz="1400" b="0" i="0">
                <a:solidFill>
                  <a:srgbClr val="333333"/>
                </a:solidFill>
                <a:latin typeface="Times New Roman" panose="02020603050405020304" pitchFamily="18" charset="0"/>
                <a:cs typeface="Times New Roman" panose="02020603050405020304" pitchFamily="18" charset="0"/>
              </a:rPr>
              <a:t> management.</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Database.  </a:t>
            </a:r>
            <a:r>
              <a:rPr sz="1400" b="0" i="0">
                <a:solidFill>
                  <a:srgbClr val="333333"/>
                </a:solidFill>
                <a:latin typeface="Times New Roman" panose="02020603050405020304" pitchFamily="18" charset="0"/>
                <a:cs typeface="Times New Roman" panose="02020603050405020304" pitchFamily="18" charset="0"/>
              </a:rPr>
              <a:t>Structured a star-schema SQLite database integrating ten disparate CSV datasets covering funds, historical NAVs, transactions, and stock portfolios.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Pipeline.  </a:t>
            </a:r>
            <a:r>
              <a:rPr sz="1400" b="0" i="0">
                <a:solidFill>
                  <a:srgbClr val="333333"/>
                </a:solidFill>
                <a:latin typeface="Times New Roman" panose="02020603050405020304" pitchFamily="18" charset="0"/>
                <a:cs typeface="Times New Roman" panose="02020603050405020304" pitchFamily="18" charset="0"/>
              </a:rPr>
              <a:t>Programmed a Python-based ETL pipeline handling automated cleanups, key mapping fixes, and daily API-driven valuation updates.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Visual Interface.  </a:t>
            </a:r>
            <a:r>
              <a:rPr sz="1400" b="0" i="0">
                <a:solidFill>
                  <a:srgbClr val="333333"/>
                </a:solidFill>
                <a:latin typeface="Times New Roman" panose="02020603050405020304" pitchFamily="18" charset="0"/>
                <a:cs typeface="Times New Roman" panose="02020603050405020304" pitchFamily="18" charset="0"/>
              </a:rPr>
              <a:t>Created a 12-page analytical Streamlit dashboard with performance tables, state-wise charts, and SIP trend views.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Advanced Analytics.  </a:t>
            </a:r>
            <a:r>
              <a:rPr sz="1400" b="0" i="0">
                <a:solidFill>
                  <a:srgbClr val="333333"/>
                </a:solidFill>
                <a:latin typeface="Times New Roman" panose="02020603050405020304" pitchFamily="18" charset="0"/>
                <a:cs typeface="Times New Roman" panose="02020603050405020304" pitchFamily="18" charset="0"/>
              </a:rPr>
              <a:t>Integrated portfolio optimization (Markowitz Efficient Frontier) and Monte Carlo growth simulators.</a:t>
            </a:r>
          </a:p>
          <a:p>
            <a:pPr>
              <a:lnSpc>
                <a:spcPct val="108000"/>
              </a:lnSpc>
              <a:spcAft>
                <a:spcPts val="13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Business Outcome.  </a:t>
            </a:r>
            <a:r>
              <a:rPr sz="1400" b="0" i="0">
                <a:solidFill>
                  <a:srgbClr val="333333"/>
                </a:solidFill>
                <a:latin typeface="Times New Roman" panose="02020603050405020304" pitchFamily="18" charset="0"/>
                <a:cs typeface="Times New Roman" panose="02020603050405020304" pitchFamily="18" charset="0"/>
              </a:rPr>
              <a:t>Delivered PDF/Excel export modules and an admin log desk, reducing manual reporting overhead for wealth advisors.</a:t>
            </a:r>
          </a:p>
        </p:txBody>
      </p:sp>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2</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THE CHALLENGE</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Problem Statement</a:t>
            </a:r>
          </a:p>
        </p:txBody>
      </p:sp>
      <p:sp>
        <p:nvSpPr>
          <p:cNvPr id="5" name="TextBox 4"/>
          <p:cNvSpPr txBox="1"/>
          <p:nvPr/>
        </p:nvSpPr>
        <p:spPr>
          <a:xfrm>
            <a:off x="640080" y="1125974"/>
            <a:ext cx="8229600" cy="3111173"/>
          </a:xfrm>
          <a:prstGeom prst="rect">
            <a:avLst/>
          </a:prstGeom>
          <a:noFill/>
        </p:spPr>
        <p:txBody>
          <a:bodyPr wrap="square" lIns="0" tIns="0" rIns="0" bIns="0" anchor="t">
            <a:spAutoFit/>
          </a:bodyPr>
          <a:lstStyle/>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Data Fragmentation.  </a:t>
            </a:r>
            <a:r>
              <a:rPr sz="1450" b="0" i="0">
                <a:solidFill>
                  <a:srgbClr val="333333"/>
                </a:solidFill>
                <a:latin typeface="Times New Roman" panose="02020603050405020304" pitchFamily="18" charset="0"/>
                <a:cs typeface="Times New Roman" panose="02020603050405020304" pitchFamily="18" charset="0"/>
              </a:rPr>
              <a:t>Fund details, NAVs, benchmarks, and sector data are published in diverse, disconnected formats.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Lack of Risk-Adjusted Tools.  </a:t>
            </a:r>
            <a:r>
              <a:rPr sz="1450" b="0" i="0">
                <a:solidFill>
                  <a:srgbClr val="333333"/>
                </a:solidFill>
                <a:latin typeface="Times New Roman" panose="02020603050405020304" pitchFamily="18" charset="0"/>
                <a:cs typeface="Times New Roman" panose="02020603050405020304" pitchFamily="18" charset="0"/>
              </a:rPr>
              <a:t>Investors judge funds mainly on past returns, ignoring volatility, drawdowns, and Sharpe/Sortino ratios.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Static Advisory Reports.  </a:t>
            </a:r>
            <a:r>
              <a:rPr sz="1450" b="0" i="0">
                <a:solidFill>
                  <a:srgbClr val="333333"/>
                </a:solidFill>
                <a:latin typeface="Times New Roman" panose="02020603050405020304" pitchFamily="18" charset="0"/>
                <a:cs typeface="Times New Roman" panose="02020603050405020304" pitchFamily="18" charset="0"/>
              </a:rPr>
              <a:t>Traditional PDF reports don't allow interactive screening, reweighting, or custom horizon projections.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Manual Pipelines.  </a:t>
            </a:r>
            <a:r>
              <a:rPr sz="1450" b="0" i="0">
                <a:solidFill>
                  <a:srgbClr val="333333"/>
                </a:solidFill>
                <a:latin typeface="Times New Roman" panose="02020603050405020304" pitchFamily="18" charset="0"/>
                <a:cs typeface="Times New Roman" panose="02020603050405020304" pitchFamily="18" charset="0"/>
              </a:rPr>
              <a:t>Wealth teams spend significant effort manually loading spreadsheet data, introducing errors.</a:t>
            </a:r>
          </a:p>
          <a:p>
            <a:pPr>
              <a:lnSpc>
                <a:spcPct val="108000"/>
              </a:lnSpc>
              <a:spcAft>
                <a:spcPts val="1400"/>
              </a:spcAft>
            </a:pPr>
            <a:r>
              <a:rPr sz="1450" b="1" i="0">
                <a:solidFill>
                  <a:srgbClr val="F58220"/>
                </a:solidFill>
                <a:latin typeface="Times New Roman" panose="02020603050405020304" pitchFamily="18" charset="0"/>
                <a:cs typeface="Times New Roman" panose="02020603050405020304" pitchFamily="18" charset="0"/>
              </a:rPr>
              <a:t>▪  </a:t>
            </a:r>
            <a:r>
              <a:rPr sz="1450" b="1" i="0">
                <a:solidFill>
                  <a:srgbClr val="0C1E36"/>
                </a:solidFill>
                <a:latin typeface="Times New Roman" panose="02020603050405020304" pitchFamily="18" charset="0"/>
                <a:cs typeface="Times New Roman" panose="02020603050405020304" pitchFamily="18" charset="0"/>
              </a:rPr>
              <a:t>Data Inconsistency.  </a:t>
            </a:r>
            <a:r>
              <a:rPr sz="1450" b="0" i="0">
                <a:solidFill>
                  <a:srgbClr val="333333"/>
                </a:solidFill>
                <a:latin typeface="Times New Roman" panose="02020603050405020304" pitchFamily="18" charset="0"/>
                <a:cs typeface="Times New Roman" panose="02020603050405020304" pitchFamily="18" charset="0"/>
              </a:rPr>
              <a:t>Mismatched scheme names and incorrect AMFI identifiers across sources break table joins.</a:t>
            </a:r>
          </a:p>
        </p:txBody>
      </p:sp>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3</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GOALS</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Project Objectives</a:t>
            </a:r>
          </a:p>
        </p:txBody>
      </p:sp>
      <p:sp>
        <p:nvSpPr>
          <p:cNvPr id="5" name="Rounded Rectangle 4"/>
          <p:cNvSpPr/>
          <p:nvPr/>
        </p:nvSpPr>
        <p:spPr>
          <a:xfrm>
            <a:off x="45720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Relational Consolidation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Host all historical mutual fund records in a local, optimized database.</a:t>
            </a:r>
          </a:p>
        </p:txBody>
      </p:sp>
      <p:sp>
        <p:nvSpPr>
          <p:cNvPr id="6" name="Oval 5"/>
          <p:cNvSpPr/>
          <p:nvPr/>
        </p:nvSpPr>
        <p:spPr>
          <a:xfrm>
            <a:off x="59436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1</a:t>
            </a:r>
          </a:p>
        </p:txBody>
      </p:sp>
      <p:sp>
        <p:nvSpPr>
          <p:cNvPr id="7" name="Rounded Rectangle 6"/>
          <p:cNvSpPr/>
          <p:nvPr/>
        </p:nvSpPr>
        <p:spPr>
          <a:xfrm>
            <a:off x="329184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Automated Updates</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Scheduled ETL pipeline that cleans data and pulls daily valuations incrementally.</a:t>
            </a:r>
          </a:p>
        </p:txBody>
      </p:sp>
      <p:sp>
        <p:nvSpPr>
          <p:cNvPr id="8" name="Oval 7"/>
          <p:cNvSpPr/>
          <p:nvPr/>
        </p:nvSpPr>
        <p:spPr>
          <a:xfrm>
            <a:off x="342900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2</a:t>
            </a:r>
          </a:p>
        </p:txBody>
      </p:sp>
      <p:sp>
        <p:nvSpPr>
          <p:cNvPr id="9" name="Rounded Rectangle 8"/>
          <p:cNvSpPr/>
          <p:nvPr/>
        </p:nvSpPr>
        <p:spPr>
          <a:xfrm>
            <a:off x="6126480" y="14173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Multi-Criteria Recommender</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Scoring engine to rank funds by investor goals, risk, and expense limits.</a:t>
            </a:r>
          </a:p>
        </p:txBody>
      </p:sp>
      <p:sp>
        <p:nvSpPr>
          <p:cNvPr id="10" name="Oval 9"/>
          <p:cNvSpPr/>
          <p:nvPr/>
        </p:nvSpPr>
        <p:spPr>
          <a:xfrm>
            <a:off x="6263640" y="15270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3</a:t>
            </a:r>
          </a:p>
        </p:txBody>
      </p:sp>
      <p:sp>
        <p:nvSpPr>
          <p:cNvPr id="11" name="Rounded Rectangle 10"/>
          <p:cNvSpPr/>
          <p:nvPr/>
        </p:nvSpPr>
        <p:spPr>
          <a:xfrm>
            <a:off x="45720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Risk Metrics Computation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Calculators for Sharpe/Sortino ratios, Alpha, Beta, and Max Drawdowns.</a:t>
            </a:r>
          </a:p>
        </p:txBody>
      </p:sp>
      <p:sp>
        <p:nvSpPr>
          <p:cNvPr id="12" name="Oval 11"/>
          <p:cNvSpPr/>
          <p:nvPr/>
        </p:nvSpPr>
        <p:spPr>
          <a:xfrm>
            <a:off x="59436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4</a:t>
            </a:r>
          </a:p>
        </p:txBody>
      </p:sp>
      <p:sp>
        <p:nvSpPr>
          <p:cNvPr id="13" name="Rounded Rectangle 12"/>
          <p:cNvSpPr/>
          <p:nvPr/>
        </p:nvSpPr>
        <p:spPr>
          <a:xfrm>
            <a:off x="329184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Optimization Integration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Asset weighting models using Markowitz Modern Portfolio Theory.</a:t>
            </a:r>
          </a:p>
        </p:txBody>
      </p:sp>
      <p:sp>
        <p:nvSpPr>
          <p:cNvPr id="14" name="Oval 13"/>
          <p:cNvSpPr/>
          <p:nvPr/>
        </p:nvSpPr>
        <p:spPr>
          <a:xfrm>
            <a:off x="342900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5</a:t>
            </a:r>
          </a:p>
        </p:txBody>
      </p:sp>
      <p:sp>
        <p:nvSpPr>
          <p:cNvPr id="15" name="Rounded Rectangle 14"/>
          <p:cNvSpPr/>
          <p:nvPr/>
        </p:nvSpPr>
        <p:spPr>
          <a:xfrm>
            <a:off x="6126480" y="3017520"/>
            <a:ext cx="2651760" cy="1417320"/>
          </a:xfrm>
          <a:prstGeom prst="roundRect">
            <a:avLst>
              <a:gd name="adj" fmla="val 6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91440" rtlCol="0" anchor="ctr"/>
          <a:lstStyle/>
          <a:p>
            <a:pPr algn="ctr">
              <a:spcBef>
                <a:spcPts val="2800"/>
              </a:spcBef>
            </a:pPr>
            <a:r>
              <a:rPr sz="1250" b="1" i="0">
                <a:solidFill>
                  <a:srgbClr val="0C1E36"/>
                </a:solidFill>
                <a:latin typeface="Times New Roman" panose="02020603050405020304" pitchFamily="18" charset="0"/>
                <a:cs typeface="Times New Roman" panose="02020603050405020304" pitchFamily="18" charset="0"/>
              </a:rPr>
              <a:t>Report Generation</a:t>
            </a:r>
          </a:p>
          <a:p>
            <a:pPr>
              <a:spcBef>
                <a:spcPts val="300"/>
              </a:spcBef>
            </a:pPr>
            <a:r>
              <a:rPr sz="1050" b="0" i="0">
                <a:solidFill>
                  <a:srgbClr val="333333"/>
                </a:solidFill>
                <a:latin typeface="Times New Roman" panose="02020603050405020304" pitchFamily="18" charset="0"/>
                <a:cs typeface="Times New Roman" panose="02020603050405020304" pitchFamily="18" charset="0"/>
              </a:rPr>
              <a:t>Downloadable, client-ready PDF reports and structured Excel files.</a:t>
            </a:r>
          </a:p>
        </p:txBody>
      </p:sp>
      <p:sp>
        <p:nvSpPr>
          <p:cNvPr id="16" name="Oval 15"/>
          <p:cNvSpPr/>
          <p:nvPr/>
        </p:nvSpPr>
        <p:spPr>
          <a:xfrm>
            <a:off x="6263640" y="3127248"/>
            <a:ext cx="274320" cy="274320"/>
          </a:xfrm>
          <a:prstGeom prst="ellipse">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Calibri"/>
              </a:rPr>
              <a:t>6</a:t>
            </a:r>
          </a:p>
        </p:txBody>
      </p:sp>
      <p:sp>
        <p:nvSpPr>
          <p:cNvPr id="17" name="TextBox 16"/>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4</a:t>
            </a:r>
          </a:p>
        </p:txBody>
      </p:sp>
      <p:sp>
        <p:nvSpPr>
          <p:cNvPr id="18" name="TextBox 17"/>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UNDER THE HOOD</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sz="2400" b="1" i="0">
                <a:solidFill>
                  <a:srgbClr val="0C1E36"/>
                </a:solidFill>
                <a:latin typeface="Calibri"/>
              </a:rPr>
              <a:t>Technology Stack</a:t>
            </a:r>
          </a:p>
        </p:txBody>
      </p:sp>
      <p:graphicFrame>
        <p:nvGraphicFramePr>
          <p:cNvPr id="5" name="Table 4"/>
          <p:cNvGraphicFramePr>
            <a:graphicFrameLocks noGrp="1"/>
          </p:cNvGraphicFramePr>
          <p:nvPr>
            <p:extLst>
              <p:ext uri="{D42A27DB-BD31-4B8C-83A1-F6EECF244321}">
                <p14:modId xmlns:p14="http://schemas.microsoft.com/office/powerpoint/2010/main" val="1272034069"/>
              </p:ext>
            </p:extLst>
          </p:nvPr>
        </p:nvGraphicFramePr>
        <p:xfrm>
          <a:off x="457200" y="1371600"/>
          <a:ext cx="8229600" cy="3337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417195">
                <a:tc>
                  <a:txBody>
                    <a:bodyPr/>
                    <a:lstStyle/>
                    <a:p>
                      <a:r>
                        <a:rPr sz="1200" b="1" i="0">
                          <a:solidFill>
                            <a:srgbClr val="FFFFFF"/>
                          </a:solidFill>
                          <a:latin typeface="Times New Roman" panose="02020603050405020304" pitchFamily="18" charset="0"/>
                          <a:cs typeface="Times New Roman" panose="02020603050405020304" pitchFamily="18" charset="0"/>
                        </a:rPr>
                        <a:t>Technology</a:t>
                      </a:r>
                    </a:p>
                  </a:txBody>
                  <a:tcPr marT="36576" marB="36576">
                    <a:solidFill>
                      <a:srgbClr val="0C1E36"/>
                    </a:solidFill>
                  </a:tcPr>
                </a:tc>
                <a:tc>
                  <a:txBody>
                    <a:bodyPr/>
                    <a:lstStyle/>
                    <a:p>
                      <a:r>
                        <a:rPr sz="1200" b="1" i="0">
                          <a:solidFill>
                            <a:srgbClr val="FFFFFF"/>
                          </a:solidFill>
                          <a:latin typeface="Times New Roman" panose="02020603050405020304" pitchFamily="18" charset="0"/>
                          <a:cs typeface="Times New Roman" panose="02020603050405020304" pitchFamily="18" charset="0"/>
                        </a:rPr>
                        <a:t>Purpose</a:t>
                      </a:r>
                    </a:p>
                  </a:txBody>
                  <a:tcPr marT="36576" marB="36576">
                    <a:solidFill>
                      <a:srgbClr val="0C1E36"/>
                    </a:solidFill>
                  </a:tcPr>
                </a:tc>
                <a:tc>
                  <a:txBody>
                    <a:bodyPr/>
                    <a:lstStyle/>
                    <a:p>
                      <a:r>
                        <a:rPr sz="1200" b="1" i="0">
                          <a:solidFill>
                            <a:srgbClr val="FFFFFF"/>
                          </a:solidFill>
                          <a:latin typeface="Times New Roman" panose="02020603050405020304" pitchFamily="18" charset="0"/>
                          <a:cs typeface="Times New Roman" panose="02020603050405020304" pitchFamily="18" charset="0"/>
                        </a:rPr>
                        <a:t>Usage in Project</a:t>
                      </a:r>
                    </a:p>
                  </a:txBody>
                  <a:tcPr marT="36576" marB="36576">
                    <a:solidFill>
                      <a:srgbClr val="0C1E36"/>
                    </a:solidFill>
                  </a:tcPr>
                </a:tc>
                <a:extLst>
                  <a:ext uri="{0D108BD9-81ED-4DB2-BD59-A6C34878D82A}">
                    <a16:rowId xmlns:a16="http://schemas.microsoft.com/office/drawing/2014/main" val="10000"/>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Python</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Core logic &amp; math</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Processes files, computes metrics, controls app flow</a:t>
                      </a:r>
                    </a:p>
                  </a:txBody>
                  <a:tcPr marT="27432" marB="27432">
                    <a:solidFill>
                      <a:srgbClr val="FFFFFF"/>
                    </a:solidFill>
                  </a:tcPr>
                </a:tc>
                <a:extLst>
                  <a:ext uri="{0D108BD9-81ED-4DB2-BD59-A6C34878D82A}">
                    <a16:rowId xmlns:a16="http://schemas.microsoft.com/office/drawing/2014/main" val="10001"/>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Streamlit</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Multi-page dashboard framework</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Renders navigation tabs, KPIs, visual charts</a:t>
                      </a:r>
                    </a:p>
                  </a:txBody>
                  <a:tcPr marT="27432" marB="27432">
                    <a:solidFill>
                      <a:srgbClr val="F1F4F9"/>
                    </a:solidFill>
                  </a:tcPr>
                </a:tc>
                <a:extLst>
                  <a:ext uri="{0D108BD9-81ED-4DB2-BD59-A6C34878D82A}">
                    <a16:rowId xmlns:a16="http://schemas.microsoft.com/office/drawing/2014/main" val="10002"/>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SQLite</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Relational database engine</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Hosts staging, dimension, fact &amp; audit tables</a:t>
                      </a:r>
                    </a:p>
                  </a:txBody>
                  <a:tcPr marT="27432" marB="27432">
                    <a:solidFill>
                      <a:srgbClr val="FFFFFF"/>
                    </a:solidFill>
                  </a:tcPr>
                </a:tc>
                <a:extLst>
                  <a:ext uri="{0D108BD9-81ED-4DB2-BD59-A6C34878D82A}">
                    <a16:rowId xmlns:a16="http://schemas.microsoft.com/office/drawing/2014/main" val="10003"/>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Pandas</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Structured data manipulation</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Cleans, filters, joins, aggregates tables</a:t>
                      </a:r>
                    </a:p>
                  </a:txBody>
                  <a:tcPr marT="27432" marB="27432">
                    <a:solidFill>
                      <a:srgbClr val="F1F4F9"/>
                    </a:solidFill>
                  </a:tcPr>
                </a:tc>
                <a:extLst>
                  <a:ext uri="{0D108BD9-81ED-4DB2-BD59-A6C34878D82A}">
                    <a16:rowId xmlns:a16="http://schemas.microsoft.com/office/drawing/2014/main" val="10004"/>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NumPy / SciPy</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Array math &amp; optimization</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Runs Monte Carlo scenarios &amp; quadratic optimization</a:t>
                      </a:r>
                    </a:p>
                  </a:txBody>
                  <a:tcPr marT="27432" marB="27432">
                    <a:solidFill>
                      <a:srgbClr val="FFFFFF"/>
                    </a:solidFill>
                  </a:tcPr>
                </a:tc>
                <a:extLst>
                  <a:ext uri="{0D108BD9-81ED-4DB2-BD59-A6C34878D82A}">
                    <a16:rowId xmlns:a16="http://schemas.microsoft.com/office/drawing/2014/main" val="10005"/>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Plotly</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Interactive charting library</a:t>
                      </a:r>
                    </a:p>
                  </a:txBody>
                  <a:tcPr marT="27432" marB="27432">
                    <a:solidFill>
                      <a:srgbClr val="F1F4F9"/>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Renders lines, bars, donuts, heatmap grids</a:t>
                      </a:r>
                    </a:p>
                  </a:txBody>
                  <a:tcPr marT="27432" marB="27432">
                    <a:solidFill>
                      <a:srgbClr val="F1F4F9"/>
                    </a:solidFill>
                  </a:tcPr>
                </a:tc>
                <a:extLst>
                  <a:ext uri="{0D108BD9-81ED-4DB2-BD59-A6C34878D82A}">
                    <a16:rowId xmlns:a16="http://schemas.microsoft.com/office/drawing/2014/main" val="10006"/>
                  </a:ext>
                </a:extLst>
              </a:tr>
              <a:tr h="417195">
                <a:tc>
                  <a:txBody>
                    <a:bodyPr/>
                    <a:lstStyle/>
                    <a:p>
                      <a:r>
                        <a:rPr sz="1100" b="1" i="0">
                          <a:solidFill>
                            <a:srgbClr val="0C1E36"/>
                          </a:solidFill>
                          <a:latin typeface="Times New Roman" panose="02020603050405020304" pitchFamily="18" charset="0"/>
                          <a:cs typeface="Times New Roman" panose="02020603050405020304" pitchFamily="18" charset="0"/>
                        </a:rPr>
                        <a:t>ReportLab / openpyxl</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PDF &amp; Excel export engines</a:t>
                      </a:r>
                    </a:p>
                  </a:txBody>
                  <a:tcPr marT="27432" marB="27432">
                    <a:solidFill>
                      <a:srgbClr val="FFFFFF"/>
                    </a:solidFill>
                  </a:tcPr>
                </a:tc>
                <a:tc>
                  <a:txBody>
                    <a:bodyPr/>
                    <a:lstStyle/>
                    <a:p>
                      <a:r>
                        <a:rPr sz="1100" b="0" i="0">
                          <a:solidFill>
                            <a:srgbClr val="333333"/>
                          </a:solidFill>
                          <a:latin typeface="Times New Roman" panose="02020603050405020304" pitchFamily="18" charset="0"/>
                          <a:cs typeface="Times New Roman" panose="02020603050405020304" pitchFamily="18" charset="0"/>
                        </a:rPr>
                        <a:t>Generates formatted reporting files for advisors</a:t>
                      </a:r>
                    </a:p>
                  </a:txBody>
                  <a:tcPr marT="27432" marB="27432">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5</a:t>
            </a:r>
          </a:p>
        </p:txBody>
      </p:sp>
      <p:sp>
        <p:nvSpPr>
          <p:cNvPr id="7" name="TextBox 6"/>
          <p:cNvSpPr txBox="1"/>
          <p:nvPr/>
        </p:nvSpPr>
        <p:spPr>
          <a:xfrm>
            <a:off x="457200" y="4864608"/>
            <a:ext cx="5486400" cy="228600"/>
          </a:xfrm>
          <a:prstGeom prst="rect">
            <a:avLst/>
          </a:prstGeom>
          <a:noFill/>
        </p:spPr>
        <p:txBody>
          <a:bodyPr wrap="square" lIns="0" tIns="0" rIns="0" bIns="0" anchor="t">
            <a:spAutoFit/>
          </a:bodyPr>
          <a:lstStyle/>
          <a:p>
            <a:r>
              <a:rPr sz="900" b="0" i="0">
                <a:solidFill>
                  <a:srgbClr val="8A93A3"/>
                </a:solidFill>
                <a:latin typeface="Calibri"/>
              </a:rPr>
              <a:t>BlueStock Fintech | Mutual Fund Analytics Platform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ARCHITECTURE</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Database Design &amp; ETL Pipeline</a:t>
            </a:r>
          </a:p>
        </p:txBody>
      </p:sp>
      <p:sp>
        <p:nvSpPr>
          <p:cNvPr id="5" name="TextBox 4"/>
          <p:cNvSpPr txBox="1"/>
          <p:nvPr/>
        </p:nvSpPr>
        <p:spPr>
          <a:xfrm>
            <a:off x="457200" y="1191062"/>
            <a:ext cx="3931920" cy="200055"/>
          </a:xfrm>
          <a:prstGeom prst="rect">
            <a:avLst/>
          </a:prstGeom>
          <a:noFill/>
        </p:spPr>
        <p:txBody>
          <a:bodyPr wrap="square" lIns="0" tIns="0" rIns="0" bIns="0" anchor="t">
            <a:spAutoFit/>
          </a:bodyPr>
          <a:lstStyle/>
          <a:p>
            <a:r>
              <a:rPr sz="1300" b="1" i="0">
                <a:solidFill>
                  <a:srgbClr val="0C1E36"/>
                </a:solidFill>
                <a:latin typeface="Times New Roman" panose="02020603050405020304" pitchFamily="18" charset="0"/>
                <a:cs typeface="Times New Roman" panose="02020603050405020304" pitchFamily="18" charset="0"/>
              </a:rPr>
              <a:t>Star-Schema Tables</a:t>
            </a:r>
          </a:p>
        </p:txBody>
      </p:sp>
      <p:sp>
        <p:nvSpPr>
          <p:cNvPr id="6" name="TextBox 5"/>
          <p:cNvSpPr txBox="1"/>
          <p:nvPr/>
        </p:nvSpPr>
        <p:spPr>
          <a:xfrm>
            <a:off x="457200" y="1560852"/>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dim_fund</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fund_id, amfi_code, scheme_name, category, risk_category, benchmark</a:t>
            </a:r>
          </a:p>
        </p:txBody>
      </p:sp>
      <p:sp>
        <p:nvSpPr>
          <p:cNvPr id="7" name="TextBox 6"/>
          <p:cNvSpPr txBox="1"/>
          <p:nvPr/>
        </p:nvSpPr>
        <p:spPr>
          <a:xfrm>
            <a:off x="457200" y="2143012"/>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dim_date</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date_id, full_date, month, year, quarter</a:t>
            </a:r>
          </a:p>
        </p:txBody>
      </p:sp>
      <p:sp>
        <p:nvSpPr>
          <p:cNvPr id="8" name="TextBox 7"/>
          <p:cNvSpPr txBox="1"/>
          <p:nvPr/>
        </p:nvSpPr>
        <p:spPr>
          <a:xfrm>
            <a:off x="457200" y="2685879"/>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fact_nav</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nav_id, fund_id (FK), date_id (FK), nav</a:t>
            </a:r>
          </a:p>
        </p:txBody>
      </p:sp>
      <p:sp>
        <p:nvSpPr>
          <p:cNvPr id="9" name="TextBox 8"/>
          <p:cNvSpPr txBox="1"/>
          <p:nvPr/>
        </p:nvSpPr>
        <p:spPr>
          <a:xfrm>
            <a:off x="457200" y="3236379"/>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fact_performance</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return metrics, Sharpe/Sortino, alpha, beta, AUM, expense ratio</a:t>
            </a:r>
          </a:p>
        </p:txBody>
      </p:sp>
      <p:sp>
        <p:nvSpPr>
          <p:cNvPr id="10" name="TextBox 9"/>
          <p:cNvSpPr txBox="1"/>
          <p:nvPr/>
        </p:nvSpPr>
        <p:spPr>
          <a:xfrm>
            <a:off x="457200" y="4314108"/>
            <a:ext cx="3931920" cy="359073"/>
          </a:xfrm>
          <a:prstGeom prst="rect">
            <a:avLst/>
          </a:prstGeom>
          <a:noFill/>
        </p:spPr>
        <p:txBody>
          <a:bodyPr wrap="square" lIns="0" tIns="0" rIns="0" bIns="0" anchor="t">
            <a:spAutoFit/>
          </a:bodyPr>
          <a:lstStyle/>
          <a:p>
            <a:r>
              <a:rPr sz="1200" b="1" i="0">
                <a:solidFill>
                  <a:srgbClr val="F58220"/>
                </a:solidFill>
                <a:latin typeface="Times New Roman" panose="02020603050405020304" pitchFamily="18" charset="0"/>
                <a:cs typeface="Times New Roman" panose="02020603050405020304" pitchFamily="18" charset="0"/>
              </a:rPr>
              <a:t>etl_metadata</a:t>
            </a:r>
          </a:p>
          <a:p>
            <a:pPr>
              <a:spcBef>
                <a:spcPts val="100"/>
              </a:spcBef>
            </a:pPr>
            <a:r>
              <a:rPr sz="1050" b="0" i="0">
                <a:solidFill>
                  <a:srgbClr val="333333"/>
                </a:solidFill>
                <a:latin typeface="Times New Roman" panose="02020603050405020304" pitchFamily="18" charset="0"/>
                <a:cs typeface="Times New Roman" panose="02020603050405020304" pitchFamily="18" charset="0"/>
              </a:rPr>
              <a:t>logs run timestamps, status, row counts</a:t>
            </a:r>
          </a:p>
        </p:txBody>
      </p:sp>
      <p:sp>
        <p:nvSpPr>
          <p:cNvPr id="11" name="TextBox 10"/>
          <p:cNvSpPr txBox="1"/>
          <p:nvPr/>
        </p:nvSpPr>
        <p:spPr>
          <a:xfrm>
            <a:off x="4709160" y="1325880"/>
            <a:ext cx="3977639" cy="200055"/>
          </a:xfrm>
          <a:prstGeom prst="rect">
            <a:avLst/>
          </a:prstGeom>
          <a:noFill/>
        </p:spPr>
        <p:txBody>
          <a:bodyPr wrap="square" lIns="0" tIns="0" rIns="0" bIns="0" anchor="t">
            <a:spAutoFit/>
          </a:bodyPr>
          <a:lstStyle/>
          <a:p>
            <a:r>
              <a:rPr sz="1300" b="1" i="0">
                <a:solidFill>
                  <a:srgbClr val="0C1E36"/>
                </a:solidFill>
                <a:latin typeface="Times New Roman" panose="02020603050405020304" pitchFamily="18" charset="0"/>
                <a:cs typeface="Times New Roman" panose="02020603050405020304" pitchFamily="18" charset="0"/>
              </a:rPr>
              <a:t>ETL Workflow</a:t>
            </a:r>
          </a:p>
        </p:txBody>
      </p:sp>
      <p:sp>
        <p:nvSpPr>
          <p:cNvPr id="12" name="Oval 11"/>
          <p:cNvSpPr/>
          <p:nvPr/>
        </p:nvSpPr>
        <p:spPr>
          <a:xfrm>
            <a:off x="4709160" y="1709928"/>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5047488" y="1664208"/>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Extract  —  </a:t>
            </a:r>
            <a:r>
              <a:rPr sz="1050" b="0" i="0">
                <a:solidFill>
                  <a:srgbClr val="333333"/>
                </a:solidFill>
                <a:latin typeface="Times New Roman" panose="02020603050405020304" pitchFamily="18" charset="0"/>
                <a:cs typeface="Times New Roman" panose="02020603050405020304" pitchFamily="18" charset="0"/>
              </a:rPr>
              <a:t>Reads raw CSVs and queries AMFI / MFAPI APIs for live historical NAV data.</a:t>
            </a:r>
          </a:p>
        </p:txBody>
      </p:sp>
      <p:sp>
        <p:nvSpPr>
          <p:cNvPr id="14" name="Oval 13"/>
          <p:cNvSpPr/>
          <p:nvPr/>
        </p:nvSpPr>
        <p:spPr>
          <a:xfrm>
            <a:off x="4709160" y="2276856"/>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2</a:t>
            </a:r>
          </a:p>
        </p:txBody>
      </p:sp>
      <p:sp>
        <p:nvSpPr>
          <p:cNvPr id="15" name="TextBox 14"/>
          <p:cNvSpPr txBox="1"/>
          <p:nvPr/>
        </p:nvSpPr>
        <p:spPr>
          <a:xfrm>
            <a:off x="5047488" y="2231136"/>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Transform  —  </a:t>
            </a:r>
            <a:r>
              <a:rPr sz="1050" b="0" i="0">
                <a:solidFill>
                  <a:srgbClr val="333333"/>
                </a:solidFill>
                <a:latin typeface="Times New Roman" panose="02020603050405020304" pitchFamily="18" charset="0"/>
                <a:cs typeface="Times New Roman" panose="02020603050405020304" pitchFamily="18" charset="0"/>
              </a:rPr>
              <a:t>Standardizes dates, coerces types, removes duplicates, handles missing values.</a:t>
            </a:r>
          </a:p>
        </p:txBody>
      </p:sp>
      <p:sp>
        <p:nvSpPr>
          <p:cNvPr id="16" name="Oval 15"/>
          <p:cNvSpPr/>
          <p:nvPr/>
        </p:nvSpPr>
        <p:spPr>
          <a:xfrm>
            <a:off x="4709160" y="2843784"/>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3</a:t>
            </a:r>
          </a:p>
        </p:txBody>
      </p:sp>
      <p:sp>
        <p:nvSpPr>
          <p:cNvPr id="17" name="TextBox 16"/>
          <p:cNvSpPr txBox="1"/>
          <p:nvPr/>
        </p:nvSpPr>
        <p:spPr>
          <a:xfrm>
            <a:off x="5047488" y="2798064"/>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Correct  —  </a:t>
            </a:r>
            <a:r>
              <a:rPr sz="1050" b="0" i="0">
                <a:solidFill>
                  <a:srgbClr val="333333"/>
                </a:solidFill>
                <a:latin typeface="Times New Roman" panose="02020603050405020304" pitchFamily="18" charset="0"/>
                <a:cs typeface="Times New Roman" panose="02020603050405020304" pitchFamily="18" charset="0"/>
              </a:rPr>
              <a:t>Fixes AMFI ID mismatches (e.g. ABSL Large Cap 112114 → 103174).</a:t>
            </a:r>
          </a:p>
        </p:txBody>
      </p:sp>
      <p:sp>
        <p:nvSpPr>
          <p:cNvPr id="18" name="Oval 17"/>
          <p:cNvSpPr/>
          <p:nvPr/>
        </p:nvSpPr>
        <p:spPr>
          <a:xfrm>
            <a:off x="4709160" y="3410712"/>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4</a:t>
            </a:r>
          </a:p>
        </p:txBody>
      </p:sp>
      <p:sp>
        <p:nvSpPr>
          <p:cNvPr id="19" name="TextBox 18"/>
          <p:cNvSpPr txBox="1"/>
          <p:nvPr/>
        </p:nvSpPr>
        <p:spPr>
          <a:xfrm>
            <a:off x="5047488" y="3364992"/>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Load  —  </a:t>
            </a:r>
            <a:r>
              <a:rPr sz="1050" b="0" i="0">
                <a:solidFill>
                  <a:srgbClr val="333333"/>
                </a:solidFill>
                <a:latin typeface="Times New Roman" panose="02020603050405020304" pitchFamily="18" charset="0"/>
                <a:cs typeface="Times New Roman" panose="02020603050405020304" pitchFamily="18" charset="0"/>
              </a:rPr>
              <a:t>Loads cleaned staging tables into SQLite with FK &amp; unique constraints.</a:t>
            </a:r>
          </a:p>
        </p:txBody>
      </p:sp>
      <p:sp>
        <p:nvSpPr>
          <p:cNvPr id="20" name="Oval 19"/>
          <p:cNvSpPr/>
          <p:nvPr/>
        </p:nvSpPr>
        <p:spPr>
          <a:xfrm>
            <a:off x="4709160" y="3977640"/>
            <a:ext cx="201168" cy="201168"/>
          </a:xfrm>
          <a:prstGeom prst="ellipse">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i="0">
                <a:solidFill>
                  <a:srgbClr val="FFFFFF"/>
                </a:solidFill>
                <a:latin typeface="Times New Roman" panose="02020603050405020304" pitchFamily="18" charset="0"/>
                <a:cs typeface="Times New Roman" panose="02020603050405020304" pitchFamily="18" charset="0"/>
              </a:rPr>
              <a:t>5</a:t>
            </a:r>
          </a:p>
        </p:txBody>
      </p:sp>
      <p:sp>
        <p:nvSpPr>
          <p:cNvPr id="21" name="TextBox 20"/>
          <p:cNvSpPr txBox="1"/>
          <p:nvPr/>
        </p:nvSpPr>
        <p:spPr>
          <a:xfrm>
            <a:off x="5047488" y="3931920"/>
            <a:ext cx="3639312" cy="338554"/>
          </a:xfrm>
          <a:prstGeom prst="rect">
            <a:avLst/>
          </a:prstGeom>
          <a:noFill/>
        </p:spPr>
        <p:txBody>
          <a:bodyPr wrap="square" lIns="0" tIns="0" rIns="0" bIns="0" anchor="t">
            <a:spAutoFit/>
          </a:bodyPr>
          <a:lstStyle/>
          <a:p>
            <a:r>
              <a:rPr sz="1150" b="1" i="0">
                <a:solidFill>
                  <a:srgbClr val="0C1E36"/>
                </a:solidFill>
                <a:latin typeface="Times New Roman" panose="02020603050405020304" pitchFamily="18" charset="0"/>
                <a:cs typeface="Times New Roman" panose="02020603050405020304" pitchFamily="18" charset="0"/>
              </a:rPr>
              <a:t>Update Daily  —  </a:t>
            </a:r>
            <a:r>
              <a:rPr sz="1050" b="0" i="0">
                <a:solidFill>
                  <a:srgbClr val="333333"/>
                </a:solidFill>
                <a:latin typeface="Times New Roman" panose="02020603050405020304" pitchFamily="18" charset="0"/>
                <a:cs typeface="Times New Roman" panose="02020603050405020304" pitchFamily="18" charset="0"/>
              </a:rPr>
              <a:t>Fetches new NAVs since last run, appends to fact_nav, audits in etl_metadata.</a:t>
            </a:r>
          </a:p>
        </p:txBody>
      </p:sp>
      <p:sp>
        <p:nvSpPr>
          <p:cNvPr id="22" name="TextBox 21"/>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6</a:t>
            </a:r>
          </a:p>
        </p:txBody>
      </p:sp>
      <p:sp>
        <p:nvSpPr>
          <p:cNvPr id="23" name="TextBox 22"/>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
        <p:nvSpPr>
          <p:cNvPr id="25" name="TextBox 24">
            <a:extLst>
              <a:ext uri="{FF2B5EF4-FFF2-40B4-BE49-F238E27FC236}">
                <a16:creationId xmlns:a16="http://schemas.microsoft.com/office/drawing/2014/main" id="{16E575E9-D755-49B9-032E-8D113EC4CE75}"/>
              </a:ext>
            </a:extLst>
          </p:cNvPr>
          <p:cNvSpPr txBox="1"/>
          <p:nvPr/>
        </p:nvSpPr>
        <p:spPr>
          <a:xfrm>
            <a:off x="457200" y="3767709"/>
            <a:ext cx="4114800" cy="1056700"/>
          </a:xfrm>
          <a:prstGeom prst="rect">
            <a:avLst/>
          </a:prstGeom>
          <a:noFill/>
        </p:spPr>
        <p:txBody>
          <a:bodyPr wrap="square" lIns="0" tIns="0" rIns="0" bIns="0" anchor="t">
            <a:spAutoFit/>
          </a:bodyPr>
          <a:lstStyle/>
          <a:p>
            <a:r>
              <a:rPr lang="en-IN" sz="1200" b="1" i="0">
                <a:solidFill>
                  <a:srgbClr val="F58220"/>
                </a:solidFill>
                <a:latin typeface="Times New Roman" panose="02020603050405020304" pitchFamily="18" charset="0"/>
                <a:cs typeface="Times New Roman" panose="02020603050405020304" pitchFamily="18" charset="0"/>
              </a:rPr>
              <a:t>fact_transactions</a:t>
            </a:r>
            <a:endParaRPr sz="1200" b="1" i="0">
              <a:solidFill>
                <a:srgbClr val="F58220"/>
              </a:solidFill>
              <a:latin typeface="Times New Roman" panose="02020603050405020304" pitchFamily="18" charset="0"/>
              <a:cs typeface="Times New Roman" panose="02020603050405020304" pitchFamily="18" charset="0"/>
            </a:endParaRPr>
          </a:p>
          <a:p>
            <a:pPr>
              <a:spcBef>
                <a:spcPts val="100"/>
              </a:spcBef>
            </a:pPr>
            <a:r>
              <a:rPr lang="en-US" sz="1050"/>
              <a:t>Tracks investor buy/sell orders and demographics (~32,000 rows).</a:t>
            </a:r>
            <a:endParaRPr lang="en-US" sz="800">
              <a:solidFill>
                <a:srgbClr val="333333"/>
              </a:solidFill>
              <a:latin typeface="Times New Roman" panose="02020603050405020304" pitchFamily="18" charset="0"/>
              <a:cs typeface="Times New Roman" panose="02020603050405020304" pitchFamily="18" charset="0"/>
            </a:endParaRPr>
          </a:p>
          <a:p>
            <a:pPr>
              <a:spcBef>
                <a:spcPts val="100"/>
              </a:spcBef>
            </a:pPr>
            <a:endParaRPr lang="en-IN" sz="1050" b="0" i="0">
              <a:solidFill>
                <a:srgbClr val="333333"/>
              </a:solidFill>
              <a:latin typeface="Times New Roman" panose="02020603050405020304" pitchFamily="18" charset="0"/>
              <a:cs typeface="Times New Roman" panose="02020603050405020304" pitchFamily="18" charset="0"/>
            </a:endParaRPr>
          </a:p>
          <a:p>
            <a:pPr>
              <a:spcBef>
                <a:spcPts val="100"/>
              </a:spcBef>
            </a:pPr>
            <a:endParaRPr lang="en-IN" sz="1050">
              <a:solidFill>
                <a:srgbClr val="333333"/>
              </a:solidFill>
              <a:latin typeface="Times New Roman" panose="02020603050405020304" pitchFamily="18" charset="0"/>
              <a:cs typeface="Times New Roman" panose="02020603050405020304" pitchFamily="18" charset="0"/>
            </a:endParaRPr>
          </a:p>
          <a:p>
            <a:pPr>
              <a:spcBef>
                <a:spcPts val="100"/>
              </a:spcBef>
            </a:pPr>
            <a:endParaRPr lang="en-IN" sz="1050" b="0" i="0">
              <a:solidFill>
                <a:srgbClr val="333333"/>
              </a:solidFill>
              <a:latin typeface="Times New Roman" panose="02020603050405020304" pitchFamily="18" charset="0"/>
              <a:cs typeface="Times New Roman" panose="02020603050405020304" pitchFamily="18" charset="0"/>
            </a:endParaRPr>
          </a:p>
          <a:p>
            <a:pPr>
              <a:spcBef>
                <a:spcPts val="100"/>
              </a:spcBef>
            </a:pPr>
            <a:endParaRPr sz="1050" b="0" i="0">
              <a:solidFill>
                <a:srgbClr val="333333"/>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F96DF72A-1F88-84BA-4DB3-0279FD6D7476}"/>
              </a:ext>
            </a:extLst>
          </p:cNvPr>
          <p:cNvSpPr/>
          <p:nvPr/>
        </p:nvSpPr>
        <p:spPr>
          <a:xfrm>
            <a:off x="283779" y="196596"/>
            <a:ext cx="5344510" cy="502920"/>
          </a:xfrm>
          <a:prstGeom prst="rect">
            <a:avLst/>
          </a:prstGeom>
          <a:noFill/>
          <a:ln/>
        </p:spPr>
        <p:txBody>
          <a:bodyPr wrap="square" lIns="0" tIns="0" rIns="0" bIns="0" rtlCol="0" anchor="ctr"/>
          <a:lstStyle/>
          <a:p>
            <a:pPr marL="0" indent="0">
              <a:buNone/>
            </a:pPr>
            <a:r>
              <a:rPr lang="en-US" sz="2400" b="1" dirty="0">
                <a:solidFill>
                  <a:srgbClr val="0C1E36"/>
                </a:solidFill>
                <a:latin typeface="Times New Roman" pitchFamily="34" charset="0"/>
                <a:ea typeface="Times New Roman" pitchFamily="34" charset="-122"/>
                <a:cs typeface="Times New Roman" pitchFamily="34" charset="-120"/>
              </a:rPr>
              <a:t>Database Schema — Data Dictionary</a:t>
            </a:r>
            <a:endParaRPr lang="en-US" sz="2400" dirty="0"/>
          </a:p>
        </p:txBody>
      </p:sp>
      <p:sp>
        <p:nvSpPr>
          <p:cNvPr id="6" name="Text 2">
            <a:extLst>
              <a:ext uri="{FF2B5EF4-FFF2-40B4-BE49-F238E27FC236}">
                <a16:creationId xmlns:a16="http://schemas.microsoft.com/office/drawing/2014/main" id="{622C2C2D-2AE5-DC96-C387-C6AFB15F7D2F}"/>
              </a:ext>
            </a:extLst>
          </p:cNvPr>
          <p:cNvSpPr/>
          <p:nvPr/>
        </p:nvSpPr>
        <p:spPr>
          <a:xfrm>
            <a:off x="6798091" y="64008"/>
            <a:ext cx="2194560" cy="384048"/>
          </a:xfrm>
          <a:prstGeom prst="rect">
            <a:avLst/>
          </a:prstGeom>
          <a:noFill/>
          <a:ln/>
        </p:spPr>
        <p:txBody>
          <a:bodyPr wrap="square" lIns="0" tIns="0" rIns="0" bIns="0" rtlCol="0" anchor="ctr"/>
          <a:lstStyle/>
          <a:p>
            <a:pPr marL="0" indent="0" algn="r">
              <a:buNone/>
            </a:pPr>
            <a:r>
              <a:rPr lang="en-US" sz="1400" b="1" dirty="0">
                <a:solidFill>
                  <a:srgbClr val="0C1E36"/>
                </a:solidFill>
                <a:latin typeface="Times New Roman" pitchFamily="34" charset="0"/>
                <a:ea typeface="Times New Roman" pitchFamily="34" charset="-122"/>
                <a:cs typeface="Times New Roman" pitchFamily="34" charset="-120"/>
              </a:rPr>
              <a:t>BLUESTOCK FINTECH</a:t>
            </a:r>
            <a:endParaRPr lang="en-US" sz="1400" dirty="0"/>
          </a:p>
        </p:txBody>
      </p:sp>
      <p:sp>
        <p:nvSpPr>
          <p:cNvPr id="8" name="Text 3">
            <a:extLst>
              <a:ext uri="{FF2B5EF4-FFF2-40B4-BE49-F238E27FC236}">
                <a16:creationId xmlns:a16="http://schemas.microsoft.com/office/drawing/2014/main" id="{5DEFD3A7-FBC3-E87F-7EB8-6B3A3ADB842D}"/>
              </a:ext>
            </a:extLst>
          </p:cNvPr>
          <p:cNvSpPr/>
          <p:nvPr/>
        </p:nvSpPr>
        <p:spPr>
          <a:xfrm>
            <a:off x="5828511" y="310896"/>
            <a:ext cx="3108960" cy="274320"/>
          </a:xfrm>
          <a:prstGeom prst="rect">
            <a:avLst/>
          </a:prstGeom>
          <a:noFill/>
          <a:ln/>
        </p:spPr>
        <p:txBody>
          <a:bodyPr wrap="square" lIns="0" tIns="0" rIns="0" bIns="0" rtlCol="0" anchor="ctr"/>
          <a:lstStyle/>
          <a:p>
            <a:pPr marL="0" indent="0" algn="r">
              <a:buNone/>
            </a:pPr>
            <a:r>
              <a:rPr lang="en-US" sz="1100" i="1" dirty="0">
                <a:solidFill>
                  <a:srgbClr val="3D4A5C"/>
                </a:solidFill>
                <a:latin typeface="Times New Roman" pitchFamily="34" charset="0"/>
                <a:ea typeface="Times New Roman" pitchFamily="34" charset="-122"/>
                <a:cs typeface="Times New Roman" pitchFamily="34" charset="-120"/>
              </a:rPr>
              <a:t>Mutual Fund Analytics Platform</a:t>
            </a:r>
            <a:endParaRPr lang="en-US" sz="1100" dirty="0"/>
          </a:p>
        </p:txBody>
      </p:sp>
      <p:sp>
        <p:nvSpPr>
          <p:cNvPr id="10" name="Text 1">
            <a:extLst>
              <a:ext uri="{FF2B5EF4-FFF2-40B4-BE49-F238E27FC236}">
                <a16:creationId xmlns:a16="http://schemas.microsoft.com/office/drawing/2014/main" id="{694B266D-A211-776C-1400-A0E5218B0011}"/>
              </a:ext>
            </a:extLst>
          </p:cNvPr>
          <p:cNvSpPr/>
          <p:nvPr/>
        </p:nvSpPr>
        <p:spPr>
          <a:xfrm>
            <a:off x="305851" y="589788"/>
            <a:ext cx="8686800" cy="320040"/>
          </a:xfrm>
          <a:prstGeom prst="rect">
            <a:avLst/>
          </a:prstGeom>
          <a:noFill/>
          <a:ln/>
        </p:spPr>
        <p:txBody>
          <a:bodyPr wrap="square" lIns="0" tIns="0" rIns="0" bIns="0" rtlCol="0" anchor="ctr"/>
          <a:lstStyle/>
          <a:p>
            <a:pPr marL="0" indent="0">
              <a:buNone/>
            </a:pPr>
            <a:r>
              <a:rPr lang="en-US" sz="1400" i="1" dirty="0">
                <a:solidFill>
                  <a:srgbClr val="F58220"/>
                </a:solidFill>
                <a:latin typeface="Times New Roman" pitchFamily="34" charset="0"/>
                <a:ea typeface="Times New Roman" pitchFamily="34" charset="-122"/>
                <a:cs typeface="Times New Roman" pitchFamily="34" charset="-120"/>
              </a:rPr>
              <a:t>Dimension &amp; Fact Tables  ·  1 of 3</a:t>
            </a:r>
            <a:endParaRPr lang="en-US" sz="1400" dirty="0"/>
          </a:p>
        </p:txBody>
      </p:sp>
      <p:graphicFrame>
        <p:nvGraphicFramePr>
          <p:cNvPr id="12" name="Table 0">
            <a:extLst>
              <a:ext uri="{FF2B5EF4-FFF2-40B4-BE49-F238E27FC236}">
                <a16:creationId xmlns:a16="http://schemas.microsoft.com/office/drawing/2014/main" id="{993C6E31-744F-1E87-37FF-8E288DDD533D}"/>
              </a:ext>
            </a:extLst>
          </p:cNvPr>
          <p:cNvGraphicFramePr>
            <a:graphicFrameLocks noGrp="1"/>
          </p:cNvGraphicFramePr>
          <p:nvPr>
            <p:extLst>
              <p:ext uri="{D42A27DB-BD31-4B8C-83A1-F6EECF244321}">
                <p14:modId xmlns:p14="http://schemas.microsoft.com/office/powerpoint/2010/main" val="3603207102"/>
              </p:ext>
            </p:extLst>
          </p:nvPr>
        </p:nvGraphicFramePr>
        <p:xfrm>
          <a:off x="305852" y="946404"/>
          <a:ext cx="8686800" cy="3834384"/>
        </p:xfrm>
        <a:graphic>
          <a:graphicData uri="http://schemas.openxmlformats.org/drawingml/2006/table">
            <a:tbl>
              <a:tblPr/>
              <a:tblGrid>
                <a:gridCol w="1309492">
                  <a:extLst>
                    <a:ext uri="{9D8B030D-6E8A-4147-A177-3AD203B41FA5}">
                      <a16:colId xmlns:a16="http://schemas.microsoft.com/office/drawing/2014/main" val="20000"/>
                    </a:ext>
                  </a:extLst>
                </a:gridCol>
                <a:gridCol w="3939223">
                  <a:extLst>
                    <a:ext uri="{9D8B030D-6E8A-4147-A177-3AD203B41FA5}">
                      <a16:colId xmlns:a16="http://schemas.microsoft.com/office/drawing/2014/main" val="20001"/>
                    </a:ext>
                  </a:extLst>
                </a:gridCol>
                <a:gridCol w="3438085">
                  <a:extLst>
                    <a:ext uri="{9D8B030D-6E8A-4147-A177-3AD203B41FA5}">
                      <a16:colId xmlns:a16="http://schemas.microsoft.com/office/drawing/2014/main" val="20002"/>
                    </a:ext>
                  </a:extLst>
                </a:gridCol>
              </a:tblGrid>
              <a:tr h="300098">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Table Name</a:t>
                      </a:r>
                      <a:endParaRPr lang="en-US" sz="140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Purpose / Indicates</a:t>
                      </a:r>
                      <a:endParaRPr lang="en-US" sz="140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Columns</a:t>
                      </a:r>
                      <a:endParaRPr lang="en-US" sz="140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extLst>
                  <a:ext uri="{0D108BD9-81ED-4DB2-BD59-A6C34878D82A}">
                    <a16:rowId xmlns:a16="http://schemas.microsoft.com/office/drawing/2014/main" val="10000"/>
                  </a:ext>
                </a:extLst>
              </a:tr>
              <a:tr h="642208">
                <a:tc>
                  <a:txBody>
                    <a:bodyPr/>
                    <a:lstStyle/>
                    <a:p>
                      <a:pPr marL="0" indent="0" algn="l">
                        <a:buNone/>
                      </a:pPr>
                      <a:r>
                        <a:rPr lang="en-US" sz="1200" b="1" dirty="0">
                          <a:solidFill>
                            <a:srgbClr val="0C1E36"/>
                          </a:solidFill>
                          <a:latin typeface="Consolas" pitchFamily="34" charset="0"/>
                          <a:ea typeface="Consolas" pitchFamily="34" charset="-122"/>
                          <a:cs typeface="Consolas" pitchFamily="34" charset="-120"/>
                        </a:rPr>
                        <a:t>dim_date</a:t>
                      </a:r>
                      <a:endParaRPr lang="en-US" sz="120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50" dirty="0">
                          <a:solidFill>
                            <a:srgbClr val="3D4A5C"/>
                          </a:solidFill>
                          <a:latin typeface="Times New Roman" pitchFamily="34" charset="0"/>
                          <a:ea typeface="Times New Roman" pitchFamily="34" charset="-122"/>
                          <a:cs typeface="Times New Roman" pitchFamily="34" charset="-120"/>
                        </a:rPr>
                        <a:t>Calendar dimension table used for filtering, grouping, and aggregating fact tables by time attributes (year, quarter, month, weekday, etc.) for time-series analysis.</a:t>
                      </a:r>
                      <a:endParaRPr lang="en-US" sz="115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C1E36"/>
                          </a:solidFill>
                          <a:latin typeface="Consolas" pitchFamily="34" charset="0"/>
                          <a:ea typeface="Consolas" pitchFamily="34" charset="-122"/>
                          <a:cs typeface="Consolas" pitchFamily="34" charset="-120"/>
                        </a:rPr>
                        <a:t>date_id, full_date, year, quarter, month, month_name, day, weekday</a:t>
                      </a:r>
                      <a:endParaRPr lang="en-US" sz="105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2208">
                <a:tc>
                  <a:txBody>
                    <a:bodyPr/>
                    <a:lstStyle/>
                    <a:p>
                      <a:pPr marL="0" indent="0" algn="l">
                        <a:buNone/>
                      </a:pPr>
                      <a:r>
                        <a:rPr lang="en-US" sz="1200" b="1" dirty="0">
                          <a:solidFill>
                            <a:srgbClr val="0C1E36"/>
                          </a:solidFill>
                          <a:latin typeface="Consolas" pitchFamily="34" charset="0"/>
                          <a:ea typeface="Consolas" pitchFamily="34" charset="-122"/>
                          <a:cs typeface="Consolas" pitchFamily="34" charset="-120"/>
                        </a:rPr>
                        <a:t>dim_fund</a:t>
                      </a:r>
                      <a:endParaRPr lang="en-US" sz="120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150" dirty="0">
                          <a:solidFill>
                            <a:srgbClr val="3D4A5C"/>
                          </a:solidFill>
                          <a:latin typeface="Times New Roman" pitchFamily="34" charset="0"/>
                          <a:ea typeface="Times New Roman" pitchFamily="34" charset="-122"/>
                          <a:cs typeface="Times New Roman" pitchFamily="34" charset="-120"/>
                        </a:rPr>
                        <a:t>Master dimension table containing static information about mutual fund schemes, including fund house, category, benchmark, fund manager, and risk classification.</a:t>
                      </a:r>
                      <a:endParaRPr lang="en-US" sz="115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050" dirty="0">
                          <a:solidFill>
                            <a:srgbClr val="0C1E36"/>
                          </a:solidFill>
                          <a:latin typeface="Consolas" pitchFamily="34" charset="0"/>
                          <a:ea typeface="Consolas" pitchFamily="34" charset="-122"/>
                          <a:cs typeface="Consolas" pitchFamily="34" charset="-120"/>
                        </a:rPr>
                        <a:t>fund_id, amfi_code, fund_house, scheme_name, category, sub_category, plan, benchmark, fund_manager, risk_category, sebi_category_code</a:t>
                      </a:r>
                      <a:endParaRPr lang="en-US" sz="105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642208">
                <a:tc>
                  <a:txBody>
                    <a:bodyPr/>
                    <a:lstStyle/>
                    <a:p>
                      <a:pPr marL="0" indent="0" algn="l">
                        <a:buNone/>
                      </a:pPr>
                      <a:r>
                        <a:rPr lang="en-US" sz="1200" b="1" dirty="0">
                          <a:solidFill>
                            <a:srgbClr val="0C1E36"/>
                          </a:solidFill>
                          <a:latin typeface="Consolas" pitchFamily="34" charset="0"/>
                          <a:ea typeface="Consolas" pitchFamily="34" charset="-122"/>
                          <a:cs typeface="Consolas" pitchFamily="34" charset="-120"/>
                        </a:rPr>
                        <a:t>etl_metadata</a:t>
                      </a:r>
                      <a:endParaRPr lang="en-US" sz="120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50" dirty="0">
                          <a:solidFill>
                            <a:srgbClr val="3D4A5C"/>
                          </a:solidFill>
                          <a:latin typeface="Times New Roman" pitchFamily="34" charset="0"/>
                          <a:ea typeface="Times New Roman" pitchFamily="34" charset="-122"/>
                          <a:cs typeface="Times New Roman" pitchFamily="34" charset="-120"/>
                        </a:rPr>
                        <a:t>Stores ETL pipeline execution metadata, including key operational information such as the timestamp of the last successful pipeline run.</a:t>
                      </a:r>
                      <a:endParaRPr lang="en-US" sz="115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C1E36"/>
                          </a:solidFill>
                          <a:latin typeface="Consolas" pitchFamily="34" charset="0"/>
                          <a:ea typeface="Consolas" pitchFamily="34" charset="-122"/>
                          <a:cs typeface="Consolas" pitchFamily="34" charset="-120"/>
                        </a:rPr>
                        <a:t>key, value</a:t>
                      </a:r>
                      <a:endParaRPr lang="en-US" sz="105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2208">
                <a:tc>
                  <a:txBody>
                    <a:bodyPr/>
                    <a:lstStyle/>
                    <a:p>
                      <a:pPr marL="0" indent="0" algn="l">
                        <a:buNone/>
                      </a:pPr>
                      <a:r>
                        <a:rPr lang="en-US" sz="1200" b="1" dirty="0">
                          <a:solidFill>
                            <a:srgbClr val="0C1E36"/>
                          </a:solidFill>
                          <a:latin typeface="Consolas" pitchFamily="34" charset="0"/>
                          <a:ea typeface="Consolas" pitchFamily="34" charset="-122"/>
                          <a:cs typeface="Consolas" pitchFamily="34" charset="-120"/>
                        </a:rPr>
                        <a:t>fact_aum</a:t>
                      </a:r>
                      <a:endParaRPr lang="en-US" sz="120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150" dirty="0">
                          <a:solidFill>
                            <a:srgbClr val="3D4A5C"/>
                          </a:solidFill>
                          <a:latin typeface="Times New Roman" pitchFamily="34" charset="0"/>
                          <a:ea typeface="Times New Roman" pitchFamily="34" charset="-122"/>
                          <a:cs typeface="Times New Roman" pitchFamily="34" charset="-120"/>
                        </a:rPr>
                        <a:t>Stores periodic Assets Under Management (AUM) snapshots for each fund house, supporting market share, growth trend, and ranking analyses.</a:t>
                      </a:r>
                      <a:endParaRPr lang="en-US" sz="115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050" dirty="0">
                          <a:solidFill>
                            <a:srgbClr val="0C1E36"/>
                          </a:solidFill>
                          <a:latin typeface="Consolas" pitchFamily="34" charset="0"/>
                          <a:ea typeface="Consolas" pitchFamily="34" charset="-122"/>
                          <a:cs typeface="Consolas" pitchFamily="34" charset="-120"/>
                        </a:rPr>
                        <a:t>aum_id, date_id, fund_house, aum_lakh_crore, aum_crore, num_schemes</a:t>
                      </a:r>
                      <a:endParaRPr lang="en-US" sz="105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r h="642208">
                <a:tc>
                  <a:txBody>
                    <a:bodyPr/>
                    <a:lstStyle/>
                    <a:p>
                      <a:pPr marL="0" indent="0" algn="l">
                        <a:buNone/>
                      </a:pPr>
                      <a:r>
                        <a:rPr lang="en-US" sz="1200" b="1" dirty="0">
                          <a:solidFill>
                            <a:srgbClr val="0C1E36"/>
                          </a:solidFill>
                          <a:latin typeface="Consolas" pitchFamily="34" charset="0"/>
                          <a:ea typeface="Consolas" pitchFamily="34" charset="-122"/>
                          <a:cs typeface="Consolas" pitchFamily="34" charset="-120"/>
                        </a:rPr>
                        <a:t>fact_nav</a:t>
                      </a:r>
                      <a:endParaRPr lang="en-US" sz="120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50" dirty="0">
                          <a:solidFill>
                            <a:srgbClr val="3D4A5C"/>
                          </a:solidFill>
                          <a:latin typeface="Times New Roman" pitchFamily="34" charset="0"/>
                          <a:ea typeface="Times New Roman" pitchFamily="34" charset="-122"/>
                          <a:cs typeface="Times New Roman" pitchFamily="34" charset="-120"/>
                        </a:rPr>
                        <a:t>Stores daily Net Asset Value (NAV) records for each mutual fund scheme, serving as the primary source for NAV trends, return calculations, and performance analysis.</a:t>
                      </a:r>
                      <a:endParaRPr lang="en-US" sz="1150" dirty="0">
                        <a:latin typeface="Times New Roman" charset="0"/>
                        <a:ea typeface="Times New Roman" charset="0"/>
                        <a:cs typeface="Times New Roman"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C1E36"/>
                          </a:solidFill>
                          <a:latin typeface="Consolas" pitchFamily="34" charset="0"/>
                          <a:ea typeface="Consolas" pitchFamily="34" charset="-122"/>
                          <a:cs typeface="Consolas" pitchFamily="34" charset="-120"/>
                        </a:rPr>
                        <a:t>nav_id, fund_id, date_id, nav</a:t>
                      </a:r>
                      <a:endParaRPr lang="en-US" sz="1050" dirty="0">
                        <a:latin typeface="Consolas" charset="0"/>
                        <a:ea typeface="Consolas" charset="0"/>
                        <a:cs typeface="Consolas" charset="0"/>
                      </a:endParaRPr>
                    </a:p>
                  </a:txBody>
                  <a:tcPr marL="73152" marR="73152" marT="73152" marB="7315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987242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2900" y="192024"/>
            <a:ext cx="6515100" cy="377190"/>
          </a:xfrm>
          <a:prstGeom prst="rect">
            <a:avLst/>
          </a:prstGeom>
          <a:noFill/>
          <a:ln/>
        </p:spPr>
        <p:txBody>
          <a:bodyPr wrap="square" lIns="0" tIns="0" rIns="0" bIns="0" rtlCol="0" anchor="ctr"/>
          <a:lstStyle/>
          <a:p>
            <a:r>
              <a:rPr lang="en-US" sz="1950" b="1" dirty="0">
                <a:solidFill>
                  <a:srgbClr val="0C1E36"/>
                </a:solidFill>
                <a:latin typeface="Times New Roman" pitchFamily="34" charset="0"/>
                <a:ea typeface="Times New Roman" pitchFamily="34" charset="-122"/>
                <a:cs typeface="Times New Roman" pitchFamily="34" charset="-120"/>
              </a:rPr>
              <a:t>Database Schema — Data Dictionary</a:t>
            </a:r>
            <a:endParaRPr lang="en-US" sz="1950" dirty="0"/>
          </a:p>
        </p:txBody>
      </p:sp>
      <p:sp>
        <p:nvSpPr>
          <p:cNvPr id="3" name="Text 1"/>
          <p:cNvSpPr/>
          <p:nvPr/>
        </p:nvSpPr>
        <p:spPr>
          <a:xfrm>
            <a:off x="342900" y="562356"/>
            <a:ext cx="6515100" cy="240030"/>
          </a:xfrm>
          <a:prstGeom prst="rect">
            <a:avLst/>
          </a:prstGeom>
          <a:noFill/>
          <a:ln/>
        </p:spPr>
        <p:txBody>
          <a:bodyPr wrap="square" lIns="0" tIns="0" rIns="0" bIns="0" rtlCol="0" anchor="ctr"/>
          <a:lstStyle/>
          <a:p>
            <a:r>
              <a:rPr lang="en-US" sz="1050" i="1" dirty="0">
                <a:solidFill>
                  <a:srgbClr val="F58220"/>
                </a:solidFill>
                <a:latin typeface="Times New Roman" pitchFamily="34" charset="0"/>
                <a:ea typeface="Times New Roman" pitchFamily="34" charset="-122"/>
                <a:cs typeface="Times New Roman" pitchFamily="34" charset="-120"/>
              </a:rPr>
              <a:t>Fact &amp; Benchmark Tables  ·  2 of 3</a:t>
            </a:r>
            <a:endParaRPr lang="en-US" sz="1050" dirty="0"/>
          </a:p>
        </p:txBody>
      </p:sp>
      <p:sp>
        <p:nvSpPr>
          <p:cNvPr id="4" name="Text 2"/>
          <p:cNvSpPr/>
          <p:nvPr/>
        </p:nvSpPr>
        <p:spPr>
          <a:xfrm>
            <a:off x="7132320" y="219456"/>
            <a:ext cx="1645920" cy="288036"/>
          </a:xfrm>
          <a:prstGeom prst="rect">
            <a:avLst/>
          </a:prstGeom>
          <a:noFill/>
          <a:ln/>
        </p:spPr>
        <p:txBody>
          <a:bodyPr wrap="square" lIns="0" tIns="0" rIns="0" bIns="0" rtlCol="0" anchor="ctr"/>
          <a:lstStyle/>
          <a:p>
            <a:pPr algn="r"/>
            <a:r>
              <a:rPr lang="en-US" sz="1050" b="1" dirty="0">
                <a:solidFill>
                  <a:srgbClr val="0C1E36"/>
                </a:solidFill>
                <a:latin typeface="Times New Roman" pitchFamily="34" charset="0"/>
                <a:ea typeface="Times New Roman" pitchFamily="34" charset="-122"/>
                <a:cs typeface="Times New Roman" pitchFamily="34" charset="-120"/>
              </a:rPr>
              <a:t>BLUESTOCK FINTECH</a:t>
            </a:r>
            <a:endParaRPr lang="en-US" sz="1050" dirty="0"/>
          </a:p>
        </p:txBody>
      </p:sp>
      <p:sp>
        <p:nvSpPr>
          <p:cNvPr id="5" name="Text 3"/>
          <p:cNvSpPr/>
          <p:nvPr/>
        </p:nvSpPr>
        <p:spPr>
          <a:xfrm>
            <a:off x="6446520" y="493776"/>
            <a:ext cx="2331720" cy="205740"/>
          </a:xfrm>
          <a:prstGeom prst="rect">
            <a:avLst/>
          </a:prstGeom>
          <a:noFill/>
          <a:ln/>
        </p:spPr>
        <p:txBody>
          <a:bodyPr wrap="square" lIns="0" tIns="0" rIns="0" bIns="0" rtlCol="0" anchor="ctr"/>
          <a:lstStyle/>
          <a:p>
            <a:pPr algn="r"/>
            <a:r>
              <a:rPr lang="en-US" sz="825" i="1" dirty="0">
                <a:solidFill>
                  <a:srgbClr val="3D4A5C"/>
                </a:solidFill>
                <a:latin typeface="Times New Roman" pitchFamily="34" charset="0"/>
                <a:ea typeface="Times New Roman" pitchFamily="34" charset="-122"/>
                <a:cs typeface="Times New Roman" pitchFamily="34" charset="-120"/>
              </a:rPr>
              <a:t>Mutual Fund Analytics Platform</a:t>
            </a:r>
            <a:endParaRPr lang="en-US" sz="825" dirty="0"/>
          </a:p>
        </p:txBody>
      </p:sp>
      <p:graphicFrame>
        <p:nvGraphicFramePr>
          <p:cNvPr id="6" name="Table 0"/>
          <p:cNvGraphicFramePr>
            <a:graphicFrameLocks noGrp="1"/>
          </p:cNvGraphicFramePr>
          <p:nvPr>
            <p:extLst>
              <p:ext uri="{D42A27DB-BD31-4B8C-83A1-F6EECF244321}">
                <p14:modId xmlns:p14="http://schemas.microsoft.com/office/powerpoint/2010/main" val="829134515"/>
              </p:ext>
            </p:extLst>
          </p:nvPr>
        </p:nvGraphicFramePr>
        <p:xfrm>
          <a:off x="342900" y="891540"/>
          <a:ext cx="8455914" cy="4053078"/>
        </p:xfrm>
        <a:graphic>
          <a:graphicData uri="http://schemas.openxmlformats.org/drawingml/2006/table">
            <a:tbl>
              <a:tblPr/>
              <a:tblGrid>
                <a:gridCol w="1667203">
                  <a:extLst>
                    <a:ext uri="{9D8B030D-6E8A-4147-A177-3AD203B41FA5}">
                      <a16:colId xmlns:a16="http://schemas.microsoft.com/office/drawing/2014/main" val="20000"/>
                    </a:ext>
                  </a:extLst>
                </a:gridCol>
                <a:gridCol w="3442007">
                  <a:extLst>
                    <a:ext uri="{9D8B030D-6E8A-4147-A177-3AD203B41FA5}">
                      <a16:colId xmlns:a16="http://schemas.microsoft.com/office/drawing/2014/main" val="20001"/>
                    </a:ext>
                  </a:extLst>
                </a:gridCol>
                <a:gridCol w="3346704">
                  <a:extLst>
                    <a:ext uri="{9D8B030D-6E8A-4147-A177-3AD203B41FA5}">
                      <a16:colId xmlns:a16="http://schemas.microsoft.com/office/drawing/2014/main" val="20002"/>
                    </a:ext>
                  </a:extLst>
                </a:gridCol>
              </a:tblGrid>
              <a:tr h="342900">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Table Name</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Purpose / Indicates</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Columns</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extLst>
                  <a:ext uri="{0D108BD9-81ED-4DB2-BD59-A6C34878D82A}">
                    <a16:rowId xmlns:a16="http://schemas.microsoft.com/office/drawing/2014/main" val="10000"/>
                  </a:ext>
                </a:extLst>
              </a:tr>
              <a:tr h="1223010">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fact_performance</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Stores precomputed fund performance metrics and risk-adjusted indicators such as returns, Sharpe ratio, alpha, beta, volatility, and drawdown for comparative analysis.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performance_id, fund_id, return_1yr_pct, return_3yr_pct, return_5yr_pct, benchmark_3yr_pct, alpha, beta, sharpe_ratio, sortino_ratio, std_dev_ann_pct, max_drawdown_pct, aum_crore, expense_ratio_pct, morningstar_rating</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223010">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fact_transactions</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Stores investor-level mutual fund transactions along with demographic and payment information, enabling investor behavior and transaction pattern analysis.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transaction_id, fund_id, date_id, investor_id, transaction_type, amount_inr, state, city, city_tier, age_group, gender, annual_income_lakh, payment_mode, kyc_status</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1223010">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stg_benchmark_indices</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Staging table containing daily benchmark index values (e.g., NIFTY 50) used for benchmarking fund performance and calculating alpha and beta.</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date, index_name, close_value</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2900" y="192024"/>
            <a:ext cx="6515100" cy="377190"/>
          </a:xfrm>
          <a:prstGeom prst="rect">
            <a:avLst/>
          </a:prstGeom>
          <a:noFill/>
          <a:ln/>
        </p:spPr>
        <p:txBody>
          <a:bodyPr wrap="square" lIns="0" tIns="0" rIns="0" bIns="0" rtlCol="0" anchor="ctr"/>
          <a:lstStyle/>
          <a:p>
            <a:r>
              <a:rPr lang="en-US" sz="1950" b="1" dirty="0">
                <a:solidFill>
                  <a:srgbClr val="0C1E36"/>
                </a:solidFill>
                <a:latin typeface="Times New Roman" pitchFamily="34" charset="0"/>
                <a:ea typeface="Times New Roman" pitchFamily="34" charset="-122"/>
                <a:cs typeface="Times New Roman" pitchFamily="34" charset="-120"/>
              </a:rPr>
              <a:t>Database Schema — Data Dictionary</a:t>
            </a:r>
            <a:endParaRPr lang="en-US" sz="1950" dirty="0"/>
          </a:p>
        </p:txBody>
      </p:sp>
      <p:sp>
        <p:nvSpPr>
          <p:cNvPr id="3" name="Text 1"/>
          <p:cNvSpPr/>
          <p:nvPr/>
        </p:nvSpPr>
        <p:spPr>
          <a:xfrm>
            <a:off x="342900" y="562356"/>
            <a:ext cx="6515100" cy="240030"/>
          </a:xfrm>
          <a:prstGeom prst="rect">
            <a:avLst/>
          </a:prstGeom>
          <a:noFill/>
          <a:ln/>
        </p:spPr>
        <p:txBody>
          <a:bodyPr wrap="square" lIns="0" tIns="0" rIns="0" bIns="0" rtlCol="0" anchor="ctr"/>
          <a:lstStyle/>
          <a:p>
            <a:r>
              <a:rPr lang="en-US" sz="1050" i="1" dirty="0">
                <a:solidFill>
                  <a:srgbClr val="F58220"/>
                </a:solidFill>
                <a:latin typeface="Times New Roman" pitchFamily="34" charset="0"/>
                <a:ea typeface="Times New Roman" pitchFamily="34" charset="-122"/>
                <a:cs typeface="Times New Roman" pitchFamily="34" charset="-120"/>
              </a:rPr>
              <a:t>Staging Tables  ·  3 of 3</a:t>
            </a:r>
            <a:endParaRPr lang="en-US" sz="1050" dirty="0"/>
          </a:p>
        </p:txBody>
      </p:sp>
      <p:sp>
        <p:nvSpPr>
          <p:cNvPr id="4" name="Text 2"/>
          <p:cNvSpPr/>
          <p:nvPr/>
        </p:nvSpPr>
        <p:spPr>
          <a:xfrm>
            <a:off x="7132320" y="219456"/>
            <a:ext cx="1645920" cy="288036"/>
          </a:xfrm>
          <a:prstGeom prst="rect">
            <a:avLst/>
          </a:prstGeom>
          <a:noFill/>
          <a:ln/>
        </p:spPr>
        <p:txBody>
          <a:bodyPr wrap="square" lIns="0" tIns="0" rIns="0" bIns="0" rtlCol="0" anchor="ctr"/>
          <a:lstStyle/>
          <a:p>
            <a:pPr algn="r"/>
            <a:r>
              <a:rPr lang="en-US" sz="1050" b="1" dirty="0">
                <a:solidFill>
                  <a:srgbClr val="0C1E36"/>
                </a:solidFill>
                <a:latin typeface="Times New Roman" pitchFamily="34" charset="0"/>
                <a:ea typeface="Times New Roman" pitchFamily="34" charset="-122"/>
                <a:cs typeface="Times New Roman" pitchFamily="34" charset="-120"/>
              </a:rPr>
              <a:t>BLUESTOCK FINTECH</a:t>
            </a:r>
            <a:endParaRPr lang="en-US" sz="1050" dirty="0"/>
          </a:p>
        </p:txBody>
      </p:sp>
      <p:sp>
        <p:nvSpPr>
          <p:cNvPr id="5" name="Text 3"/>
          <p:cNvSpPr/>
          <p:nvPr/>
        </p:nvSpPr>
        <p:spPr>
          <a:xfrm>
            <a:off x="6446520" y="493776"/>
            <a:ext cx="2331720" cy="205740"/>
          </a:xfrm>
          <a:prstGeom prst="rect">
            <a:avLst/>
          </a:prstGeom>
          <a:noFill/>
          <a:ln/>
        </p:spPr>
        <p:txBody>
          <a:bodyPr wrap="square" lIns="0" tIns="0" rIns="0" bIns="0" rtlCol="0" anchor="ctr"/>
          <a:lstStyle/>
          <a:p>
            <a:pPr algn="r"/>
            <a:r>
              <a:rPr lang="en-US" sz="825" i="1" dirty="0">
                <a:solidFill>
                  <a:srgbClr val="3D4A5C"/>
                </a:solidFill>
                <a:latin typeface="Times New Roman" pitchFamily="34" charset="0"/>
                <a:ea typeface="Times New Roman" pitchFamily="34" charset="-122"/>
                <a:cs typeface="Times New Roman" pitchFamily="34" charset="-120"/>
              </a:rPr>
              <a:t>Mutual Fund Analytics Platform</a:t>
            </a:r>
            <a:endParaRPr lang="en-US" sz="825" dirty="0"/>
          </a:p>
        </p:txBody>
      </p:sp>
      <p:graphicFrame>
        <p:nvGraphicFramePr>
          <p:cNvPr id="6" name="Table 0"/>
          <p:cNvGraphicFramePr>
            <a:graphicFrameLocks noGrp="1"/>
          </p:cNvGraphicFramePr>
          <p:nvPr>
            <p:extLst>
              <p:ext uri="{D42A27DB-BD31-4B8C-83A1-F6EECF244321}">
                <p14:modId xmlns:p14="http://schemas.microsoft.com/office/powerpoint/2010/main" val="3919705329"/>
              </p:ext>
            </p:extLst>
          </p:nvPr>
        </p:nvGraphicFramePr>
        <p:xfrm>
          <a:off x="342900" y="891540"/>
          <a:ext cx="8455914" cy="4053080"/>
        </p:xfrm>
        <a:graphic>
          <a:graphicData uri="http://schemas.openxmlformats.org/drawingml/2006/table">
            <a:tbl>
              <a:tblPr/>
              <a:tblGrid>
                <a:gridCol w="1809093">
                  <a:extLst>
                    <a:ext uri="{9D8B030D-6E8A-4147-A177-3AD203B41FA5}">
                      <a16:colId xmlns:a16="http://schemas.microsoft.com/office/drawing/2014/main" val="20000"/>
                    </a:ext>
                  </a:extLst>
                </a:gridCol>
                <a:gridCol w="3413235">
                  <a:extLst>
                    <a:ext uri="{9D8B030D-6E8A-4147-A177-3AD203B41FA5}">
                      <a16:colId xmlns:a16="http://schemas.microsoft.com/office/drawing/2014/main" val="20001"/>
                    </a:ext>
                  </a:extLst>
                </a:gridCol>
                <a:gridCol w="3233586">
                  <a:extLst>
                    <a:ext uri="{9D8B030D-6E8A-4147-A177-3AD203B41FA5}">
                      <a16:colId xmlns:a16="http://schemas.microsoft.com/office/drawing/2014/main" val="20002"/>
                    </a:ext>
                  </a:extLst>
                </a:gridCol>
              </a:tblGrid>
              <a:tr h="342900">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Table Name</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Purpose / Indicates</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tc>
                  <a:txBody>
                    <a:bodyPr/>
                    <a:lstStyle/>
                    <a:p>
                      <a:pPr marL="0" indent="0" algn="l">
                        <a:buNone/>
                      </a:pPr>
                      <a:r>
                        <a:rPr lang="en-US" sz="1800" b="1" dirty="0">
                          <a:solidFill>
                            <a:srgbClr val="FFFFFF"/>
                          </a:solidFill>
                          <a:latin typeface="Times New Roman" panose="02020603050405020304" pitchFamily="18" charset="0"/>
                          <a:ea typeface="Times New Roman" pitchFamily="34" charset="-122"/>
                          <a:cs typeface="Times New Roman" panose="02020603050405020304" pitchFamily="18" charset="0"/>
                        </a:rPr>
                        <a:t>Columns</a:t>
                      </a:r>
                      <a:endParaRPr lang="en-US" sz="18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0C1E36"/>
                    </a:solidFill>
                  </a:tcPr>
                </a:tc>
                <a:extLst>
                  <a:ext uri="{0D108BD9-81ED-4DB2-BD59-A6C34878D82A}">
                    <a16:rowId xmlns:a16="http://schemas.microsoft.com/office/drawing/2014/main" val="10000"/>
                  </a:ext>
                </a:extLst>
              </a:tr>
              <a:tr h="917258">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stg_category_inflows</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Staging table storing monthly net capital inflows across mutual fund categories such as Equity, Debt, Hybrid, and Liquid funds.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month, category, net_inflow_crore</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7258">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stg_industry_folio_count</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Staging table tracking monthly industry-wide folio counts across different asset classes, supporting investor participation and growth analysis.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month, total_folios_crore, equity_folios_crore, debt_folios_crore, hybrid_folios_crore, others_folios_crore, folio_difference</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917258">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stg_monthly_sip_inflows</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Staging table storing monthly Systematic Investment Plan (SIP) statistics, including inflows, active accounts, SIP AUM, and year-over-year growth metrics.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month, sip_inflow_crore, active_sip_accounts_crore, new_sip_accounts_lakh, sip_aum_lakh_crore, yoy_growth_pct, yoy_anomaly</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7258">
                <a:tc>
                  <a:txBody>
                    <a:bodyPr/>
                    <a:lstStyle/>
                    <a:p>
                      <a:pPr marL="0" indent="0" algn="l">
                        <a:buNone/>
                      </a:pPr>
                      <a:r>
                        <a:rPr lang="en-US" sz="1200" b="1" dirty="0">
                          <a:solidFill>
                            <a:srgbClr val="0C1E36"/>
                          </a:solidFill>
                          <a:latin typeface="Times New Roman" panose="02020603050405020304" pitchFamily="18" charset="0"/>
                          <a:ea typeface="Consolas" pitchFamily="34" charset="-122"/>
                          <a:cs typeface="Times New Roman" panose="02020603050405020304" pitchFamily="18" charset="0"/>
                        </a:rPr>
                        <a:t>stg_portfolio_holdings</a:t>
                      </a:r>
                      <a:endParaRPr lang="en-US" sz="12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200" dirty="0">
                          <a:solidFill>
                            <a:srgbClr val="3D4A5C"/>
                          </a:solidFill>
                          <a:latin typeface="Times New Roman" panose="02020603050405020304" pitchFamily="18" charset="0"/>
                          <a:ea typeface="Times New Roman" pitchFamily="34" charset="-122"/>
                          <a:cs typeface="Times New Roman" panose="02020603050405020304" pitchFamily="18" charset="0"/>
                        </a:rPr>
                        <a:t>Staging table containing detailed portfolio holdings of mutual fund schemes, including stock allocation, sector classification, portfolio weights, and market values.</a:t>
                      </a:r>
                      <a:endParaRPr lang="en-US" sz="1200" dirty="0">
                        <a:latin typeface="Times New Roman" panose="02020603050405020304" pitchFamily="18" charset="0"/>
                        <a:ea typeface="Times New Roman"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tc>
                  <a:txBody>
                    <a:bodyPr/>
                    <a:lstStyle/>
                    <a:p>
                      <a:pPr marL="0" indent="0" algn="l">
                        <a:buNone/>
                      </a:pPr>
                      <a:r>
                        <a:rPr lang="en-US" sz="1100" dirty="0">
                          <a:solidFill>
                            <a:srgbClr val="0C1E36"/>
                          </a:solidFill>
                          <a:latin typeface="Times New Roman" panose="02020603050405020304" pitchFamily="18" charset="0"/>
                          <a:ea typeface="Consolas" pitchFamily="34" charset="-122"/>
                          <a:cs typeface="Times New Roman" panose="02020603050405020304" pitchFamily="18" charset="0"/>
                        </a:rPr>
                        <a:t>holding_id, amfi_code, stock_symbol, stock_name, sector, weight_pct, market_value_cr, current_price_inr, portfolio_date</a:t>
                      </a:r>
                      <a:endParaRPr lang="en-US" sz="1100" dirty="0">
                        <a:latin typeface="Times New Roman" panose="02020603050405020304" pitchFamily="18" charset="0"/>
                        <a:ea typeface="Consolas" charset="0"/>
                        <a:cs typeface="Times New Roman" panose="02020603050405020304" pitchFamily="18" charset="0"/>
                      </a:endParaRPr>
                    </a:p>
                  </a:txBody>
                  <a:tcPr marL="54864" marR="54864" marT="54864" marB="54864"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50292"/>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Overview (Pages 1–3)</a:t>
            </a:r>
          </a:p>
        </p:txBody>
      </p:sp>
      <p:sp>
        <p:nvSpPr>
          <p:cNvPr id="5" name="TextBox 4"/>
          <p:cNvSpPr txBox="1"/>
          <p:nvPr/>
        </p:nvSpPr>
        <p:spPr>
          <a:xfrm>
            <a:off x="605396" y="127101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Dashboard.  </a:t>
            </a:r>
            <a:r>
              <a:rPr sz="1400" b="0" i="0">
                <a:solidFill>
                  <a:srgbClr val="333333"/>
                </a:solidFill>
                <a:latin typeface="Times New Roman" panose="02020603050405020304" pitchFamily="18" charset="0"/>
                <a:cs typeface="Times New Roman" panose="02020603050405020304" pitchFamily="18" charset="0"/>
              </a:rPr>
              <a:t>Summarizes overall mutual fund assets, AMC market shares, and category splits.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NAV Analytics.  </a:t>
            </a:r>
            <a:r>
              <a:rPr sz="1400" b="0" i="0">
                <a:solidFill>
                  <a:srgbClr val="333333"/>
                </a:solidFill>
                <a:latin typeface="Times New Roman" panose="02020603050405020304" pitchFamily="18" charset="0"/>
                <a:cs typeface="Times New Roman" panose="02020603050405020304" pitchFamily="18" charset="0"/>
              </a:rPr>
              <a:t>Period selectors (1M/6M/1Y/All), rolling returns, drawdowns, calendar heatmaps.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Performance.  </a:t>
            </a:r>
            <a:r>
              <a:rPr sz="1400" b="0" i="0">
                <a:solidFill>
                  <a:srgbClr val="333333"/>
                </a:solidFill>
                <a:latin typeface="Times New Roman" panose="02020603050405020304" pitchFamily="18" charset="0"/>
                <a:cs typeface="Times New Roman" panose="02020603050405020304" pitchFamily="18" charset="0"/>
              </a:rPr>
              <a:t>Risk-return comparisons, benchmark tracking, alpha metrics.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KPIs shown.  </a:t>
            </a:r>
            <a:r>
              <a:rPr sz="1400" b="0" i="0">
                <a:solidFill>
                  <a:srgbClr val="333333"/>
                </a:solidFill>
                <a:latin typeface="Times New Roman" panose="02020603050405020304" pitchFamily="18" charset="0"/>
                <a:cs typeface="Times New Roman" panose="02020603050405020304" pitchFamily="18" charset="0"/>
              </a:rPr>
              <a:t>Total Industry AUM, Active Fund Houses, Category Splits.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Gives advisors a single-glance snapshot of industry scale and fund positioning.</a:t>
            </a:r>
          </a:p>
        </p:txBody>
      </p:sp>
      <p:pic>
        <p:nvPicPr>
          <p:cNvPr id="7" name="Picture 6" descr="page_dashboard.png"/>
          <p:cNvPicPr>
            <a:picLocks noChangeAspect="1"/>
          </p:cNvPicPr>
          <p:nvPr/>
        </p:nvPicPr>
        <p:blipFill>
          <a:blip r:embed="rId2"/>
          <a:stretch>
            <a:fillRect/>
          </a:stretch>
        </p:blipFill>
        <p:spPr>
          <a:xfrm>
            <a:off x="4445876" y="1083564"/>
            <a:ext cx="4606684" cy="3008376"/>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Dashboard — Overview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7</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50292"/>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4–6</a:t>
            </a:r>
          </a:p>
        </p:txBody>
      </p:sp>
      <p:sp>
        <p:nvSpPr>
          <p:cNvPr id="5" name="TextBox 4"/>
          <p:cNvSpPr txBox="1"/>
          <p:nvPr/>
        </p:nvSpPr>
        <p:spPr>
          <a:xfrm>
            <a:off x="614855" y="127101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Risk Analytics.  </a:t>
            </a:r>
            <a:r>
              <a:rPr sz="1400" b="0" i="0">
                <a:solidFill>
                  <a:srgbClr val="333333"/>
                </a:solidFill>
                <a:latin typeface="Times New Roman" panose="02020603050405020304" pitchFamily="18" charset="0"/>
                <a:cs typeface="Times New Roman" panose="02020603050405020304" pitchFamily="18" charset="0"/>
              </a:rPr>
              <a:t>Standard deviation bounds, beta values, Sharpe/Sortino comparisons.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Investor Analytics.  </a:t>
            </a:r>
            <a:r>
              <a:rPr sz="1400" b="0" i="0">
                <a:solidFill>
                  <a:srgbClr val="333333"/>
                </a:solidFill>
                <a:latin typeface="Times New Roman" panose="02020603050405020304" pitchFamily="18" charset="0"/>
                <a:cs typeface="Times New Roman" panose="02020603050405020304" pitchFamily="18" charset="0"/>
              </a:rPr>
              <a:t>Investor demographics, geography, and saving channels.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SIP &amp; Market Trends.  </a:t>
            </a:r>
            <a:r>
              <a:rPr sz="1400" b="0" i="0">
                <a:solidFill>
                  <a:srgbClr val="333333"/>
                </a:solidFill>
                <a:latin typeface="Times New Roman" panose="02020603050405020304" pitchFamily="18" charset="0"/>
                <a:cs typeface="Times New Roman" panose="02020603050405020304" pitchFamily="18" charset="0"/>
              </a:rPr>
              <a:t>Retail SIP patterns vs. broader market indices.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Visuals.  </a:t>
            </a:r>
            <a:r>
              <a:rPr sz="1400" b="0" i="0">
                <a:solidFill>
                  <a:srgbClr val="333333"/>
                </a:solidFill>
                <a:latin typeface="Times New Roman" panose="02020603050405020304" pitchFamily="18" charset="0"/>
                <a:cs typeface="Times New Roman" panose="02020603050405020304" pitchFamily="18" charset="0"/>
              </a:rPr>
              <a:t>Volatility vs. return scatter, transaction volume by state, SIP vs. Nifty overlay.</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Surfaces which funds carry disproportionate risk relative to their returns.</a:t>
            </a:r>
          </a:p>
        </p:txBody>
      </p:sp>
      <p:pic>
        <p:nvPicPr>
          <p:cNvPr id="7" name="Picture 6" descr="page_risk_analytics.png"/>
          <p:cNvPicPr>
            <a:picLocks noChangeAspect="1"/>
          </p:cNvPicPr>
          <p:nvPr/>
        </p:nvPicPr>
        <p:blipFill>
          <a:blip r:embed="rId2"/>
          <a:stretch>
            <a:fillRect/>
          </a:stretch>
        </p:blipFill>
        <p:spPr>
          <a:xfrm>
            <a:off x="4455334" y="594360"/>
            <a:ext cx="4597225" cy="3396996"/>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Risk Analytics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8</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7–9</a:t>
            </a:r>
          </a:p>
        </p:txBody>
      </p:sp>
      <p:sp>
        <p:nvSpPr>
          <p:cNvPr id="5" name="TextBox 4"/>
          <p:cNvSpPr txBox="1"/>
          <p:nvPr/>
        </p:nvSpPr>
        <p:spPr>
          <a:xfrm>
            <a:off x="640080" y="123806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Portfolio Holdings.  </a:t>
            </a:r>
            <a:r>
              <a:rPr sz="1400" b="0" i="0">
                <a:solidFill>
                  <a:srgbClr val="333333"/>
                </a:solidFill>
                <a:latin typeface="Times New Roman" panose="02020603050405020304" pitchFamily="18" charset="0"/>
                <a:cs typeface="Times New Roman" panose="02020603050405020304" pitchFamily="18" charset="0"/>
              </a:rPr>
              <a:t>Stock allocation, concentration risk, and sector exposure.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Monte Carlo Simulation.  </a:t>
            </a:r>
            <a:r>
              <a:rPr sz="1400" b="0" i="0">
                <a:solidFill>
                  <a:srgbClr val="333333"/>
                </a:solidFill>
                <a:latin typeface="Times New Roman" panose="02020603050405020304" pitchFamily="18" charset="0"/>
                <a:cs typeface="Times New Roman" panose="02020603050405020304" pitchFamily="18" charset="0"/>
              </a:rPr>
              <a:t>Projects future value distributions using probability simulations.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Portfolio Optimizer.  </a:t>
            </a:r>
            <a:r>
              <a:rPr sz="1400" b="0" i="0">
                <a:solidFill>
                  <a:srgbClr val="333333"/>
                </a:solidFill>
                <a:latin typeface="Times New Roman" panose="02020603050405020304" pitchFamily="18" charset="0"/>
                <a:cs typeface="Times New Roman" panose="02020603050405020304" pitchFamily="18" charset="0"/>
              </a:rPr>
              <a:t>Computes asset weights to maximize risk-adjusted efficiency.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Key output.  </a:t>
            </a:r>
            <a:r>
              <a:rPr sz="1400" b="0" i="0">
                <a:solidFill>
                  <a:srgbClr val="333333"/>
                </a:solidFill>
                <a:latin typeface="Times New Roman" panose="02020603050405020304" pitchFamily="18" charset="0"/>
                <a:cs typeface="Times New Roman" panose="02020603050405020304" pitchFamily="18" charset="0"/>
              </a:rPr>
              <a:t>Efficient Frontier scatter, highlighting Max Sharpe &amp; Min Volatility portfolios.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Turns Modern Portfolio Theory into an interactive, advisor-ready tool.</a:t>
            </a:r>
          </a:p>
        </p:txBody>
      </p:sp>
      <p:pic>
        <p:nvPicPr>
          <p:cNvPr id="7" name="Picture 6" descr="page_portfolio_optimizer.png"/>
          <p:cNvPicPr>
            <a:picLocks noChangeAspect="1"/>
          </p:cNvPicPr>
          <p:nvPr/>
        </p:nvPicPr>
        <p:blipFill>
          <a:blip r:embed="rId2"/>
          <a:stretch>
            <a:fillRect/>
          </a:stretch>
        </p:blipFill>
        <p:spPr>
          <a:xfrm>
            <a:off x="4572000" y="768096"/>
            <a:ext cx="4480560" cy="3323844"/>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Portfolio Optimizer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9</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PRODUCT WALKTHROUGH</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Dashboard Pages 10–12</a:t>
            </a:r>
          </a:p>
        </p:txBody>
      </p:sp>
      <p:sp>
        <p:nvSpPr>
          <p:cNvPr id="5" name="TextBox 4"/>
          <p:cNvSpPr txBox="1"/>
          <p:nvPr/>
        </p:nvSpPr>
        <p:spPr>
          <a:xfrm>
            <a:off x="640081" y="1292930"/>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Fund Recommender.  </a:t>
            </a:r>
            <a:r>
              <a:rPr sz="1400" b="0" i="0">
                <a:solidFill>
                  <a:srgbClr val="333333"/>
                </a:solidFill>
                <a:latin typeface="Times New Roman" panose="02020603050405020304" pitchFamily="18" charset="0"/>
                <a:cs typeface="Times New Roman" panose="02020603050405020304" pitchFamily="18" charset="0"/>
              </a:rPr>
              <a:t>Suggests funds based on client goal, risk appetite, horizon, expense limit.</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Reports &amp; Export.  </a:t>
            </a:r>
            <a:r>
              <a:rPr sz="1400" b="0" i="0">
                <a:solidFill>
                  <a:srgbClr val="333333"/>
                </a:solidFill>
                <a:latin typeface="Times New Roman" panose="02020603050405020304" pitchFamily="18" charset="0"/>
                <a:cs typeface="Times New Roman" panose="02020603050405020304" pitchFamily="18" charset="0"/>
              </a:rPr>
              <a:t>Client fact sheet PDFs, CSV datasets, multi-sheet Excel books.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Admin Panel.  </a:t>
            </a:r>
            <a:r>
              <a:rPr sz="1400" b="0" i="0">
                <a:solidFill>
                  <a:srgbClr val="333333"/>
                </a:solidFill>
                <a:latin typeface="Times New Roman" panose="02020603050405020304" pitchFamily="18" charset="0"/>
                <a:cs typeface="Times New Roman" panose="02020603050405020304" pitchFamily="18" charset="0"/>
              </a:rPr>
              <a:t>System diagnostics: DB health, last ETL run, live logs.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Output format.  </a:t>
            </a:r>
            <a:r>
              <a:rPr sz="1400" b="0" i="0">
                <a:solidFill>
                  <a:srgbClr val="333333"/>
                </a:solidFill>
                <a:latin typeface="Times New Roman" panose="02020603050405020304" pitchFamily="18" charset="0"/>
                <a:cs typeface="Times New Roman" panose="02020603050405020304" pitchFamily="18" charset="0"/>
              </a:rPr>
              <a:t>Match % scores, top-3 recommendation cards, candidate comparison grid.</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Converts a client's stated goals directly into a ranked, explainable shortlist.</a:t>
            </a:r>
          </a:p>
        </p:txBody>
      </p:sp>
      <p:pic>
        <p:nvPicPr>
          <p:cNvPr id="7" name="Picture 6" descr="page_fund_recommender.png"/>
          <p:cNvPicPr>
            <a:picLocks noChangeAspect="1"/>
          </p:cNvPicPr>
          <p:nvPr/>
        </p:nvPicPr>
        <p:blipFill>
          <a:blip r:embed="rId2"/>
          <a:stretch>
            <a:fillRect/>
          </a:stretch>
        </p:blipFill>
        <p:spPr>
          <a:xfrm>
            <a:off x="4663440" y="841248"/>
            <a:ext cx="4389120" cy="3250692"/>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4680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Recommender page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10</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MARKET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Industry AUM Trends</a:t>
            </a:r>
          </a:p>
        </p:txBody>
      </p:sp>
      <p:sp>
        <p:nvSpPr>
          <p:cNvPr id="5" name="TextBox 4"/>
          <p:cNvSpPr txBox="1"/>
          <p:nvPr/>
        </p:nvSpPr>
        <p:spPr>
          <a:xfrm>
            <a:off x="640080" y="1291480"/>
            <a:ext cx="3840480" cy="2462918"/>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Industry AUM Trend.  </a:t>
            </a:r>
            <a:r>
              <a:rPr sz="1400" b="0" i="0">
                <a:solidFill>
                  <a:srgbClr val="333333"/>
                </a:solidFill>
                <a:latin typeface="Times New Roman" panose="02020603050405020304" pitchFamily="18" charset="0"/>
                <a:cs typeface="Times New Roman" panose="02020603050405020304" pitchFamily="18" charset="0"/>
              </a:rPr>
              <a:t>Date timeline vs. industry AUM in ₹ Lakh Crore, aggregated across the industry.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AUM by Fund House.  </a:t>
            </a:r>
            <a:r>
              <a:rPr sz="1400" b="0" i="0">
                <a:solidFill>
                  <a:srgbClr val="333333"/>
                </a:solidFill>
                <a:latin typeface="Times New Roman" panose="02020603050405020304" pitchFamily="18" charset="0"/>
                <a:cs typeface="Times New Roman" panose="02020603050405020304" pitchFamily="18" charset="0"/>
              </a:rPr>
              <a:t>Compares asset sizes across AMCs, sorted descending by latest AUM.</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Steady growth in industry assets reflects rising retail investor participation.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Concentration.  </a:t>
            </a:r>
            <a:r>
              <a:rPr sz="1400" b="0" i="0">
                <a:solidFill>
                  <a:srgbClr val="333333"/>
                </a:solidFill>
                <a:latin typeface="Times New Roman" panose="02020603050405020304" pitchFamily="18" charset="0"/>
                <a:cs typeface="Times New Roman" panose="02020603050405020304" pitchFamily="18" charset="0"/>
              </a:rPr>
              <a:t>A small number of top AMCs manage the majority share of total capital.</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Mutual fund industry AUM has scaled meaningfully, led by a handful of dominant AMCs.</a:t>
            </a:r>
          </a:p>
        </p:txBody>
      </p:sp>
      <p:pic>
        <p:nvPicPr>
          <p:cNvPr id="7" name="Picture 6" descr="industry_aum_trend.png"/>
          <p:cNvPicPr>
            <a:picLocks noChangeAspect="1"/>
          </p:cNvPicPr>
          <p:nvPr/>
        </p:nvPicPr>
        <p:blipFill>
          <a:blip r:embed="rId2"/>
          <a:stretch>
            <a:fillRect/>
          </a:stretch>
        </p:blipFill>
        <p:spPr>
          <a:xfrm>
            <a:off x="4572000" y="998558"/>
            <a:ext cx="4480560" cy="2834640"/>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888061"/>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Industry AUM Trend (₹ Lakh Crore)</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11</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MARKET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SIP &amp; Category Inflow Trends</a:t>
            </a:r>
          </a:p>
        </p:txBody>
      </p:sp>
      <p:sp>
        <p:nvSpPr>
          <p:cNvPr id="5" name="TextBox 4"/>
          <p:cNvSpPr txBox="1"/>
          <p:nvPr/>
        </p:nvSpPr>
        <p:spPr>
          <a:xfrm>
            <a:off x="731520" y="124815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Monthly SIP Inflow.  </a:t>
            </a:r>
            <a:r>
              <a:rPr sz="1400" b="0" i="0">
                <a:solidFill>
                  <a:srgbClr val="333333"/>
                </a:solidFill>
                <a:latin typeface="Times New Roman" panose="02020603050405020304" pitchFamily="18" charset="0"/>
                <a:cs typeface="Times New Roman" panose="02020603050405020304" pitchFamily="18" charset="0"/>
              </a:rPr>
              <a:t>Tracks retail SIP volumes (₹ Crore) against the Nifty 50 index close.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Category-wise Inflow.  </a:t>
            </a:r>
            <a:r>
              <a:rPr sz="1400" b="0" i="0">
                <a:solidFill>
                  <a:srgbClr val="333333"/>
                </a:solidFill>
                <a:latin typeface="Times New Roman" panose="02020603050405020304" pitchFamily="18" charset="0"/>
                <a:cs typeface="Times New Roman" panose="02020603050405020304" pitchFamily="18" charset="0"/>
              </a:rPr>
              <a:t>Ranks fund categories by total net inflow for the latest FY25 period.</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SIP volumes stay stable even during market corrections, acting as a funding cushion.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Leading categories.  </a:t>
            </a:r>
            <a:r>
              <a:rPr sz="1400" b="0" i="0">
                <a:solidFill>
                  <a:srgbClr val="333333"/>
                </a:solidFill>
                <a:latin typeface="Times New Roman" panose="02020603050405020304" pitchFamily="18" charset="0"/>
                <a:cs typeface="Times New Roman" panose="02020603050405020304" pitchFamily="18" charset="0"/>
              </a:rPr>
              <a:t>Liquid and Sectoral/Thematic funds currently capture the largest net inflows.</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Systematic Investment Plans provide a resilient, low-volatility capital base for AMCs.</a:t>
            </a:r>
          </a:p>
        </p:txBody>
      </p:sp>
      <p:pic>
        <p:nvPicPr>
          <p:cNvPr id="7" name="Picture 6" descr="monthly_sip_inflow_trend.png"/>
          <p:cNvPicPr>
            <a:picLocks noChangeAspect="1"/>
          </p:cNvPicPr>
          <p:nvPr/>
        </p:nvPicPr>
        <p:blipFill>
          <a:blip r:embed="rId2"/>
          <a:stretch>
            <a:fillRect/>
          </a:stretch>
        </p:blipFill>
        <p:spPr>
          <a:xfrm>
            <a:off x="4663440" y="914400"/>
            <a:ext cx="4389120" cy="3196745"/>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166009"/>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Monthly SIP Inflow vs. Nifty 50 Index</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12</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PERFORMANCE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NAV vs. Benchmark Performance</a:t>
            </a:r>
          </a:p>
        </p:txBody>
      </p:sp>
      <p:sp>
        <p:nvSpPr>
          <p:cNvPr id="5" name="TextBox 4"/>
          <p:cNvSpPr txBox="1"/>
          <p:nvPr/>
        </p:nvSpPr>
        <p:spPr>
          <a:xfrm>
            <a:off x="640080" y="1270385"/>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Daily NAV Trend.  </a:t>
            </a:r>
            <a:r>
              <a:rPr sz="1400" b="0" i="0">
                <a:solidFill>
                  <a:srgbClr val="333333"/>
                </a:solidFill>
                <a:latin typeface="Times New Roman" panose="02020603050405020304" pitchFamily="18" charset="0"/>
                <a:cs typeface="Times New Roman" panose="02020603050405020304" pitchFamily="18" charset="0"/>
              </a:rPr>
              <a:t>Historical price performance for a selected scheme over its full life.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Fund vs. Benchmark.  </a:t>
            </a:r>
            <a:r>
              <a:rPr sz="1400" b="0" i="0">
                <a:solidFill>
                  <a:srgbClr val="333333"/>
                </a:solidFill>
                <a:latin typeface="Times New Roman" panose="02020603050405020304" pitchFamily="18" charset="0"/>
                <a:cs typeface="Times New Roman" panose="02020603050405020304" pitchFamily="18" charset="0"/>
              </a:rPr>
              <a:t>ABSL Frontline Equity Fund tracked against the NIFTY100 index.</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Reveals whether the fund manager generated alpha across different market cycles.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Use case.  </a:t>
            </a:r>
            <a:r>
              <a:rPr sz="1400" b="0" i="0">
                <a:solidFill>
                  <a:srgbClr val="333333"/>
                </a:solidFill>
                <a:latin typeface="Times New Roman" panose="02020603050405020304" pitchFamily="18" charset="0"/>
                <a:cs typeface="Times New Roman" panose="02020603050405020304" pitchFamily="18" charset="0"/>
              </a:rPr>
              <a:t>Lets advisors validate active management value versus a passive benchmark.</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The fund has decoupled from its benchmark in recent cycles — a signal of active alpha generation.</a:t>
            </a:r>
          </a:p>
        </p:txBody>
      </p:sp>
      <p:pic>
        <p:nvPicPr>
          <p:cNvPr id="7" name="Picture 6" descr="fund_nav_vs_benchmark.png"/>
          <p:cNvPicPr>
            <a:picLocks noChangeAspect="1"/>
          </p:cNvPicPr>
          <p:nvPr/>
        </p:nvPicPr>
        <p:blipFill>
          <a:blip r:embed="rId2"/>
          <a:stretch>
            <a:fillRect/>
          </a:stretch>
        </p:blipFill>
        <p:spPr>
          <a:xfrm>
            <a:off x="4663440" y="1115568"/>
            <a:ext cx="4389120" cy="2601783"/>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866966"/>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NAV vs. NIFTY100 Benchmark</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13</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RISK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Risk &amp; Risk-Adjusted Returns</a:t>
            </a:r>
          </a:p>
        </p:txBody>
      </p:sp>
      <p:sp>
        <p:nvSpPr>
          <p:cNvPr id="5" name="TextBox 4"/>
          <p:cNvSpPr txBox="1"/>
          <p:nvPr/>
        </p:nvSpPr>
        <p:spPr>
          <a:xfrm>
            <a:off x="640081" y="1304124"/>
            <a:ext cx="3840480" cy="2462918"/>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Risk vs. Return Bubble.  </a:t>
            </a:r>
            <a:r>
              <a:rPr sz="1400" b="0" i="0">
                <a:solidFill>
                  <a:srgbClr val="333333"/>
                </a:solidFill>
                <a:latin typeface="Times New Roman" panose="02020603050405020304" pitchFamily="18" charset="0"/>
                <a:cs typeface="Times New Roman" panose="02020603050405020304" pitchFamily="18" charset="0"/>
              </a:rPr>
              <a:t>1-Year return % vs. volatility (std. dev %); bubble size = AUM in ₹ Crore.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Alpha vs. Beta Scatter.  </a:t>
            </a:r>
            <a:r>
              <a:rPr sz="1400" b="0" i="0">
                <a:solidFill>
                  <a:srgbClr val="333333"/>
                </a:solidFill>
                <a:latin typeface="Times New Roman" panose="02020603050405020304" pitchFamily="18" charset="0"/>
                <a:cs typeface="Times New Roman" panose="02020603050405020304" pitchFamily="18" charset="0"/>
              </a:rPr>
              <a:t>3-Year return vs. volatility, aggregated across a longer horizon.</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Efficient funds.  </a:t>
            </a:r>
            <a:r>
              <a:rPr sz="1400" b="0" i="0">
                <a:solidFill>
                  <a:srgbClr val="333333"/>
                </a:solidFill>
                <a:latin typeface="Times New Roman" panose="02020603050405020304" pitchFamily="18" charset="0"/>
                <a:cs typeface="Times New Roman" panose="02020603050405020304" pitchFamily="18" charset="0"/>
              </a:rPr>
              <a:t>Sit in the upper-left quadrant — high return, low volatility.</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Higher volatility does not always yield higher returns, reinforcing risk-adjusted screening.</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Equity funds cluster at higher risk/return than Debt, but efficiency varies widely within each group.</a:t>
            </a:r>
          </a:p>
        </p:txBody>
      </p:sp>
      <p:pic>
        <p:nvPicPr>
          <p:cNvPr id="7" name="Picture 6" descr="risk_vs_return_bubble.png"/>
          <p:cNvPicPr>
            <a:picLocks noChangeAspect="1"/>
          </p:cNvPicPr>
          <p:nvPr/>
        </p:nvPicPr>
        <p:blipFill>
          <a:blip r:embed="rId2"/>
          <a:stretch>
            <a:fillRect/>
          </a:stretch>
        </p:blipFill>
        <p:spPr>
          <a:xfrm>
            <a:off x="4572000" y="858941"/>
            <a:ext cx="4480560" cy="2593707"/>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735337"/>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Risk vs. Return Profile (3-Year Horizon)</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14</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PORTFOLIO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Portfolio Allocation</a:t>
            </a:r>
          </a:p>
        </p:txBody>
      </p:sp>
      <p:sp>
        <p:nvSpPr>
          <p:cNvPr id="5" name="TextBox 4"/>
          <p:cNvSpPr txBox="1"/>
          <p:nvPr/>
        </p:nvSpPr>
        <p:spPr>
          <a:xfrm>
            <a:off x="580171" y="1248156"/>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Sector Allocation.  </a:t>
            </a:r>
            <a:r>
              <a:rPr sz="1400" b="0" i="0">
                <a:solidFill>
                  <a:srgbClr val="333333"/>
                </a:solidFill>
                <a:latin typeface="Times New Roman" panose="02020603050405020304" pitchFamily="18" charset="0"/>
                <a:cs typeface="Times New Roman" panose="02020603050405020304" pitchFamily="18" charset="0"/>
              </a:rPr>
              <a:t>Percentage allocation by industry sector across all aggregated holdings.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Top Holdings.  </a:t>
            </a:r>
            <a:r>
              <a:rPr sz="1400" b="0" i="0">
                <a:solidFill>
                  <a:srgbClr val="333333"/>
                </a:solidFill>
                <a:latin typeface="Times New Roman" panose="02020603050405020304" pitchFamily="18" charset="0"/>
                <a:cs typeface="Times New Roman" panose="02020603050405020304" pitchFamily="18" charset="0"/>
              </a:rPr>
              <a:t>Largest individual stock exposures, filtered to the top 10 by weight.</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Insight.  </a:t>
            </a:r>
            <a:r>
              <a:rPr sz="1400" b="0" i="0">
                <a:solidFill>
                  <a:srgbClr val="333333"/>
                </a:solidFill>
                <a:latin typeface="Times New Roman" panose="02020603050405020304" pitchFamily="18" charset="0"/>
                <a:cs typeface="Times New Roman" panose="02020603050405020304" pitchFamily="18" charset="0"/>
              </a:rPr>
              <a:t>Banking and Financial Services hold the largest allocation share.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Concentration risk.  </a:t>
            </a:r>
            <a:r>
              <a:rPr sz="1400" b="0" i="0">
                <a:solidFill>
                  <a:srgbClr val="333333"/>
                </a:solidFill>
                <a:latin typeface="Times New Roman" panose="02020603050405020304" pitchFamily="18" charset="0"/>
                <a:cs typeface="Times New Roman" panose="02020603050405020304" pitchFamily="18" charset="0"/>
              </a:rPr>
              <a:t>Notable exposure to large-cap names such as ICICI Bank, Infosys, and Grasim.</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Sector concentration in Financials warrants active monitoring for diversification risk.</a:t>
            </a:r>
          </a:p>
        </p:txBody>
      </p:sp>
      <p:pic>
        <p:nvPicPr>
          <p:cNvPr id="7" name="Picture 6" descr="portfolio_sector_allocation.png"/>
          <p:cNvPicPr>
            <a:picLocks noChangeAspect="1"/>
          </p:cNvPicPr>
          <p:nvPr/>
        </p:nvPicPr>
        <p:blipFill>
          <a:blip r:embed="rId2"/>
          <a:stretch>
            <a:fillRect/>
          </a:stretch>
        </p:blipFill>
        <p:spPr>
          <a:xfrm>
            <a:off x="4754881" y="694944"/>
            <a:ext cx="4099348" cy="3639312"/>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4535424"/>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Portfolio Sector Allocation</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15</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RECOMMENDATION VISUALIZATIONS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Fund Recommendation Engine</a:t>
            </a:r>
          </a:p>
        </p:txBody>
      </p:sp>
      <p:sp>
        <p:nvSpPr>
          <p:cNvPr id="5" name="TextBox 4"/>
          <p:cNvSpPr txBox="1"/>
          <p:nvPr/>
        </p:nvSpPr>
        <p:spPr>
          <a:xfrm>
            <a:off x="548640" y="1275588"/>
            <a:ext cx="3840480" cy="2230226"/>
          </a:xfrm>
          <a:prstGeom prst="rect">
            <a:avLst/>
          </a:prstGeom>
          <a:noFill/>
        </p:spPr>
        <p:txBody>
          <a:bodyPr wrap="square" lIns="0" tIns="0" rIns="0" bIns="0" anchor="t">
            <a:spAutoFit/>
          </a:bodyPr>
          <a:lstStyle/>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Match Cards.  </a:t>
            </a:r>
            <a:r>
              <a:rPr sz="1400" b="0" i="0">
                <a:solidFill>
                  <a:srgbClr val="333333"/>
                </a:solidFill>
                <a:latin typeface="Times New Roman" panose="02020603050405020304" pitchFamily="18" charset="0"/>
                <a:cs typeface="Times New Roman" panose="02020603050405020304" pitchFamily="18" charset="0"/>
              </a:rPr>
              <a:t>Top-3 recommended funds displayed as scored cards with key ratios.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Screening Grid.  </a:t>
            </a:r>
            <a:r>
              <a:rPr sz="1400" b="0" i="0">
                <a:solidFill>
                  <a:srgbClr val="333333"/>
                </a:solidFill>
                <a:latin typeface="Times New Roman" panose="02020603050405020304" pitchFamily="18" charset="0"/>
                <a:cs typeface="Times New Roman" panose="02020603050405020304" pitchFamily="18" charset="0"/>
              </a:rPr>
              <a:t>Full comparison table of candidate funds side-by-side.</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Profile used.  </a:t>
            </a:r>
            <a:r>
              <a:rPr sz="1400" b="0" i="0">
                <a:solidFill>
                  <a:srgbClr val="333333"/>
                </a:solidFill>
                <a:latin typeface="Times New Roman" panose="02020603050405020304" pitchFamily="18" charset="0"/>
                <a:cs typeface="Times New Roman" panose="02020603050405020304" pitchFamily="18" charset="0"/>
              </a:rPr>
              <a:t>Goal: Wealth Creation | Risk: Moderate | Horizon: 3–5 Years.</a:t>
            </a:r>
          </a:p>
          <a:p>
            <a:pPr>
              <a:lnSpc>
                <a:spcPct val="108000"/>
              </a:lnSpc>
              <a:spcAft>
                <a:spcPts val="1000"/>
              </a:spcAft>
            </a:pPr>
            <a:r>
              <a:rPr sz="1400" b="1" i="0">
                <a:solidFill>
                  <a:srgbClr val="F58220"/>
                </a:solidFill>
                <a:latin typeface="Times New Roman" panose="02020603050405020304" pitchFamily="18" charset="0"/>
                <a:cs typeface="Times New Roman" panose="02020603050405020304" pitchFamily="18" charset="0"/>
              </a:rPr>
              <a:t>▪  </a:t>
            </a:r>
            <a:r>
              <a:rPr sz="1400" b="1" i="0">
                <a:solidFill>
                  <a:srgbClr val="0C1E36"/>
                </a:solidFill>
                <a:latin typeface="Times New Roman" panose="02020603050405020304" pitchFamily="18" charset="0"/>
                <a:cs typeface="Times New Roman" panose="02020603050405020304" pitchFamily="18" charset="0"/>
              </a:rPr>
              <a:t>Top pick.  </a:t>
            </a:r>
            <a:r>
              <a:rPr sz="1400" b="0" i="0">
                <a:solidFill>
                  <a:srgbClr val="333333"/>
                </a:solidFill>
                <a:latin typeface="Times New Roman" panose="02020603050405020304" pitchFamily="18" charset="0"/>
                <a:cs typeface="Times New Roman" panose="02020603050405020304" pitchFamily="18" charset="0"/>
              </a:rPr>
              <a:t>Nippon India Large Cap Fund led with a 48.87% match score.</a:t>
            </a:r>
          </a:p>
        </p:txBody>
      </p:sp>
      <p:sp>
        <p:nvSpPr>
          <p:cNvPr id="6" name="Rounded Rectangle 5"/>
          <p:cNvSpPr/>
          <p:nvPr/>
        </p:nvSpPr>
        <p:spPr>
          <a:xfrm>
            <a:off x="457200" y="4160520"/>
            <a:ext cx="3840480" cy="548640"/>
          </a:xfrm>
          <a:prstGeom prst="roundRect">
            <a:avLst>
              <a:gd name="adj" fmla="val 12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lstStyle/>
          <a:p>
            <a:pPr algn="ctr"/>
            <a:r>
              <a:rPr sz="1050" b="0" i="1">
                <a:solidFill>
                  <a:srgbClr val="0C1E36"/>
                </a:solidFill>
                <a:latin typeface="Times New Roman" panose="02020603050405020304" pitchFamily="18" charset="0"/>
                <a:cs typeface="Times New Roman" panose="02020603050405020304" pitchFamily="18" charset="0"/>
              </a:rPr>
              <a:t>The scoring engine balances returns, cost efficiency, and consistency — not returns alone.</a:t>
            </a:r>
          </a:p>
        </p:txBody>
      </p:sp>
      <p:pic>
        <p:nvPicPr>
          <p:cNvPr id="7" name="Picture 6" descr="fund_recommendation_results.png"/>
          <p:cNvPicPr>
            <a:picLocks noChangeAspect="1"/>
          </p:cNvPicPr>
          <p:nvPr/>
        </p:nvPicPr>
        <p:blipFill>
          <a:blip r:embed="rId2"/>
          <a:stretch>
            <a:fillRect/>
          </a:stretch>
        </p:blipFill>
        <p:spPr>
          <a:xfrm>
            <a:off x="4480560" y="1001110"/>
            <a:ext cx="4572000" cy="2593428"/>
          </a:xfrm>
          <a:prstGeom prst="rect">
            <a:avLst/>
          </a:prstGeom>
          <a:ln w="9525">
            <a:solidFill>
              <a:srgbClr val="E2E6EC"/>
            </a:solidFill>
          </a:ln>
          <a:effectLst>
            <a:outerShdw blurRad="90000" dist="30000" dir="5400000" rotWithShape="0">
              <a:srgbClr val="1A1A1A">
                <a:alpha val="25000"/>
              </a:srgbClr>
            </a:outerShdw>
          </a:effectLst>
        </p:spPr>
      </p:pic>
      <p:sp>
        <p:nvSpPr>
          <p:cNvPr id="8" name="TextBox 7"/>
          <p:cNvSpPr txBox="1"/>
          <p:nvPr/>
        </p:nvSpPr>
        <p:spPr>
          <a:xfrm>
            <a:off x="4663440" y="3701503"/>
            <a:ext cx="4389120" cy="153888"/>
          </a:xfrm>
          <a:prstGeom prst="rect">
            <a:avLst/>
          </a:prstGeom>
          <a:noFill/>
        </p:spPr>
        <p:txBody>
          <a:bodyPr wrap="square" lIns="0" tIns="0" rIns="0" bIns="0" anchor="t">
            <a:spAutoFit/>
          </a:bodyPr>
          <a:lstStyle/>
          <a:p>
            <a:pPr algn="ctr"/>
            <a:r>
              <a:rPr sz="1000" b="0" i="1">
                <a:solidFill>
                  <a:srgbClr val="8A93A3"/>
                </a:solidFill>
                <a:latin typeface="Times New Roman" panose="02020603050405020304" pitchFamily="18" charset="0"/>
                <a:cs typeface="Times New Roman" panose="02020603050405020304" pitchFamily="18" charset="0"/>
              </a:rPr>
              <a:t>Fund Recommendation Results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16</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FINDINGS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Business Insights</a:t>
            </a:r>
          </a:p>
        </p:txBody>
      </p:sp>
      <p:sp>
        <p:nvSpPr>
          <p:cNvPr id="5" name="Rounded Rectangle 4"/>
          <p:cNvSpPr/>
          <p:nvPr/>
        </p:nvSpPr>
        <p:spPr>
          <a:xfrm>
            <a:off x="457200" y="141732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Cost vs. Alpha Tradeoff</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High expense ratios often erode active management gains; low-fee funds frequently beat higher-cost peers on net returns.</a:t>
            </a:r>
          </a:p>
        </p:txBody>
      </p:sp>
      <p:sp>
        <p:nvSpPr>
          <p:cNvPr id="6" name="Rounded Rectangle 5"/>
          <p:cNvSpPr/>
          <p:nvPr/>
        </p:nvSpPr>
        <p:spPr>
          <a:xfrm>
            <a:off x="4572000" y="141732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Risk-Adjusted Efficiency</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Moderate-risk hybrid funds can deliver better Sharpe/Sortino outcomes than pure equity options during corrections.</a:t>
            </a:r>
          </a:p>
        </p:txBody>
      </p:sp>
      <p:sp>
        <p:nvSpPr>
          <p:cNvPr id="7" name="Rounded Rectangle 6"/>
          <p:cNvSpPr/>
          <p:nvPr/>
        </p:nvSpPr>
        <p:spPr>
          <a:xfrm>
            <a:off x="457200" y="310896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SIP Stabilization Effect</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Monthly SIP volumes show low volatility, acting as a stable funding source during market declines.</a:t>
            </a:r>
          </a:p>
        </p:txBody>
      </p:sp>
      <p:sp>
        <p:nvSpPr>
          <p:cNvPr id="8" name="Rounded Rectangle 7"/>
          <p:cNvSpPr/>
          <p:nvPr/>
        </p:nvSpPr>
        <p:spPr>
          <a:xfrm>
            <a:off x="4572000" y="3108960"/>
            <a:ext cx="3931920" cy="1508760"/>
          </a:xfrm>
          <a:prstGeom prst="roundRect">
            <a:avLst>
              <a:gd name="adj" fmla="val 5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09728" rtlCol="0" anchor="ctr"/>
          <a:lstStyle/>
          <a:p>
            <a:pPr algn="ctr"/>
            <a:r>
              <a:rPr sz="1400" b="1" i="0">
                <a:solidFill>
                  <a:srgbClr val="F58220"/>
                </a:solidFill>
                <a:latin typeface="Times New Roman" panose="02020603050405020304" pitchFamily="18" charset="0"/>
                <a:cs typeface="Times New Roman" panose="02020603050405020304" pitchFamily="18" charset="0"/>
              </a:rPr>
              <a:t>Demographic Segmentation</a:t>
            </a:r>
          </a:p>
          <a:p>
            <a:pPr>
              <a:spcBef>
                <a:spcPts val="500"/>
              </a:spcBef>
            </a:pPr>
            <a:r>
              <a:rPr sz="1150" b="0" i="0">
                <a:solidFill>
                  <a:srgbClr val="333333"/>
                </a:solidFill>
                <a:latin typeface="Times New Roman" panose="02020603050405020304" pitchFamily="18" charset="0"/>
                <a:cs typeface="Times New Roman" panose="02020603050405020304" pitchFamily="18" charset="0"/>
              </a:rPr>
              <a:t>Maharashtra, Delhi, and Punjab represent major investor hubs — clear targeted marketing opportunities.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17</a:t>
            </a:r>
          </a:p>
        </p:txBody>
      </p:sp>
      <p:sp>
        <p:nvSpPr>
          <p:cNvPr id="10" name="TextBox 9"/>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RETROSPECTIVE</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0C1E36"/>
                </a:solidFill>
                <a:latin typeface="Times New Roman" panose="02020603050405020304" pitchFamily="18" charset="0"/>
                <a:cs typeface="Times New Roman" panose="02020603050405020304" pitchFamily="18" charset="0"/>
              </a:rPr>
              <a:t>Challenges Faced</a:t>
            </a:r>
          </a:p>
        </p:txBody>
      </p:sp>
      <p:sp>
        <p:nvSpPr>
          <p:cNvPr id="5" name="TextBox 4"/>
          <p:cNvSpPr txBox="1"/>
          <p:nvPr/>
        </p:nvSpPr>
        <p:spPr>
          <a:xfrm>
            <a:off x="457200" y="1463040"/>
            <a:ext cx="8229600" cy="2042803"/>
          </a:xfrm>
          <a:prstGeom prst="rect">
            <a:avLst/>
          </a:prstGeom>
          <a:noFill/>
        </p:spPr>
        <p:txBody>
          <a:bodyPr wrap="square" lIns="0" tIns="0" rIns="0" bIns="0" anchor="t">
            <a:spAutoFit/>
          </a:bodyPr>
          <a:lstStyle/>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Selecting Suitable KPIs.  </a:t>
            </a:r>
            <a:r>
              <a:rPr sz="1500" b="0" i="0">
                <a:solidFill>
                  <a:srgbClr val="333333"/>
                </a:solidFill>
                <a:latin typeface="Times New Roman" panose="02020603050405020304" pitchFamily="18" charset="0"/>
                <a:cs typeface="Times New Roman" panose="02020603050405020304" pitchFamily="18" charset="0"/>
              </a:rPr>
              <a:t>Determining which visual KPIs matter most across pages — e.g. NAV history vs. demographic transactions — without overwhelming the user.</a:t>
            </a:r>
          </a:p>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Designing Recommendation Logic.  </a:t>
            </a:r>
            <a:r>
              <a:rPr sz="1500" b="0" i="0">
                <a:solidFill>
                  <a:srgbClr val="333333"/>
                </a:solidFill>
                <a:latin typeface="Times New Roman" panose="02020603050405020304" pitchFamily="18" charset="0"/>
                <a:cs typeface="Times New Roman" panose="02020603050405020304" pitchFamily="18" charset="0"/>
              </a:rPr>
              <a:t>Constructing a balanced scoring system combining return metrics, risk profiles, and expense ratios to rank funds fairly.</a:t>
            </a:r>
          </a:p>
          <a:p>
            <a:pPr>
              <a:lnSpc>
                <a:spcPct val="108000"/>
              </a:lnSpc>
              <a:spcAft>
                <a:spcPts val="2200"/>
              </a:spcAft>
            </a:pPr>
            <a:r>
              <a:rPr sz="1500" b="1" i="0">
                <a:solidFill>
                  <a:srgbClr val="F58220"/>
                </a:solidFill>
                <a:latin typeface="Times New Roman" panose="02020603050405020304" pitchFamily="18" charset="0"/>
                <a:cs typeface="Times New Roman" panose="02020603050405020304" pitchFamily="18" charset="0"/>
              </a:rPr>
              <a:t>▪  </a:t>
            </a:r>
            <a:r>
              <a:rPr sz="1500" b="1" i="0">
                <a:solidFill>
                  <a:srgbClr val="0C1E36"/>
                </a:solidFill>
                <a:latin typeface="Times New Roman" panose="02020603050405020304" pitchFamily="18" charset="0"/>
                <a:cs typeface="Times New Roman" panose="02020603050405020304" pitchFamily="18" charset="0"/>
              </a:rPr>
              <a:t>Benchmark Selection &amp; Comparison.  </a:t>
            </a:r>
            <a:r>
              <a:rPr sz="1500" b="0" i="0">
                <a:solidFill>
                  <a:srgbClr val="333333"/>
                </a:solidFill>
                <a:latin typeface="Times New Roman" panose="02020603050405020304" pitchFamily="18" charset="0"/>
                <a:cs typeface="Times New Roman" panose="02020603050405020304" pitchFamily="18" charset="0"/>
              </a:rPr>
              <a:t>Choosing appropriate benchmark indices (NIFTY 50 vs. NIFTY Midcap 100) for different fund categories to ensure fair outperformance mapping.</a:t>
            </a:r>
          </a:p>
        </p:txBody>
      </p:sp>
      <p:sp>
        <p:nvSpPr>
          <p:cNvPr id="6" name="TextBox 5"/>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18</a:t>
            </a:r>
          </a:p>
        </p:txBody>
      </p:sp>
      <p:sp>
        <p:nvSpPr>
          <p:cNvPr id="7" name="TextBox 6"/>
          <p:cNvSpPr txBox="1"/>
          <p:nvPr/>
        </p:nvSpPr>
        <p:spPr>
          <a:xfrm>
            <a:off x="457200" y="4864608"/>
            <a:ext cx="5486400" cy="138499"/>
          </a:xfrm>
          <a:prstGeom prst="rect">
            <a:avLst/>
          </a:prstGeom>
          <a:noFill/>
        </p:spPr>
        <p:txBody>
          <a:bodyPr wrap="square" lIns="0" tIns="0" rIns="0" bIns="0" anchor="t">
            <a:spAutoFit/>
          </a:bodyPr>
          <a:lstStyle/>
          <a:p>
            <a:r>
              <a:rPr sz="900" b="0" i="0">
                <a:solidFill>
                  <a:srgbClr val="8A93A3"/>
                </a:solidFill>
                <a:latin typeface="Times New Roman" panose="02020603050405020304" pitchFamily="18" charset="0"/>
                <a:cs typeface="Times New Roman" panose="02020603050405020304" pitchFamily="18" charset="0"/>
              </a:rPr>
              <a:t>BlueStock Fintech | Mutual Fund Analytics Platform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 name="TextBox 2"/>
          <p:cNvSpPr txBox="1"/>
          <p:nvPr/>
        </p:nvSpPr>
        <p:spPr>
          <a:xfrm>
            <a:off x="457200" y="320040"/>
            <a:ext cx="5486400" cy="169277"/>
          </a:xfrm>
          <a:prstGeom prst="rect">
            <a:avLst/>
          </a:prstGeom>
          <a:noFill/>
        </p:spPr>
        <p:txBody>
          <a:bodyPr wrap="square" lIns="0" tIns="0" rIns="0" bIns="0" anchor="t">
            <a:spAutoFit/>
          </a:bodyPr>
          <a:lstStyle/>
          <a:p>
            <a:r>
              <a:rPr sz="1100" b="1" i="0" spc="150">
                <a:solidFill>
                  <a:srgbClr val="F58220"/>
                </a:solidFill>
                <a:latin typeface="Times New Roman" panose="02020603050405020304" pitchFamily="18" charset="0"/>
                <a:cs typeface="Times New Roman" panose="02020603050405020304" pitchFamily="18" charset="0"/>
              </a:rPr>
              <a:t>DELIVERABLES</a:t>
            </a:r>
          </a:p>
        </p:txBody>
      </p:sp>
      <p:sp>
        <p:nvSpPr>
          <p:cNvPr id="4" name="TextBox 3"/>
          <p:cNvSpPr txBox="1"/>
          <p:nvPr/>
        </p:nvSpPr>
        <p:spPr>
          <a:xfrm>
            <a:off x="457200" y="566928"/>
            <a:ext cx="8229600" cy="369332"/>
          </a:xfrm>
          <a:prstGeom prst="rect">
            <a:avLst/>
          </a:prstGeom>
          <a:noFill/>
        </p:spPr>
        <p:txBody>
          <a:bodyPr wrap="square" lIns="0" tIns="0" rIns="0" bIns="0" anchor="t">
            <a:spAutoFit/>
          </a:bodyPr>
          <a:lstStyle/>
          <a:p>
            <a:r>
              <a:rPr sz="2400" b="1" i="0">
                <a:solidFill>
                  <a:srgbClr val="FFFFFF"/>
                </a:solidFill>
                <a:latin typeface="Times New Roman" panose="02020603050405020304" pitchFamily="18" charset="0"/>
                <a:cs typeface="Times New Roman" panose="02020603050405020304" pitchFamily="18" charset="0"/>
              </a:rPr>
              <a:t>Project Outcomes</a:t>
            </a:r>
          </a:p>
        </p:txBody>
      </p:sp>
      <p:sp>
        <p:nvSpPr>
          <p:cNvPr id="5" name="Rounded Rectangle 4"/>
          <p:cNvSpPr/>
          <p:nvPr/>
        </p:nvSpPr>
        <p:spPr>
          <a:xfrm>
            <a:off x="457200"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12</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Live Dashboard Pages</a:t>
            </a:r>
          </a:p>
        </p:txBody>
      </p:sp>
      <p:sp>
        <p:nvSpPr>
          <p:cNvPr id="6" name="Rounded Rectangle 5"/>
          <p:cNvSpPr/>
          <p:nvPr/>
        </p:nvSpPr>
        <p:spPr>
          <a:xfrm>
            <a:off x="2496311"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14</a:t>
            </a:r>
            <a:r>
              <a:rPr lang="en-IN" sz="3000" b="1" i="0">
                <a:solidFill>
                  <a:srgbClr val="F58220"/>
                </a:solidFill>
                <a:latin typeface="Times New Roman" panose="02020603050405020304" pitchFamily="18" charset="0"/>
                <a:cs typeface="Times New Roman" panose="02020603050405020304" pitchFamily="18" charset="0"/>
              </a:rPr>
              <a:t>+</a:t>
            </a:r>
            <a:endParaRPr sz="3000" b="1" i="0">
              <a:solidFill>
                <a:srgbClr val="F58220"/>
              </a:solidFill>
              <a:latin typeface="Times New Roman" panose="02020603050405020304" pitchFamily="18" charset="0"/>
              <a:cs typeface="Times New Roman" panose="02020603050405020304" pitchFamily="18" charset="0"/>
            </a:endParaRP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Clean Interactive Charts</a:t>
            </a:r>
          </a:p>
        </p:txBody>
      </p:sp>
      <p:sp>
        <p:nvSpPr>
          <p:cNvPr id="7" name="Rounded Rectangle 6"/>
          <p:cNvSpPr/>
          <p:nvPr/>
        </p:nvSpPr>
        <p:spPr>
          <a:xfrm>
            <a:off x="4535422"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2</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Export Formats (Excel &amp; PDF)</a:t>
            </a:r>
          </a:p>
        </p:txBody>
      </p:sp>
      <p:sp>
        <p:nvSpPr>
          <p:cNvPr id="8" name="Rounded Rectangle 7"/>
          <p:cNvSpPr/>
          <p:nvPr/>
        </p:nvSpPr>
        <p:spPr>
          <a:xfrm>
            <a:off x="6574533" y="1691640"/>
            <a:ext cx="1874519" cy="2011680"/>
          </a:xfrm>
          <a:prstGeom prst="roundRect">
            <a:avLst>
              <a:gd name="adj" fmla="val 8000"/>
            </a:avLst>
          </a:prstGeom>
          <a:solidFill>
            <a:srgbClr val="102848"/>
          </a:solidFill>
          <a:ln w="9525">
            <a:solidFill>
              <a:srgbClr val="2A40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F58220"/>
                </a:solidFill>
                <a:latin typeface="Times New Roman" panose="02020603050405020304" pitchFamily="18" charset="0"/>
                <a:cs typeface="Times New Roman" panose="02020603050405020304" pitchFamily="18" charset="0"/>
              </a:rPr>
              <a:t>Weekly</a:t>
            </a:r>
          </a:p>
          <a:p>
            <a:pPr algn="ctr">
              <a:spcBef>
                <a:spcPts val="400"/>
              </a:spcBef>
            </a:pPr>
            <a:r>
              <a:rPr sz="1100" b="0" i="0">
                <a:solidFill>
                  <a:srgbClr val="FFFFFF"/>
                </a:solidFill>
                <a:latin typeface="Times New Roman" panose="02020603050405020304" pitchFamily="18" charset="0"/>
                <a:cs typeface="Times New Roman" panose="02020603050405020304" pitchFamily="18" charset="0"/>
              </a:rPr>
              <a:t>HTML Report Updates</a:t>
            </a:r>
          </a:p>
        </p:txBody>
      </p:sp>
      <p:sp>
        <p:nvSpPr>
          <p:cNvPr id="9" name="TextBox 8"/>
          <p:cNvSpPr txBox="1"/>
          <p:nvPr/>
        </p:nvSpPr>
        <p:spPr>
          <a:xfrm>
            <a:off x="8686800" y="4864608"/>
            <a:ext cx="365760" cy="138499"/>
          </a:xfrm>
          <a:prstGeom prst="rect">
            <a:avLst/>
          </a:prstGeom>
          <a:noFill/>
        </p:spPr>
        <p:txBody>
          <a:bodyPr wrap="square" lIns="0" tIns="0" rIns="0" bIns="0" anchor="t">
            <a:spAutoFit/>
          </a:bodyPr>
          <a:lstStyle/>
          <a:p>
            <a:pPr algn="r"/>
            <a:r>
              <a:rPr sz="900" b="0" i="0">
                <a:solidFill>
                  <a:srgbClr val="8A93A3"/>
                </a:solidFill>
                <a:latin typeface="Times New Roman" panose="02020603050405020304" pitchFamily="18" charset="0"/>
                <a:cs typeface="Times New Roman" panose="02020603050405020304" pitchFamily="18" charset="0"/>
              </a:rPr>
              <a:t>19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5486400" cy="274320"/>
          </a:xfrm>
          <a:prstGeom prst="rect">
            <a:avLst/>
          </a:prstGeom>
          <a:noFill/>
        </p:spPr>
        <p:txBody>
          <a:bodyPr wrap="square" lIns="0" tIns="0" rIns="0" bIns="0" anchor="t">
            <a:spAutoFit/>
          </a:bodyPr>
          <a:lstStyle/>
          <a:p>
            <a:r>
              <a:rPr sz="1100" b="1" i="0" spc="150">
                <a:solidFill>
                  <a:srgbClr val="F58220"/>
                </a:solidFill>
                <a:latin typeface="Calibri"/>
              </a:rPr>
              <a:t>LOOKING AHEAD</a:t>
            </a:r>
          </a:p>
        </p:txBody>
      </p:sp>
      <p:sp>
        <p:nvSpPr>
          <p:cNvPr id="4" name="TextBox 3"/>
          <p:cNvSpPr txBox="1"/>
          <p:nvPr/>
        </p:nvSpPr>
        <p:spPr>
          <a:xfrm>
            <a:off x="457200" y="566928"/>
            <a:ext cx="8229600" cy="548640"/>
          </a:xfrm>
          <a:prstGeom prst="rect">
            <a:avLst/>
          </a:prstGeom>
          <a:noFill/>
        </p:spPr>
        <p:txBody>
          <a:bodyPr wrap="square" lIns="0" tIns="0" rIns="0" bIns="0" anchor="t">
            <a:spAutoFit/>
          </a:bodyPr>
          <a:lstStyle/>
          <a:p>
            <a:r>
              <a:rPr lang="en-IN" sz="2400" b="1" i="0">
                <a:solidFill>
                  <a:srgbClr val="0C1E36"/>
                </a:solidFill>
                <a:latin typeface="Calibri"/>
              </a:rPr>
              <a:t>Future Scope &amp; </a:t>
            </a:r>
            <a:r>
              <a:rPr sz="2400" b="1" i="0">
                <a:solidFill>
                  <a:srgbClr val="0C1E36"/>
                </a:solidFill>
                <a:latin typeface="Calibri"/>
              </a:rPr>
              <a:t>Conclusion</a:t>
            </a:r>
          </a:p>
        </p:txBody>
      </p:sp>
      <p:sp>
        <p:nvSpPr>
          <p:cNvPr id="5" name="TextBox 4"/>
          <p:cNvSpPr txBox="1"/>
          <p:nvPr/>
        </p:nvSpPr>
        <p:spPr>
          <a:xfrm>
            <a:off x="457200" y="1325880"/>
            <a:ext cx="3931920" cy="274320"/>
          </a:xfrm>
          <a:prstGeom prst="rect">
            <a:avLst/>
          </a:prstGeom>
          <a:noFill/>
        </p:spPr>
        <p:txBody>
          <a:bodyPr wrap="square" lIns="0" tIns="0" rIns="0" bIns="0" anchor="t">
            <a:spAutoFit/>
          </a:bodyPr>
          <a:lstStyle/>
          <a:p>
            <a:r>
              <a:rPr sz="1300" b="1" i="0">
                <a:solidFill>
                  <a:srgbClr val="0C1E36"/>
                </a:solidFill>
                <a:latin typeface="Calibri"/>
              </a:rPr>
              <a:t>Future Scope</a:t>
            </a:r>
          </a:p>
        </p:txBody>
      </p:sp>
      <p:sp>
        <p:nvSpPr>
          <p:cNvPr id="6" name="TextBox 5"/>
          <p:cNvSpPr txBox="1"/>
          <p:nvPr/>
        </p:nvSpPr>
        <p:spPr>
          <a:xfrm>
            <a:off x="457200" y="1691640"/>
            <a:ext cx="3931920" cy="1645920"/>
          </a:xfrm>
          <a:prstGeom prst="rect">
            <a:avLst/>
          </a:prstGeom>
          <a:noFill/>
        </p:spPr>
        <p:txBody>
          <a:bodyPr wrap="square" lIns="0" tIns="0" rIns="0" bIns="0" anchor="t">
            <a:spAutoFit/>
          </a:bodyPr>
          <a:lstStyle/>
          <a:p>
            <a:pPr>
              <a:lnSpc>
                <a:spcPct val="108000"/>
              </a:lnSpc>
              <a:spcAft>
                <a:spcPts val="1000"/>
              </a:spcAft>
            </a:pPr>
            <a:r>
              <a:rPr sz="1300" b="1" i="0">
                <a:solidFill>
                  <a:srgbClr val="F58220"/>
                </a:solidFill>
                <a:latin typeface="Calibri"/>
              </a:rPr>
              <a:t>▪  </a:t>
            </a:r>
            <a:r>
              <a:rPr sz="1300" b="0" i="0">
                <a:solidFill>
                  <a:srgbClr val="333333"/>
                </a:solidFill>
                <a:latin typeface="Calibri"/>
              </a:rPr>
              <a:t>Automated cloud scaling for the ETL pipeline</a:t>
            </a:r>
          </a:p>
          <a:p>
            <a:pPr>
              <a:lnSpc>
                <a:spcPct val="108000"/>
              </a:lnSpc>
              <a:spcAft>
                <a:spcPts val="1000"/>
              </a:spcAft>
            </a:pPr>
            <a:r>
              <a:rPr sz="1300" b="1" i="0">
                <a:solidFill>
                  <a:srgbClr val="F58220"/>
                </a:solidFill>
                <a:latin typeface="Calibri"/>
              </a:rPr>
              <a:t>▪  </a:t>
            </a:r>
            <a:r>
              <a:rPr sz="1300" b="0" i="0">
                <a:solidFill>
                  <a:srgbClr val="333333"/>
                </a:solidFill>
                <a:latin typeface="Calibri"/>
              </a:rPr>
              <a:t>Live AMFI streaming data channels</a:t>
            </a:r>
          </a:p>
          <a:p>
            <a:pPr>
              <a:lnSpc>
                <a:spcPct val="108000"/>
              </a:lnSpc>
              <a:spcAft>
                <a:spcPts val="1000"/>
              </a:spcAft>
            </a:pPr>
            <a:r>
              <a:rPr sz="1300" b="1" i="0">
                <a:solidFill>
                  <a:srgbClr val="F58220"/>
                </a:solidFill>
                <a:latin typeface="Calibri"/>
              </a:rPr>
              <a:t>▪  </a:t>
            </a:r>
            <a:r>
              <a:rPr sz="1300" b="0" i="0">
                <a:solidFill>
                  <a:srgbClr val="333333"/>
                </a:solidFill>
                <a:latin typeface="Calibri"/>
              </a:rPr>
              <a:t>Real-time portfolio alerts for advisors</a:t>
            </a:r>
          </a:p>
        </p:txBody>
      </p:sp>
      <p:sp>
        <p:nvSpPr>
          <p:cNvPr id="7" name="TextBox 6"/>
          <p:cNvSpPr txBox="1"/>
          <p:nvPr/>
        </p:nvSpPr>
        <p:spPr>
          <a:xfrm>
            <a:off x="4709160" y="1325880"/>
            <a:ext cx="3977639" cy="274320"/>
          </a:xfrm>
          <a:prstGeom prst="rect">
            <a:avLst/>
          </a:prstGeom>
          <a:noFill/>
        </p:spPr>
        <p:txBody>
          <a:bodyPr wrap="square" lIns="0" tIns="0" rIns="0" bIns="0" anchor="t">
            <a:spAutoFit/>
          </a:bodyPr>
          <a:lstStyle/>
          <a:p>
            <a:r>
              <a:rPr sz="1300" b="1" i="0">
                <a:solidFill>
                  <a:srgbClr val="0C1E36"/>
                </a:solidFill>
                <a:latin typeface="Calibri"/>
              </a:rPr>
              <a:t>Conclusion</a:t>
            </a:r>
          </a:p>
        </p:txBody>
      </p:sp>
      <p:sp>
        <p:nvSpPr>
          <p:cNvPr id="8" name="TextBox 7"/>
          <p:cNvSpPr txBox="1"/>
          <p:nvPr/>
        </p:nvSpPr>
        <p:spPr>
          <a:xfrm>
            <a:off x="4709160" y="1691640"/>
            <a:ext cx="3977639" cy="2377440"/>
          </a:xfrm>
          <a:prstGeom prst="rect">
            <a:avLst/>
          </a:prstGeom>
          <a:noFill/>
        </p:spPr>
        <p:txBody>
          <a:bodyPr wrap="square" lIns="0" tIns="0" rIns="0" bIns="0" anchor="t">
            <a:spAutoFit/>
          </a:bodyPr>
          <a:lstStyle/>
          <a:p>
            <a:pPr>
              <a:lnSpc>
                <a:spcPct val="108000"/>
              </a:lnSpc>
              <a:spcAft>
                <a:spcPts val="1000"/>
              </a:spcAft>
            </a:pPr>
            <a:r>
              <a:rPr sz="1250" b="1" i="0">
                <a:solidFill>
                  <a:srgbClr val="F58220"/>
                </a:solidFill>
                <a:latin typeface="Calibri"/>
              </a:rPr>
              <a:t>▪  </a:t>
            </a:r>
            <a:r>
              <a:rPr sz="1250" b="0" i="0">
                <a:solidFill>
                  <a:srgbClr val="333333"/>
                </a:solidFill>
                <a:latin typeface="Calibri"/>
              </a:rPr>
              <a:t>Successfully designed and launched the platform during the BlueStock Fintech internship</a:t>
            </a:r>
          </a:p>
          <a:p>
            <a:pPr>
              <a:lnSpc>
                <a:spcPct val="108000"/>
              </a:lnSpc>
              <a:spcAft>
                <a:spcPts val="1000"/>
              </a:spcAft>
            </a:pPr>
            <a:r>
              <a:rPr sz="1250" b="1" i="0">
                <a:solidFill>
                  <a:srgbClr val="F58220"/>
                </a:solidFill>
                <a:latin typeface="Calibri"/>
              </a:rPr>
              <a:t>▪  </a:t>
            </a:r>
            <a:r>
              <a:rPr sz="1250" b="0" i="0">
                <a:solidFill>
                  <a:srgbClr val="333333"/>
                </a:solidFill>
                <a:latin typeface="Calibri"/>
              </a:rPr>
              <a:t>Centralizes fragmented data, automates price collection, and enables interactive risk-return analysis</a:t>
            </a:r>
          </a:p>
          <a:p>
            <a:pPr>
              <a:lnSpc>
                <a:spcPct val="108000"/>
              </a:lnSpc>
              <a:spcAft>
                <a:spcPts val="1000"/>
              </a:spcAft>
            </a:pPr>
            <a:r>
              <a:rPr sz="1250" b="1" i="0">
                <a:solidFill>
                  <a:srgbClr val="F58220"/>
                </a:solidFill>
                <a:latin typeface="Calibri"/>
              </a:rPr>
              <a:t>▪  </a:t>
            </a:r>
            <a:r>
              <a:rPr sz="1250" b="0" i="0">
                <a:solidFill>
                  <a:srgbClr val="333333"/>
                </a:solidFill>
                <a:latin typeface="Calibri"/>
              </a:rPr>
              <a:t>Demonstrates that data-driven interfaces help demystify mutual fund analytics for rational wealth planning</a:t>
            </a:r>
          </a:p>
        </p:txBody>
      </p:sp>
      <p:sp>
        <p:nvSpPr>
          <p:cNvPr id="9" name="Rounded Rectangle 8"/>
          <p:cNvSpPr/>
          <p:nvPr/>
        </p:nvSpPr>
        <p:spPr>
          <a:xfrm>
            <a:off x="457200" y="4343400"/>
            <a:ext cx="8229600" cy="502920"/>
          </a:xfrm>
          <a:prstGeom prst="roundRect">
            <a:avLst>
              <a:gd name="adj" fmla="val 15000"/>
            </a:avLst>
          </a:prstGeom>
          <a:solidFill>
            <a:srgbClr val="0C1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Calibri"/>
              </a:rPr>
              <a:t>Thank You  —  Mohammad Zuheer, Data Analyst Intern, BlueStock Fintech</a:t>
            </a:r>
          </a:p>
        </p:txBody>
      </p:sp>
      <p:sp>
        <p:nvSpPr>
          <p:cNvPr id="10" name="TextBox 9"/>
          <p:cNvSpPr txBox="1"/>
          <p:nvPr/>
        </p:nvSpPr>
        <p:spPr>
          <a:xfrm>
            <a:off x="8686800" y="4864608"/>
            <a:ext cx="365760" cy="228600"/>
          </a:xfrm>
          <a:prstGeom prst="rect">
            <a:avLst/>
          </a:prstGeom>
          <a:noFill/>
        </p:spPr>
        <p:txBody>
          <a:bodyPr wrap="square" lIns="0" tIns="0" rIns="0" bIns="0" anchor="t">
            <a:spAutoFit/>
          </a:bodyPr>
          <a:lstStyle/>
          <a:p>
            <a:pPr algn="r"/>
            <a:r>
              <a:rPr sz="900" b="0" i="0">
                <a:solidFill>
                  <a:srgbClr val="8A93A3"/>
                </a:solidFill>
                <a:latin typeface="Calibri"/>
              </a:rPr>
              <a:t>20</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C1F36E-15B1-3D5A-D0C2-B29651FA9FAB}"/>
              </a:ext>
            </a:extLst>
          </p:cNvPr>
          <p:cNvSpPr txBox="1"/>
          <p:nvPr/>
        </p:nvSpPr>
        <p:spPr>
          <a:xfrm>
            <a:off x="445376" y="835572"/>
            <a:ext cx="8253247" cy="3416320"/>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Live link-</a:t>
            </a:r>
            <a:r>
              <a:rPr lang="en-US" b="1" u="sng">
                <a:latin typeface="Times New Roman" panose="02020603050405020304" pitchFamily="18" charset="0"/>
                <a:cs typeface="Times New Roman" panose="02020603050405020304" pitchFamily="18" charset="0"/>
                <a:hlinkClick r:id="rId2"/>
              </a:rPr>
              <a:t>https://bluestock-mf-analytics.streamlit.app/</a:t>
            </a:r>
            <a:endParaRPr lang="en-US" b="1" u="sng">
              <a:latin typeface="Times New Roman" panose="02020603050405020304" pitchFamily="18" charset="0"/>
              <a:cs typeface="Times New Roman" panose="02020603050405020304" pitchFamily="18" charset="0"/>
            </a:endParaRPr>
          </a:p>
          <a:p>
            <a:endParaRPr lang="en-US" b="1" u="sng">
              <a:latin typeface="Times New Roman" panose="02020603050405020304" pitchFamily="18" charset="0"/>
              <a:cs typeface="Times New Roman" panose="02020603050405020304" pitchFamily="18" charset="0"/>
            </a:endParaRPr>
          </a:p>
          <a:p>
            <a:endParaRPr lang="en-IN">
              <a:latin typeface="Times New Roman" panose="02020603050405020304" pitchFamily="18" charset="0"/>
              <a:cs typeface="Times New Roman" panose="02020603050405020304" pitchFamily="18" charset="0"/>
            </a:endParaRPr>
          </a:p>
          <a:p>
            <a:r>
              <a:rPr lang="en-US">
                <a:latin typeface="Times New Roman" panose="02020603050405020304" pitchFamily="18" charset="0"/>
                <a:cs typeface="Times New Roman" panose="02020603050405020304" pitchFamily="18" charset="0"/>
              </a:rPr>
              <a:t> </a:t>
            </a:r>
            <a:r>
              <a:rPr lang="en-US" b="1">
                <a:latin typeface="Times New Roman" panose="02020603050405020304" pitchFamily="18" charset="0"/>
                <a:cs typeface="Times New Roman" panose="02020603050405020304" pitchFamily="18" charset="0"/>
              </a:rPr>
              <a:t>Note:</a:t>
            </a:r>
            <a:r>
              <a:rPr lang="en-US">
                <a:latin typeface="Times New Roman" panose="02020603050405020304" pitchFamily="18" charset="0"/>
                <a:cs typeface="Times New Roman" panose="02020603050405020304" pitchFamily="18" charset="0"/>
              </a:rPr>
              <a:t> </a:t>
            </a:r>
          </a:p>
          <a:p>
            <a:endParaRPr lang="en-US">
              <a:latin typeface="Times New Roman" panose="02020603050405020304" pitchFamily="18" charset="0"/>
              <a:cs typeface="Times New Roman" panose="02020603050405020304" pitchFamily="18" charset="0"/>
            </a:endParaRPr>
          </a:p>
          <a:p>
            <a:r>
              <a:rPr lang="en-US">
                <a:latin typeface="Times New Roman" panose="02020603050405020304" pitchFamily="18" charset="0"/>
                <a:cs typeface="Times New Roman" panose="02020603050405020304" pitchFamily="18" charset="0"/>
              </a:rPr>
              <a:t>I scheduled my local ETL pipeline to run automatically every day at 8:00 PM on my computer. However, this only updates the database file locally on my machine. Since the live website reads the database file hosted on my GitHub repository (and Streamlit Cloud servers reset periodically), I must push the updated local database to GitHub to show the daily 8:00 PM updates on the live website. I have to push it manually every time because my local computer is isolated from the cloud, and the Streamlit Cloud server has no direct access to read files from my local system.</a:t>
            </a:r>
            <a:endParaRPr lang="en-IN">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9464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TotalTime>
  <Words>2887</Words>
  <Application>Microsoft Office PowerPoint</Application>
  <PresentationFormat>On-screen Show (16:9)</PresentationFormat>
  <Paragraphs>312</Paragraphs>
  <Slides>24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ZUHEER ZUHEER</cp:lastModifiedBy>
  <cp:revision>7</cp:revision>
  <dcterms:created xsi:type="dcterms:W3CDTF">2013-01-27T09:14:16Z</dcterms:created>
  <dcterms:modified xsi:type="dcterms:W3CDTF">2026-07-13T07:25:38Z</dcterms:modified>
  <cp:category/>
</cp:coreProperties>
</file>