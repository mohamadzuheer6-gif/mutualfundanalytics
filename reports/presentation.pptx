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04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9144000" cy="982980"/>
          </a:xfrm>
          <a:prstGeom prst="rect">
            <a:avLst/>
          </a:prstGeom>
          <a:solidFill>
            <a:srgbClr val="102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452360" y="-822960"/>
            <a:ext cx="2377440" cy="2377440"/>
          </a:xfrm>
          <a:prstGeom prst="ellipse">
            <a:avLst/>
          </a:prstGeom>
          <a:solidFill>
            <a:srgbClr val="F5822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914400" y="3291840"/>
            <a:ext cx="2011680" cy="2011680"/>
          </a:xfrm>
          <a:prstGeom prst="ellipse">
            <a:avLst/>
          </a:prstGeom>
          <a:solidFill>
            <a:srgbClr val="F58220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73152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300" b="1" spc="200">
                <a:solidFill>
                  <a:srgbClr val="F58220"/>
                </a:solidFill>
                <a:latin typeface="Calibri"/>
              </a:rPr>
              <a:t>CAPSTONE PROJECT </a:t>
            </a:r>
            <a:r>
              <a:rPr sz="1300" b="1" i="0" spc="200">
                <a:solidFill>
                  <a:srgbClr val="F58220"/>
                </a:solidFill>
                <a:latin typeface="Calibri"/>
              </a:rPr>
              <a:t>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MUTUAL FUND</a:t>
            </a:r>
          </a:p>
          <a:p>
            <a:pPr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ANALYTICS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73152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 i="0">
                <a:solidFill>
                  <a:srgbClr val="CFD8E8"/>
                </a:solidFill>
                <a:latin typeface="Calibri"/>
              </a:rPr>
              <a:t>Internship </a:t>
            </a:r>
            <a:r>
              <a:rPr lang="en-IN" sz="1500">
                <a:solidFill>
                  <a:srgbClr val="CFD8E8"/>
                </a:solidFill>
                <a:latin typeface="Calibri"/>
              </a:rPr>
              <a:t>Capstone</a:t>
            </a:r>
            <a:r>
              <a:rPr sz="1500" b="0" i="0">
                <a:solidFill>
                  <a:srgbClr val="CFD8E8"/>
                </a:solidFill>
                <a:latin typeface="Calibri"/>
              </a:rPr>
              <a:t> Project Presentation  |  BlueStock Fintech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70832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Mohammad Zuheer</a:t>
            </a:r>
          </a:p>
          <a:p>
            <a:r>
              <a:rPr sz="1150" b="0" i="0">
                <a:solidFill>
                  <a:srgbClr val="B8C4D8"/>
                </a:solidFill>
                <a:latin typeface="Calibri"/>
              </a:rPr>
              <a:t>Data Analyst Intern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783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9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998" y="912508"/>
            <a:ext cx="8485002" cy="37085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</a:t>
            </a:r>
            <a:r>
              <a:rPr lang="en-IN"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Built a centralized, interactive Mutual Fund Analytics Platform at BlueStock Fintech to</a:t>
            </a:r>
            <a:r>
              <a:rPr lang="en-IN" sz="140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r>
              <a:rPr lang="en-IN"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 fragmentation in retail wealth</a:t>
            </a:r>
            <a:r>
              <a:rPr lang="en-IN"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management.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Structured a star-schema SQLite database integrating ten disparate CSV datasets covering funds, historical NAVs, transactions, and stock portfolios.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Pipeline.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Programmed a Python-based ETL pipeline handling automated cleanups, key mapping fixes, and daily API-driven valuation updates.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Interface.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Created a 12-page analytical Streamlit dashboard with performance tables, state-wise charts, and SIP trend views.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Advanced Analytics.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Integrated portfolio optimization (Markowitz Efficient Frontier) and Monte Carlo growth simulators.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Outcome.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Delivered PDF/Excel export modules and an admin log desk, reducing manual reporting overhead for wealth advisors.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486460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Calibri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Calibri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25974"/>
            <a:ext cx="8229600" cy="31111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Fragmentation.  </a:t>
            </a:r>
            <a:r>
              <a:rPr sz="14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 details, NAVs, benchmarks, and sector data are published in diverse, disconnected formats.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Lack of Risk-Adjusted Tools.  </a:t>
            </a:r>
            <a:r>
              <a:rPr sz="14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Investors judge funds mainly on past returns, ignoring volatility, drawdowns, and Sharpe/Sortino ratios.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Static Advisory Reports.  </a:t>
            </a:r>
            <a:r>
              <a:rPr sz="14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Traditional PDF reports don't allow interactive screening, reweighting, or custom horizon projections.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Manual Pipelines.  </a:t>
            </a:r>
            <a:r>
              <a:rPr sz="14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Wealth teams spend significant effort manually loading spreadsheet data, introducing errors.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Inconsistency.  </a:t>
            </a:r>
            <a:r>
              <a:rPr sz="14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Mismatched scheme names and incorrect AMFI identifiers across sources break table joins.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486460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Calibri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Calibri"/>
              </a:rPr>
              <a:t>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Calibri"/>
              </a:rPr>
              <a:t>Project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91440" rtlCol="0" anchor="ctr"/>
          <a:lstStyle/>
          <a:p>
            <a:pPr algn="ctr">
              <a:spcBef>
                <a:spcPts val="2800"/>
              </a:spcBef>
            </a:pPr>
            <a:r>
              <a:rPr sz="12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Relational Consolidation</a:t>
            </a:r>
          </a:p>
          <a:p>
            <a:pPr>
              <a:spcBef>
                <a:spcPts val="3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Host all historical mutual fund records in a local, optimized database.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527048"/>
            <a:ext cx="274320" cy="274320"/>
          </a:xfrm>
          <a:prstGeom prst="ellipse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91440" rtlCol="0" anchor="ctr"/>
          <a:lstStyle/>
          <a:p>
            <a:pPr algn="ctr">
              <a:spcBef>
                <a:spcPts val="2800"/>
              </a:spcBef>
            </a:pPr>
            <a:r>
              <a:rPr sz="12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Automated Updates</a:t>
            </a:r>
          </a:p>
          <a:p>
            <a:pPr>
              <a:spcBef>
                <a:spcPts val="3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Scheduled ETL pipeline that cleans data and pulls daily valuations incrementally.</a:t>
            </a:r>
          </a:p>
        </p:txBody>
      </p:sp>
      <p:sp>
        <p:nvSpPr>
          <p:cNvPr id="8" name="Oval 7"/>
          <p:cNvSpPr/>
          <p:nvPr/>
        </p:nvSpPr>
        <p:spPr>
          <a:xfrm>
            <a:off x="3429000" y="1527048"/>
            <a:ext cx="274320" cy="274320"/>
          </a:xfrm>
          <a:prstGeom prst="ellipse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173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91440" rtlCol="0" anchor="ctr"/>
          <a:lstStyle/>
          <a:p>
            <a:pPr algn="ctr">
              <a:spcBef>
                <a:spcPts val="2800"/>
              </a:spcBef>
            </a:pPr>
            <a:r>
              <a:rPr sz="12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Multi-Criteria Recommender</a:t>
            </a:r>
          </a:p>
          <a:p>
            <a:pPr>
              <a:spcBef>
                <a:spcPts val="3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Scoring engine to rank funds by investor goals, risk, and expense limits.</a:t>
            </a:r>
          </a:p>
        </p:txBody>
      </p:sp>
      <p:sp>
        <p:nvSpPr>
          <p:cNvPr id="10" name="Oval 9"/>
          <p:cNvSpPr/>
          <p:nvPr/>
        </p:nvSpPr>
        <p:spPr>
          <a:xfrm>
            <a:off x="6263640" y="1527048"/>
            <a:ext cx="274320" cy="274320"/>
          </a:xfrm>
          <a:prstGeom prst="ellipse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175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91440" rtlCol="0" anchor="ctr"/>
          <a:lstStyle/>
          <a:p>
            <a:pPr algn="ctr">
              <a:spcBef>
                <a:spcPts val="2800"/>
              </a:spcBef>
            </a:pPr>
            <a:r>
              <a:rPr sz="12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Metrics Computation</a:t>
            </a:r>
          </a:p>
          <a:p>
            <a:pPr>
              <a:spcBef>
                <a:spcPts val="3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Calculators for Sharpe/Sortino ratios, Alpha, Beta, and Max Drawdowns.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127248"/>
            <a:ext cx="274320" cy="274320"/>
          </a:xfrm>
          <a:prstGeom prst="ellipse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0175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91440" rtlCol="0" anchor="ctr"/>
          <a:lstStyle/>
          <a:p>
            <a:pPr algn="ctr">
              <a:spcBef>
                <a:spcPts val="2800"/>
              </a:spcBef>
            </a:pPr>
            <a:r>
              <a:rPr sz="12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Optimization Integration</a:t>
            </a:r>
          </a:p>
          <a:p>
            <a:pPr>
              <a:spcBef>
                <a:spcPts val="3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 weighting models using Markowitz Modern Portfolio Theory.</a:t>
            </a:r>
          </a:p>
        </p:txBody>
      </p:sp>
      <p:sp>
        <p:nvSpPr>
          <p:cNvPr id="14" name="Oval 13"/>
          <p:cNvSpPr/>
          <p:nvPr/>
        </p:nvSpPr>
        <p:spPr>
          <a:xfrm>
            <a:off x="3429000" y="3127248"/>
            <a:ext cx="274320" cy="274320"/>
          </a:xfrm>
          <a:prstGeom prst="ellipse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0175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91440" rtlCol="0" anchor="ctr"/>
          <a:lstStyle/>
          <a:p>
            <a:pPr algn="ctr">
              <a:spcBef>
                <a:spcPts val="2800"/>
              </a:spcBef>
            </a:pPr>
            <a:r>
              <a:rPr sz="12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Generation</a:t>
            </a:r>
          </a:p>
          <a:p>
            <a:pPr>
              <a:spcBef>
                <a:spcPts val="3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Downloadable, client-ready PDF reports and structured Excel files.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3127248"/>
            <a:ext cx="274320" cy="274320"/>
          </a:xfrm>
          <a:prstGeom prst="ellipse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86460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Calibri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Calibri"/>
              </a:rPr>
              <a:t>Technology Stack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2034069"/>
              </p:ext>
            </p:extLst>
          </p:nvPr>
        </p:nvGraphicFramePr>
        <p:xfrm>
          <a:off x="457200" y="1371600"/>
          <a:ext cx="8229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7195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Technology</a:t>
                      </a:r>
                    </a:p>
                  </a:txBody>
                  <a:tcPr marT="36576" marB="36576">
                    <a:solidFill>
                      <a:srgbClr val="0C1E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marT="36576" marB="36576">
                    <a:solidFill>
                      <a:srgbClr val="0C1E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Usage in Project</a:t>
                      </a:r>
                    </a:p>
                  </a:txBody>
                  <a:tcPr marT="36576" marB="36576">
                    <a:solidFill>
                      <a:srgbClr val="0C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C1E36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 logic &amp; math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Processes files, computes metrics, controls app flow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C1E36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Streamlit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Multi-page dashboard framework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Renders navigation tabs, KPIs, visual charts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C1E36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SQLite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Relational database engine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Hosts staging, dimension, fact &amp; audit tables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C1E36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Pandas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Structured data manipulation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Cleans, filters, joins, aggregates tables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C1E36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NumPy / SciPy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Array math &amp; optimization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Runs Monte Carlo scenarios &amp; quadratic optimization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C1E36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Plotly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Interactive charting library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Renders lines, bars, donuts, heatmap grids</a:t>
                      </a:r>
                    </a:p>
                  </a:txBody>
                  <a:tcPr marT="27432" marB="27432">
                    <a:solidFill>
                      <a:srgbClr val="F1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C1E36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ReportLab / openpyxl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PDF &amp; Excel export engines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Generates formatted reporting files for advisors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0" y="486460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Calibri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 Design &amp; ETL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Star-Schema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3931920" cy="359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dim_fund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fund_id, amfi_code, scheme_name, category, risk_category,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3931920" cy="359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dim_date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date_id, full_date, month, year,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79776"/>
            <a:ext cx="3931920" cy="359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fact_nav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nav_id, fund_id (FK), date_id (FK), nav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46704"/>
            <a:ext cx="3931920" cy="359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fact_performance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 metrics, Sharpe/Sortino, alpha, beta, AUM, expense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13632"/>
            <a:ext cx="3931920" cy="359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etl_metadata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logs run timestamps, status, row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325880"/>
            <a:ext cx="3977639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ETL Workflow</a:t>
            </a:r>
          </a:p>
        </p:txBody>
      </p:sp>
      <p:sp>
        <p:nvSpPr>
          <p:cNvPr id="12" name="Oval 11"/>
          <p:cNvSpPr/>
          <p:nvPr/>
        </p:nvSpPr>
        <p:spPr>
          <a:xfrm>
            <a:off x="4709160" y="1709928"/>
            <a:ext cx="201168" cy="201168"/>
          </a:xfrm>
          <a:prstGeom prst="ellipse">
            <a:avLst/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1664208"/>
            <a:ext cx="363931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Extract  —  </a:t>
            </a: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Reads raw CSVs and queries AMFI / MFAPI APIs for live historical NAV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4709160" y="2276856"/>
            <a:ext cx="201168" cy="201168"/>
          </a:xfrm>
          <a:prstGeom prst="ellipse">
            <a:avLst/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2231136"/>
            <a:ext cx="363931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Transform  —  </a:t>
            </a: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Standardizes dates, coerces types, removes duplicates, handles missing values.</a:t>
            </a:r>
          </a:p>
        </p:txBody>
      </p:sp>
      <p:sp>
        <p:nvSpPr>
          <p:cNvPr id="16" name="Oval 15"/>
          <p:cNvSpPr/>
          <p:nvPr/>
        </p:nvSpPr>
        <p:spPr>
          <a:xfrm>
            <a:off x="4709160" y="2843784"/>
            <a:ext cx="201168" cy="201168"/>
          </a:xfrm>
          <a:prstGeom prst="ellipse">
            <a:avLst/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2798064"/>
            <a:ext cx="363931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 —  </a:t>
            </a: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Fixes AMFI ID mismatches (e.g. ABSL Large Cap 112114 → 103174).</a:t>
            </a:r>
          </a:p>
        </p:txBody>
      </p:sp>
      <p:sp>
        <p:nvSpPr>
          <p:cNvPr id="18" name="Oval 17"/>
          <p:cNvSpPr/>
          <p:nvPr/>
        </p:nvSpPr>
        <p:spPr>
          <a:xfrm>
            <a:off x="4709160" y="3410712"/>
            <a:ext cx="201168" cy="201168"/>
          </a:xfrm>
          <a:prstGeom prst="ellipse">
            <a:avLst/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7488" y="3364992"/>
            <a:ext cx="363931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Load  —  </a:t>
            </a: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Loads cleaned staging tables into SQLite with FK &amp; unique constraints.</a:t>
            </a:r>
          </a:p>
        </p:txBody>
      </p:sp>
      <p:sp>
        <p:nvSpPr>
          <p:cNvPr id="20" name="Oval 19"/>
          <p:cNvSpPr/>
          <p:nvPr/>
        </p:nvSpPr>
        <p:spPr>
          <a:xfrm>
            <a:off x="4709160" y="3977640"/>
            <a:ext cx="201168" cy="201168"/>
          </a:xfrm>
          <a:prstGeom prst="ellipse">
            <a:avLst/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8" y="3931920"/>
            <a:ext cx="363931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5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Update Daily  —  </a:t>
            </a:r>
            <a:r>
              <a:rPr sz="10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Fetches new NAVs since last run, appends to fact_nav, audits in etl_metadata.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50292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Overview (Pages 1–3)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5396" y="1271016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Summarizes overall mutual fund assets, AMC market shares, and category splits.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 Analytics.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Period selectors (1M/6M/1Y/All), rolling returns, drawdowns, calendar heatmaps.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Risk-return comparisons, benchmark tracking, alpha metrics.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KPIs shown.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 Industry AUM, Active Fund Houses, Category Splits.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Gives advisors a single-glance snapshot of industry scale and fund positioning.</a:t>
            </a:r>
          </a:p>
        </p:txBody>
      </p:sp>
      <p:pic>
        <p:nvPicPr>
          <p:cNvPr id="7" name="Picture 6" descr="pag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876" y="1083564"/>
            <a:ext cx="4606684" cy="3008376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4146804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— Overview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50292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Pages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4855" y="1271016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Analytics.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deviation bounds, beta values, Sharpe/Sortino comparisons.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Investor Analytics.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Investor demographics, geography, and saving channels.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SIP &amp; Market Trends.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Retail SIP patterns vs. broader market indices.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Volatility vs. return scatter, transaction volume by state, SIP vs. Nifty overlay.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Surfaces which funds carry disproportionate risk relative to their returns.</a:t>
            </a:r>
          </a:p>
        </p:txBody>
      </p:sp>
      <p:pic>
        <p:nvPicPr>
          <p:cNvPr id="7" name="Picture 6" descr="page_risk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334" y="594360"/>
            <a:ext cx="4597225" cy="3396996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4146804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Analytics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Pages 7–9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8066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Portfolio Holdings.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Stock allocation, concentration risk, and sector exposure.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Monte Carlo Simulation.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Projects future value distributions using probability simulations.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Portfolio Optimizer.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Computes asset weights to maximize risk-adjusted efficiency.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output.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Efficient Frontier scatter, highlighting Max Sharpe &amp; Min Volatility portfolios.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Turns Modern Portfolio Theory into an interactive, advisor-ready tool.</a:t>
            </a:r>
          </a:p>
        </p:txBody>
      </p:sp>
      <p:pic>
        <p:nvPicPr>
          <p:cNvPr id="7" name="Picture 6" descr="page_portfolio_optim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768096"/>
            <a:ext cx="4480560" cy="3323844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4146804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Portfolio Optimizer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Pages 10–12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1" y="1292930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 Recommender.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Suggests funds based on client goal, risk appetite, horizon, expense limit.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Reports &amp; Export.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 fact sheet PDFs, CSV datasets, multi-sheet Excel books.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Panel.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diagnostics: DB health, last ETL run, live logs.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 format.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Match % scores, top-3 recommendation cards, candidate comparison grid.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Converts a client's stated goals directly into a ranked, explainable shortlist.</a:t>
            </a:r>
          </a:p>
        </p:txBody>
      </p:sp>
      <p:pic>
        <p:nvPicPr>
          <p:cNvPr id="7" name="Picture 6" descr="page_fund_recomm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841248"/>
            <a:ext cx="4389120" cy="3250692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4146804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 Recommender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Industry AUM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1480"/>
            <a:ext cx="3840480" cy="24629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Industry AUM Trend.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 timeline vs. industry AUM in ₹ Lakh Crore, aggregated across the industry.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AUM by Fund House.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Compares asset sizes across AMCs, sorted descending by latest AUM.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Steady growth in industry assets reflects rising retail investor participation.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Concentration.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small number of top AMCs manage the majority share of total capital.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Mutual fund industry AUM has scaled meaningfully, led by a handful of dominant AMCs.</a:t>
            </a:r>
          </a:p>
        </p:txBody>
      </p:sp>
      <p:pic>
        <p:nvPicPr>
          <p:cNvPr id="7" name="Picture 6" descr="industry_aum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98558"/>
            <a:ext cx="4480560" cy="2834640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3888061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Industry AUM Trend (₹ Lakh Crore)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SIP &amp; Category Inflow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8156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Monthly SIP Inflow.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Tracks retail SIP volumes (₹ Crore) against the Nifty 50 index close.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Category-wise Inflow.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Ranks fund categories by total net inflow for the latest FY25 period.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SIP volumes stay stable even during market corrections, acting as a funding cushion.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Leading categories.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Liquid and Sectoral/Thematic funds currently capture the largest net inflows.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Systematic Investment Plans provide a resilient, low-volatility capital base for AMCs.</a:t>
            </a:r>
          </a:p>
        </p:txBody>
      </p:sp>
      <p:pic>
        <p:nvPicPr>
          <p:cNvPr id="7" name="Picture 6" descr="monthly_sip_inflow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14400"/>
            <a:ext cx="4389120" cy="3196745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4166009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Monthly SIP Inflow vs. Nifty 50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 vs. Benchmark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70385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Daily NAV Trend.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Historical price performance for a selected scheme over its full life.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 vs. Benchmark.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ABSL Frontline Equity Fund tracked against the NIFTY100 index.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Reveals whether the fund manager generated alpha across different market cycles.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Lets advisors validate active management value versus a passive benchmark.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fund has decoupled from its benchmark in recent cycles — a signal of active alpha generation.</a:t>
            </a:r>
          </a:p>
        </p:txBody>
      </p:sp>
      <p:pic>
        <p:nvPicPr>
          <p:cNvPr id="7" name="Picture 6" descr="fund_nav_vs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15568"/>
            <a:ext cx="4389120" cy="2601783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3866966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 NAV vs. NIFTY100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&amp; Risk-Adjusted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1" y="1304124"/>
            <a:ext cx="3840480" cy="24629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vs. Return Bubble.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1-Year return % vs. volatility (std. dev %); bubble size = AUM in ₹ Crore.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Alpha vs. Beta Scatter.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3-Year return vs. volatility, aggregated across a longer horizon.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Efficient funds.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 in the upper-left quadrant — high return, low volatility.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 volatility does not always yield higher returns, reinforcing risk-adjusted screening.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Equity funds cluster at higher risk/return than Debt, but efficiency varies widely within each group.</a:t>
            </a:r>
          </a:p>
        </p:txBody>
      </p:sp>
      <p:pic>
        <p:nvPicPr>
          <p:cNvPr id="7" name="Picture 6" descr="risk_vs_retur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858941"/>
            <a:ext cx="4480560" cy="2593707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3735337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vs. Return Profile (3-Year Horizon)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PORTFOLIO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Portfolio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171" y="1248156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Sector Allocation.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Percentage allocation by industry sector across all aggregated holdings.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 Holdings.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Largest individual stock exposures, filtered to the top 10 by weight.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Banking and Financial Services hold the largest allocation share.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Concentration risk.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Notable exposure to large-cap names such as ICICI Bank, Infosys, and Grasim.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Sector concentration in Financials warrants active monitoring for diversification risk.</a:t>
            </a:r>
          </a:p>
        </p:txBody>
      </p:sp>
      <p:pic>
        <p:nvPicPr>
          <p:cNvPr id="7" name="Picture 6" descr="portfolio_sector_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1" y="694944"/>
            <a:ext cx="4099348" cy="3639312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4535424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Portfolio Sector Allocation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 Recommendation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75588"/>
            <a:ext cx="3840480" cy="223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Match Cards.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Top-3 recommended funds displayed as scored cards with key ratios.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Screening Grid.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comparison table of candidate funds side-by-side.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used.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Goal: Wealth Creation | Risk: Moderate | Horizon: 3–5 Years.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 pick.  </a:t>
            </a:r>
            <a:r>
              <a:rPr sz="14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Nippon India Large Cap Fund led with a 48.87% match score.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6052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0" i="1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scoring engine balances returns, cost efficiency, and consistency — not returns alone.</a:t>
            </a:r>
          </a:p>
        </p:txBody>
      </p:sp>
      <p:pic>
        <p:nvPicPr>
          <p:cNvPr id="7" name="Picture 6" descr="fund_recommenda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001110"/>
            <a:ext cx="4572000" cy="2593428"/>
          </a:xfrm>
          <a:prstGeom prst="rect">
            <a:avLst/>
          </a:prstGeom>
          <a:ln w="9525">
            <a:solidFill>
              <a:srgbClr val="E2E6EC"/>
            </a:solidFill>
          </a:ln>
          <a:effectLst>
            <a:outerShdw blurRad="90000" dist="30000" dir="5400000" rotWithShape="0">
              <a:srgbClr val="1A1A1A">
                <a:alpha val="2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663440" y="3701503"/>
            <a:ext cx="4389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Fund Recommendation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93192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09728" rtlCol="0" anchor="ctr"/>
          <a:lstStyle/>
          <a:p>
            <a:pPr algn="ctr"/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Cost vs. Alpha Tradeoff</a:t>
            </a:r>
          </a:p>
          <a:p>
            <a:pPr>
              <a:spcBef>
                <a:spcPts val="500"/>
              </a:spcBef>
            </a:pPr>
            <a:r>
              <a:rPr sz="11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expense ratios often erode active management gains; low-fee funds frequently beat higher-cost peers on net returns.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417320"/>
            <a:ext cx="393192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09728" rtlCol="0" anchor="ctr"/>
          <a:lstStyle/>
          <a:p>
            <a:pPr algn="ctr"/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Risk-Adjusted Efficiency</a:t>
            </a:r>
          </a:p>
          <a:p>
            <a:pPr>
              <a:spcBef>
                <a:spcPts val="500"/>
              </a:spcBef>
            </a:pPr>
            <a:r>
              <a:rPr sz="11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Moderate-risk hybrid funds can deliver better Sharpe/Sortino outcomes than pure equity options during corrections.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08960"/>
            <a:ext cx="393192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09728" rtlCol="0" anchor="ctr"/>
          <a:lstStyle/>
          <a:p>
            <a:pPr algn="ctr"/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SIP Stabilization Effect</a:t>
            </a:r>
          </a:p>
          <a:p>
            <a:pPr>
              <a:spcBef>
                <a:spcPts val="500"/>
              </a:spcBef>
            </a:pPr>
            <a:r>
              <a:rPr sz="11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Monthly SIP volumes show low volatility, acting as a stable funding source during market declines.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3108960"/>
            <a:ext cx="393192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09728" rtlCol="0" anchor="ctr"/>
          <a:lstStyle/>
          <a:p>
            <a:pPr algn="ctr"/>
            <a:r>
              <a:rPr sz="14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Demographic Segmentation</a:t>
            </a:r>
          </a:p>
          <a:p>
            <a:pPr>
              <a:spcBef>
                <a:spcPts val="500"/>
              </a:spcBef>
            </a:pPr>
            <a:r>
              <a:rPr sz="115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Maharashtra, Delhi, and Punjab represent major investor hubs — clear targeted marketing opportunities.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2042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5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5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Selecting Suitable KPIs.  </a:t>
            </a:r>
            <a:r>
              <a:rPr sz="15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Determining which visual KPIs matter most across pages — e.g. NAV history vs. demographic transactions — without overwhelming the user.</a:t>
            </a:r>
          </a:p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5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5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Designing Recommendation Logic.  </a:t>
            </a:r>
            <a:r>
              <a:rPr sz="15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Constructing a balanced scoring system combining return metrics, risk profiles, and expense ratios to rank funds fairly.</a:t>
            </a:r>
          </a:p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5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▪  </a:t>
            </a:r>
            <a:r>
              <a:rPr sz="1500" b="1" i="0">
                <a:solidFill>
                  <a:srgbClr val="0C1E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 Selection &amp; Comparison.  </a:t>
            </a:r>
            <a:r>
              <a:rPr sz="1500" b="0" i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Choosing appropriate benchmark indices (NIFTY 50 vs. NIFTY Midcap 100) for different fund categories to ensure fair outperformance mapping.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460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BlueStock Fintech | Mutual Fund Analytics Platform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1874519" cy="2011680"/>
          </a:xfrm>
          <a:prstGeom prst="roundRect">
            <a:avLst>
              <a:gd name="adj" fmla="val 8000"/>
            </a:avLst>
          </a:prstGeom>
          <a:solidFill>
            <a:srgbClr val="102848"/>
          </a:solidFill>
          <a:ln w="9525">
            <a:solidFill>
              <a:srgbClr val="2A40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Dashboard Pages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96311" y="1691640"/>
            <a:ext cx="1874519" cy="2011680"/>
          </a:xfrm>
          <a:prstGeom prst="roundRect">
            <a:avLst>
              <a:gd name="adj" fmla="val 8000"/>
            </a:avLst>
          </a:prstGeom>
          <a:solidFill>
            <a:srgbClr val="102848"/>
          </a:solidFill>
          <a:ln w="9525">
            <a:solidFill>
              <a:srgbClr val="2A40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r>
              <a:rPr lang="en-IN" sz="30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sz="3000" b="1" i="0">
              <a:solidFill>
                <a:srgbClr val="F5822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Clean Interactive Charts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5422" y="1691640"/>
            <a:ext cx="1874519" cy="2011680"/>
          </a:xfrm>
          <a:prstGeom prst="roundRect">
            <a:avLst>
              <a:gd name="adj" fmla="val 8000"/>
            </a:avLst>
          </a:prstGeom>
          <a:solidFill>
            <a:srgbClr val="102848"/>
          </a:solidFill>
          <a:ln w="9525">
            <a:solidFill>
              <a:srgbClr val="2A40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 Formats (Excel &amp; PDF)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74533" y="1691640"/>
            <a:ext cx="1874519" cy="2011680"/>
          </a:xfrm>
          <a:prstGeom prst="roundRect">
            <a:avLst>
              <a:gd name="adj" fmla="val 8000"/>
            </a:avLst>
          </a:prstGeom>
          <a:solidFill>
            <a:srgbClr val="102848"/>
          </a:solidFill>
          <a:ln w="9525">
            <a:solidFill>
              <a:srgbClr val="2A40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i="0">
                <a:solidFill>
                  <a:srgbClr val="F582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Weekly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 Report Updates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864608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 spc="150">
                <a:solidFill>
                  <a:srgbClr val="F58220"/>
                </a:solidFill>
                <a:latin typeface="Calibri"/>
              </a:rP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2400" b="1" i="0">
                <a:solidFill>
                  <a:srgbClr val="0C1E36"/>
                </a:solidFill>
                <a:latin typeface="Calibri"/>
              </a:rPr>
              <a:t>Future Scope &amp; </a:t>
            </a:r>
            <a:r>
              <a:rPr sz="2400" b="1" i="0">
                <a:solidFill>
                  <a:srgbClr val="0C1E36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C1E36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9319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Automated cloud scaling for the ETL pipeline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Live AMFI streaming data channels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Real-time portfolio alerts for 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32588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C1E36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69164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F58220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Successfully designed and launched the platform during the BlueStock Fintech internship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F58220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Centralizes fragmented data, automates price collection, and enables interactive risk-return analysis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F58220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Demonstrates that data-driven interfaces help demystify mutual fund analytics for rational wealth planning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343400"/>
            <a:ext cx="8229600" cy="502920"/>
          </a:xfrm>
          <a:prstGeom prst="roundRect">
            <a:avLst>
              <a:gd name="adj" fmla="val 15000"/>
            </a:avLst>
          </a:prstGeom>
          <a:solidFill>
            <a:srgbClr val="0C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Thank You  —  Mohammad Zuheer, Data Analyst Intern, BlueStock Fintech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486460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A93A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1973</Words>
  <Application>Microsoft Office PowerPoint</Application>
  <PresentationFormat>On-screen Show (16:9)</PresentationFormat>
  <Paragraphs>243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MOHAMMAD ZUHEER ZUHEER</cp:lastModifiedBy>
  <cp:revision>3</cp:revision>
  <dcterms:created xsi:type="dcterms:W3CDTF">2013-01-27T09:14:16Z</dcterms:created>
  <dcterms:modified xsi:type="dcterms:W3CDTF">2026-07-12T17:29:42Z</dcterms:modified>
  <cp:category/>
</cp:coreProperties>
</file>