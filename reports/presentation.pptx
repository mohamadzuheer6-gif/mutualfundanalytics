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77" r:id="rId7"/>
    <p:sldId id="278" r:id="rId8"/>
    <p:sldId id="279"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7" d="100"/>
          <a:sy n="97" d="100"/>
        </p:scale>
        <p:origin x="1042"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E76F93-66EB-4E60-8BF7-60FDAA0816BB}" type="datetimeFigureOut">
              <a:rPr lang="en-IN" smtClean="0"/>
              <a:t>13-07-2026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73888E-89A3-46D8-9251-A6A3890753DE}" type="slidenum">
              <a:rPr lang="en-IN" smtClean="0"/>
              <a:t>‹#›</a:t>
            </a:fld>
            <a:endParaRPr lang="en-IN"/>
          </a:p>
        </p:txBody>
      </p:sp>
    </p:spTree>
    <p:extLst>
      <p:ext uri="{BB962C8B-B14F-4D97-AF65-F5344CB8AC3E}">
        <p14:creationId xmlns:p14="http://schemas.microsoft.com/office/powerpoint/2010/main" val="2026861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3467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hyperlink" Target="https://bluestock-mf-analytics.streamlit.app/"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C1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160520"/>
            <a:ext cx="9144000" cy="982980"/>
          </a:xfrm>
          <a:prstGeom prst="rect">
            <a:avLst/>
          </a:prstGeom>
          <a:solidFill>
            <a:srgbClr val="102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452360" y="-822960"/>
            <a:ext cx="2377440" cy="2377440"/>
          </a:xfrm>
          <a:prstGeom prst="ellipse">
            <a:avLst/>
          </a:prstGeom>
          <a:solidFill>
            <a:srgbClr val="F58220">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14400" y="3291840"/>
            <a:ext cx="2011680" cy="2011680"/>
          </a:xfrm>
          <a:prstGeom prst="ellipse">
            <a:avLst/>
          </a:prstGeom>
          <a:solidFill>
            <a:srgbClr val="F58220">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417320"/>
            <a:ext cx="7315200" cy="200055"/>
          </a:xfrm>
          <a:prstGeom prst="rect">
            <a:avLst/>
          </a:prstGeom>
          <a:noFill/>
        </p:spPr>
        <p:txBody>
          <a:bodyPr wrap="square" lIns="0" tIns="0" rIns="0" bIns="0" anchor="t">
            <a:spAutoFit/>
          </a:bodyPr>
          <a:lstStyle/>
          <a:p>
            <a:r>
              <a:rPr lang="en-IN" sz="1300" b="1" spc="200">
                <a:solidFill>
                  <a:srgbClr val="F58220"/>
                </a:solidFill>
                <a:latin typeface="Calibri"/>
              </a:rPr>
              <a:t>CAPSTONE PROJECT </a:t>
            </a:r>
            <a:r>
              <a:rPr sz="1300" b="1" i="0" spc="200">
                <a:solidFill>
                  <a:srgbClr val="F58220"/>
                </a:solidFill>
                <a:latin typeface="Calibri"/>
              </a:rPr>
              <a:t>PRESENTATION</a:t>
            </a:r>
          </a:p>
        </p:txBody>
      </p:sp>
      <p:sp>
        <p:nvSpPr>
          <p:cNvPr id="7" name="TextBox 6"/>
          <p:cNvSpPr txBox="1"/>
          <p:nvPr/>
        </p:nvSpPr>
        <p:spPr>
          <a:xfrm>
            <a:off x="640080" y="1783080"/>
            <a:ext cx="7863840" cy="1371600"/>
          </a:xfrm>
          <a:prstGeom prst="rect">
            <a:avLst/>
          </a:prstGeom>
          <a:noFill/>
        </p:spPr>
        <p:txBody>
          <a:bodyPr wrap="square" lIns="0" tIns="0" rIns="0" bIns="0" anchor="t">
            <a:spAutoFit/>
          </a:bodyPr>
          <a:lstStyle/>
          <a:p>
            <a:pPr>
              <a:lnSpc>
                <a:spcPct val="105000"/>
              </a:lnSpc>
            </a:pPr>
            <a:r>
              <a:rPr sz="4000" b="1" i="0">
                <a:solidFill>
                  <a:srgbClr val="FFFFFF"/>
                </a:solidFill>
                <a:latin typeface="Calibri"/>
              </a:rPr>
              <a:t>MUTUAL FUND</a:t>
            </a:r>
          </a:p>
          <a:p>
            <a:pPr>
              <a:lnSpc>
                <a:spcPct val="105000"/>
              </a:lnSpc>
            </a:pPr>
            <a:r>
              <a:rPr sz="4000" b="1" i="0">
                <a:solidFill>
                  <a:srgbClr val="FFFFFF"/>
                </a:solidFill>
                <a:latin typeface="Calibri"/>
              </a:rPr>
              <a:t>ANALYTICS PLATFORM</a:t>
            </a:r>
          </a:p>
        </p:txBody>
      </p:sp>
      <p:sp>
        <p:nvSpPr>
          <p:cNvPr id="8" name="TextBox 7"/>
          <p:cNvSpPr txBox="1"/>
          <p:nvPr/>
        </p:nvSpPr>
        <p:spPr>
          <a:xfrm>
            <a:off x="640080" y="3246120"/>
            <a:ext cx="7315200" cy="230832"/>
          </a:xfrm>
          <a:prstGeom prst="rect">
            <a:avLst/>
          </a:prstGeom>
          <a:noFill/>
        </p:spPr>
        <p:txBody>
          <a:bodyPr wrap="square" lIns="0" tIns="0" rIns="0" bIns="0" anchor="t">
            <a:spAutoFit/>
          </a:bodyPr>
          <a:lstStyle/>
          <a:p>
            <a:r>
              <a:rPr sz="1500" b="0" i="0">
                <a:solidFill>
                  <a:srgbClr val="CFD8E8"/>
                </a:solidFill>
                <a:latin typeface="Calibri"/>
              </a:rPr>
              <a:t>Internship </a:t>
            </a:r>
            <a:r>
              <a:rPr lang="en-IN" sz="1500">
                <a:solidFill>
                  <a:srgbClr val="CFD8E8"/>
                </a:solidFill>
                <a:latin typeface="Calibri"/>
              </a:rPr>
              <a:t>Capstone</a:t>
            </a:r>
            <a:r>
              <a:rPr sz="1500" b="0" i="0">
                <a:solidFill>
                  <a:srgbClr val="CFD8E8"/>
                </a:solidFill>
                <a:latin typeface="Calibri"/>
              </a:rPr>
              <a:t> Project Presentation  |  BlueStock Fintech</a:t>
            </a:r>
          </a:p>
        </p:txBody>
      </p:sp>
      <p:sp>
        <p:nvSpPr>
          <p:cNvPr id="9" name="TextBox 8"/>
          <p:cNvSpPr txBox="1"/>
          <p:nvPr/>
        </p:nvSpPr>
        <p:spPr>
          <a:xfrm>
            <a:off x="640080" y="4370832"/>
            <a:ext cx="5486400" cy="594360"/>
          </a:xfrm>
          <a:prstGeom prst="rect">
            <a:avLst/>
          </a:prstGeom>
          <a:noFill/>
        </p:spPr>
        <p:txBody>
          <a:bodyPr wrap="square" lIns="0" tIns="0" rIns="0" bIns="0" anchor="t">
            <a:spAutoFit/>
          </a:bodyPr>
          <a:lstStyle/>
          <a:p>
            <a:r>
              <a:rPr sz="1500" b="1" i="0">
                <a:solidFill>
                  <a:srgbClr val="FFFFFF"/>
                </a:solidFill>
                <a:latin typeface="Calibri"/>
              </a:rPr>
              <a:t>Mohammad Zuheer</a:t>
            </a:r>
          </a:p>
          <a:p>
            <a:r>
              <a:rPr sz="1150" b="0" i="0">
                <a:solidFill>
                  <a:srgbClr val="B8C4D8"/>
                </a:solidFill>
                <a:latin typeface="Calibri"/>
              </a:rPr>
              <a:t>Data Analyst Intern  |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78308"/>
            <a:ext cx="5486400" cy="274320"/>
          </a:xfrm>
          <a:prstGeom prst="rect">
            <a:avLst/>
          </a:prstGeom>
          <a:noFill/>
        </p:spPr>
        <p:txBody>
          <a:bodyPr wrap="square" lIns="0" tIns="0" rIns="0" bIns="0" anchor="t">
            <a:spAutoFit/>
          </a:bodyPr>
          <a:lstStyle/>
          <a:p>
            <a:r>
              <a:rPr sz="1100" b="1" i="0" spc="150">
                <a:solidFill>
                  <a:srgbClr val="F58220"/>
                </a:solidFill>
                <a:latin typeface="Calibri"/>
              </a:rPr>
              <a:t>OVERVIEW</a:t>
            </a:r>
          </a:p>
        </p:txBody>
      </p:sp>
      <p:sp>
        <p:nvSpPr>
          <p:cNvPr id="4" name="TextBox 3"/>
          <p:cNvSpPr txBox="1"/>
          <p:nvPr/>
        </p:nvSpPr>
        <p:spPr>
          <a:xfrm>
            <a:off x="457200" y="459880"/>
            <a:ext cx="8229600" cy="548640"/>
          </a:xfrm>
          <a:prstGeom prst="rect">
            <a:avLst/>
          </a:prstGeom>
          <a:noFill/>
        </p:spPr>
        <p:txBody>
          <a:bodyPr wrap="square" lIns="0" tIns="0" rIns="0" bIns="0" anchor="t">
            <a:spAutoFit/>
          </a:bodyPr>
          <a:lstStyle/>
          <a:p>
            <a:r>
              <a:rPr sz="2400" b="1" i="0">
                <a:solidFill>
                  <a:srgbClr val="0C1E36"/>
                </a:solidFill>
                <a:latin typeface="Calibri"/>
              </a:rPr>
              <a:t>Executive Summary</a:t>
            </a:r>
          </a:p>
        </p:txBody>
      </p:sp>
      <p:sp>
        <p:nvSpPr>
          <p:cNvPr id="5" name="TextBox 4"/>
          <p:cNvSpPr txBox="1"/>
          <p:nvPr/>
        </p:nvSpPr>
        <p:spPr>
          <a:xfrm>
            <a:off x="658998" y="912508"/>
            <a:ext cx="8485002" cy="3708516"/>
          </a:xfrm>
          <a:prstGeom prst="rect">
            <a:avLst/>
          </a:prstGeom>
          <a:noFill/>
        </p:spPr>
        <p:txBody>
          <a:bodyPr wrap="square" lIns="0" tIns="0" rIns="0" bIns="0" anchor="t">
            <a:spAutoFit/>
          </a:bodyPr>
          <a:lstStyle/>
          <a:p>
            <a:pPr>
              <a:lnSpc>
                <a:spcPct val="108000"/>
              </a:lnSpc>
              <a:spcAft>
                <a:spcPts val="1300"/>
              </a:spcAft>
            </a:pPr>
            <a:r>
              <a:rPr sz="1400" b="1" i="0">
                <a:solidFill>
                  <a:srgbClr val="F58220"/>
                </a:solidFill>
                <a:latin typeface="Times New Roman" panose="02020603050405020304" pitchFamily="18" charset="0"/>
                <a:cs typeface="Times New Roman" panose="02020603050405020304" pitchFamily="18" charset="0"/>
              </a:rPr>
              <a:t>▪ </a:t>
            </a:r>
            <a:r>
              <a:rPr lang="en-IN"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Context.  </a:t>
            </a:r>
            <a:r>
              <a:rPr sz="1400" b="0" i="0">
                <a:solidFill>
                  <a:srgbClr val="333333"/>
                </a:solidFill>
                <a:latin typeface="Times New Roman" panose="02020603050405020304" pitchFamily="18" charset="0"/>
                <a:cs typeface="Times New Roman" panose="02020603050405020304" pitchFamily="18" charset="0"/>
              </a:rPr>
              <a:t>Built a centralized, interactive Mutual Fund Analytics Platform at BlueStock Fintech to</a:t>
            </a:r>
            <a:r>
              <a:rPr lang="en-IN" sz="1400">
                <a:solidFill>
                  <a:srgbClr val="333333"/>
                </a:solidFill>
                <a:latin typeface="Times New Roman" panose="02020603050405020304" pitchFamily="18" charset="0"/>
                <a:cs typeface="Times New Roman" panose="02020603050405020304" pitchFamily="18" charset="0"/>
              </a:rPr>
              <a:t>  </a:t>
            </a:r>
            <a:r>
              <a:rPr sz="1400" b="0" i="0">
                <a:solidFill>
                  <a:srgbClr val="333333"/>
                </a:solidFill>
                <a:latin typeface="Times New Roman" panose="02020603050405020304" pitchFamily="18" charset="0"/>
                <a:cs typeface="Times New Roman" panose="02020603050405020304" pitchFamily="18" charset="0"/>
              </a:rPr>
              <a:t>address</a:t>
            </a:r>
            <a:r>
              <a:rPr lang="en-IN" sz="1400" b="0" i="0">
                <a:solidFill>
                  <a:srgbClr val="333333"/>
                </a:solidFill>
                <a:latin typeface="Times New Roman" panose="02020603050405020304" pitchFamily="18" charset="0"/>
                <a:cs typeface="Times New Roman" panose="02020603050405020304" pitchFamily="18" charset="0"/>
              </a:rPr>
              <a:t> </a:t>
            </a:r>
            <a:r>
              <a:rPr sz="1400" b="0" i="0">
                <a:solidFill>
                  <a:srgbClr val="333333"/>
                </a:solidFill>
                <a:latin typeface="Times New Roman" panose="02020603050405020304" pitchFamily="18" charset="0"/>
                <a:cs typeface="Times New Roman" panose="02020603050405020304" pitchFamily="18" charset="0"/>
              </a:rPr>
              <a:t>database fragmentation in retail wealth</a:t>
            </a:r>
            <a:r>
              <a:rPr lang="en-IN" sz="1400" b="0" i="0">
                <a:solidFill>
                  <a:srgbClr val="333333"/>
                </a:solidFill>
                <a:latin typeface="Times New Roman" panose="02020603050405020304" pitchFamily="18" charset="0"/>
                <a:cs typeface="Times New Roman" panose="02020603050405020304" pitchFamily="18" charset="0"/>
              </a:rPr>
              <a:t> </a:t>
            </a:r>
            <a:r>
              <a:rPr sz="1400" b="0" i="0">
                <a:solidFill>
                  <a:srgbClr val="333333"/>
                </a:solidFill>
                <a:latin typeface="Times New Roman" panose="02020603050405020304" pitchFamily="18" charset="0"/>
                <a:cs typeface="Times New Roman" panose="02020603050405020304" pitchFamily="18" charset="0"/>
              </a:rPr>
              <a:t> management.</a:t>
            </a:r>
          </a:p>
          <a:p>
            <a:pPr>
              <a:lnSpc>
                <a:spcPct val="108000"/>
              </a:lnSpc>
              <a:spcAft>
                <a:spcPts val="13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Database.  </a:t>
            </a:r>
            <a:r>
              <a:rPr sz="1400" b="0" i="0">
                <a:solidFill>
                  <a:srgbClr val="333333"/>
                </a:solidFill>
                <a:latin typeface="Times New Roman" panose="02020603050405020304" pitchFamily="18" charset="0"/>
                <a:cs typeface="Times New Roman" panose="02020603050405020304" pitchFamily="18" charset="0"/>
              </a:rPr>
              <a:t>Structured a star-schema SQLite database integrating ten disparate CSV datasets covering funds, historical NAVs, transactions, and stock portfolios.</a:t>
            </a:r>
          </a:p>
          <a:p>
            <a:pPr>
              <a:lnSpc>
                <a:spcPct val="108000"/>
              </a:lnSpc>
              <a:spcAft>
                <a:spcPts val="13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Pipeline.  </a:t>
            </a:r>
            <a:r>
              <a:rPr sz="1400" b="0" i="0">
                <a:solidFill>
                  <a:srgbClr val="333333"/>
                </a:solidFill>
                <a:latin typeface="Times New Roman" panose="02020603050405020304" pitchFamily="18" charset="0"/>
                <a:cs typeface="Times New Roman" panose="02020603050405020304" pitchFamily="18" charset="0"/>
              </a:rPr>
              <a:t>Programmed a Python-based ETL pipeline handling automated cleanups, key mapping fixes, and daily API-driven valuation updates.</a:t>
            </a:r>
          </a:p>
          <a:p>
            <a:pPr>
              <a:lnSpc>
                <a:spcPct val="108000"/>
              </a:lnSpc>
              <a:spcAft>
                <a:spcPts val="13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Visual Interface.  </a:t>
            </a:r>
            <a:r>
              <a:rPr sz="1400" b="0" i="0">
                <a:solidFill>
                  <a:srgbClr val="333333"/>
                </a:solidFill>
                <a:latin typeface="Times New Roman" panose="02020603050405020304" pitchFamily="18" charset="0"/>
                <a:cs typeface="Times New Roman" panose="02020603050405020304" pitchFamily="18" charset="0"/>
              </a:rPr>
              <a:t>Created a 12-page analytical Streamlit dashboard with performance tables, state-wise charts, and SIP trend views.</a:t>
            </a:r>
          </a:p>
          <a:p>
            <a:pPr>
              <a:lnSpc>
                <a:spcPct val="108000"/>
              </a:lnSpc>
              <a:spcAft>
                <a:spcPts val="13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Advanced Analytics.  </a:t>
            </a:r>
            <a:r>
              <a:rPr sz="1400" b="0" i="0">
                <a:solidFill>
                  <a:srgbClr val="333333"/>
                </a:solidFill>
                <a:latin typeface="Times New Roman" panose="02020603050405020304" pitchFamily="18" charset="0"/>
                <a:cs typeface="Times New Roman" panose="02020603050405020304" pitchFamily="18" charset="0"/>
              </a:rPr>
              <a:t>Integrated portfolio optimization (Markowitz Efficient Frontier) and Monte Carlo growth simulators.</a:t>
            </a:r>
          </a:p>
          <a:p>
            <a:pPr>
              <a:lnSpc>
                <a:spcPct val="108000"/>
              </a:lnSpc>
              <a:spcAft>
                <a:spcPts val="13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Business Outcome.  </a:t>
            </a:r>
            <a:r>
              <a:rPr sz="1400" b="0" i="0">
                <a:solidFill>
                  <a:srgbClr val="333333"/>
                </a:solidFill>
                <a:latin typeface="Times New Roman" panose="02020603050405020304" pitchFamily="18" charset="0"/>
                <a:cs typeface="Times New Roman" panose="02020603050405020304" pitchFamily="18" charset="0"/>
              </a:rPr>
              <a:t>Delivered PDF/Excel export modules and an admin log desk, reducing manual reporting overhead for wealth advisors.</a:t>
            </a:r>
          </a:p>
        </p:txBody>
      </p:sp>
      <p:sp>
        <p:nvSpPr>
          <p:cNvPr id="6" name="TextBox 5"/>
          <p:cNvSpPr txBox="1"/>
          <p:nvPr/>
        </p:nvSpPr>
        <p:spPr>
          <a:xfrm>
            <a:off x="8686800" y="4864608"/>
            <a:ext cx="365760" cy="228600"/>
          </a:xfrm>
          <a:prstGeom prst="rect">
            <a:avLst/>
          </a:prstGeom>
          <a:noFill/>
        </p:spPr>
        <p:txBody>
          <a:bodyPr wrap="square" lIns="0" tIns="0" rIns="0" bIns="0" anchor="t">
            <a:spAutoFit/>
          </a:bodyPr>
          <a:lstStyle/>
          <a:p>
            <a:pPr algn="r"/>
            <a:r>
              <a:rPr sz="900" b="0" i="0">
                <a:solidFill>
                  <a:srgbClr val="8A93A3"/>
                </a:solidFill>
                <a:latin typeface="Calibri"/>
              </a:rPr>
              <a:t>2</a:t>
            </a:r>
          </a:p>
        </p:txBody>
      </p:sp>
      <p:sp>
        <p:nvSpPr>
          <p:cNvPr id="7" name="TextBox 6"/>
          <p:cNvSpPr txBox="1"/>
          <p:nvPr/>
        </p:nvSpPr>
        <p:spPr>
          <a:xfrm>
            <a:off x="457200" y="4864608"/>
            <a:ext cx="5486400" cy="228600"/>
          </a:xfrm>
          <a:prstGeom prst="rect">
            <a:avLst/>
          </a:prstGeom>
          <a:noFill/>
        </p:spPr>
        <p:txBody>
          <a:bodyPr wrap="square" lIns="0" tIns="0" rIns="0" bIns="0" anchor="t">
            <a:spAutoFit/>
          </a:bodyPr>
          <a:lstStyle/>
          <a:p>
            <a:r>
              <a:rPr sz="900" b="0" i="0">
                <a:solidFill>
                  <a:srgbClr val="8A93A3"/>
                </a:solidFill>
                <a:latin typeface="Calibri"/>
              </a:rPr>
              <a:t>BlueStock Fintech | Mutual Fund Analytics Platform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5486400" cy="274320"/>
          </a:xfrm>
          <a:prstGeom prst="rect">
            <a:avLst/>
          </a:prstGeom>
          <a:noFill/>
        </p:spPr>
        <p:txBody>
          <a:bodyPr wrap="square" lIns="0" tIns="0" rIns="0" bIns="0" anchor="t">
            <a:spAutoFit/>
          </a:bodyPr>
          <a:lstStyle/>
          <a:p>
            <a:r>
              <a:rPr sz="1100" b="1" i="0" spc="150">
                <a:solidFill>
                  <a:srgbClr val="F58220"/>
                </a:solidFill>
                <a:latin typeface="Calibri"/>
              </a:rPr>
              <a:t>THE CHALLENGE</a:t>
            </a:r>
          </a:p>
        </p:txBody>
      </p:sp>
      <p:sp>
        <p:nvSpPr>
          <p:cNvPr id="4" name="TextBox 3"/>
          <p:cNvSpPr txBox="1"/>
          <p:nvPr/>
        </p:nvSpPr>
        <p:spPr>
          <a:xfrm>
            <a:off x="457200" y="566928"/>
            <a:ext cx="8229600" cy="548640"/>
          </a:xfrm>
          <a:prstGeom prst="rect">
            <a:avLst/>
          </a:prstGeom>
          <a:noFill/>
        </p:spPr>
        <p:txBody>
          <a:bodyPr wrap="square" lIns="0" tIns="0" rIns="0" bIns="0" anchor="t">
            <a:spAutoFit/>
          </a:bodyPr>
          <a:lstStyle/>
          <a:p>
            <a:r>
              <a:rPr sz="2400" b="1" i="0">
                <a:solidFill>
                  <a:srgbClr val="0C1E36"/>
                </a:solidFill>
                <a:latin typeface="Calibri"/>
              </a:rPr>
              <a:t>Problem Statement</a:t>
            </a:r>
          </a:p>
        </p:txBody>
      </p:sp>
      <p:sp>
        <p:nvSpPr>
          <p:cNvPr id="5" name="TextBox 4"/>
          <p:cNvSpPr txBox="1"/>
          <p:nvPr/>
        </p:nvSpPr>
        <p:spPr>
          <a:xfrm>
            <a:off x="640080" y="1125974"/>
            <a:ext cx="8229600" cy="3111173"/>
          </a:xfrm>
          <a:prstGeom prst="rect">
            <a:avLst/>
          </a:prstGeom>
          <a:noFill/>
        </p:spPr>
        <p:txBody>
          <a:bodyPr wrap="square" lIns="0" tIns="0" rIns="0" bIns="0" anchor="t">
            <a:spAutoFit/>
          </a:bodyPr>
          <a:lstStyle/>
          <a:p>
            <a:pPr>
              <a:lnSpc>
                <a:spcPct val="108000"/>
              </a:lnSpc>
              <a:spcAft>
                <a:spcPts val="1400"/>
              </a:spcAft>
            </a:pPr>
            <a:r>
              <a:rPr sz="1450" b="1" i="0">
                <a:solidFill>
                  <a:srgbClr val="F58220"/>
                </a:solidFill>
                <a:latin typeface="Times New Roman" panose="02020603050405020304" pitchFamily="18" charset="0"/>
                <a:cs typeface="Times New Roman" panose="02020603050405020304" pitchFamily="18" charset="0"/>
              </a:rPr>
              <a:t>▪  </a:t>
            </a:r>
            <a:r>
              <a:rPr sz="1450" b="1" i="0">
                <a:solidFill>
                  <a:srgbClr val="0C1E36"/>
                </a:solidFill>
                <a:latin typeface="Times New Roman" panose="02020603050405020304" pitchFamily="18" charset="0"/>
                <a:cs typeface="Times New Roman" panose="02020603050405020304" pitchFamily="18" charset="0"/>
              </a:rPr>
              <a:t>Data Fragmentation.  </a:t>
            </a:r>
            <a:r>
              <a:rPr sz="1450" b="0" i="0">
                <a:solidFill>
                  <a:srgbClr val="333333"/>
                </a:solidFill>
                <a:latin typeface="Times New Roman" panose="02020603050405020304" pitchFamily="18" charset="0"/>
                <a:cs typeface="Times New Roman" panose="02020603050405020304" pitchFamily="18" charset="0"/>
              </a:rPr>
              <a:t>Fund details, NAVs, benchmarks, and sector data are published in diverse, disconnected formats.</a:t>
            </a:r>
          </a:p>
          <a:p>
            <a:pPr>
              <a:lnSpc>
                <a:spcPct val="108000"/>
              </a:lnSpc>
              <a:spcAft>
                <a:spcPts val="1400"/>
              </a:spcAft>
            </a:pPr>
            <a:r>
              <a:rPr sz="1450" b="1" i="0">
                <a:solidFill>
                  <a:srgbClr val="F58220"/>
                </a:solidFill>
                <a:latin typeface="Times New Roman" panose="02020603050405020304" pitchFamily="18" charset="0"/>
                <a:cs typeface="Times New Roman" panose="02020603050405020304" pitchFamily="18" charset="0"/>
              </a:rPr>
              <a:t>▪  </a:t>
            </a:r>
            <a:r>
              <a:rPr sz="1450" b="1" i="0">
                <a:solidFill>
                  <a:srgbClr val="0C1E36"/>
                </a:solidFill>
                <a:latin typeface="Times New Roman" panose="02020603050405020304" pitchFamily="18" charset="0"/>
                <a:cs typeface="Times New Roman" panose="02020603050405020304" pitchFamily="18" charset="0"/>
              </a:rPr>
              <a:t>Lack of Risk-Adjusted Tools.  </a:t>
            </a:r>
            <a:r>
              <a:rPr sz="1450" b="0" i="0">
                <a:solidFill>
                  <a:srgbClr val="333333"/>
                </a:solidFill>
                <a:latin typeface="Times New Roman" panose="02020603050405020304" pitchFamily="18" charset="0"/>
                <a:cs typeface="Times New Roman" panose="02020603050405020304" pitchFamily="18" charset="0"/>
              </a:rPr>
              <a:t>Investors judge funds mainly on past returns, ignoring volatility, drawdowns, and Sharpe/Sortino ratios.</a:t>
            </a:r>
          </a:p>
          <a:p>
            <a:pPr>
              <a:lnSpc>
                <a:spcPct val="108000"/>
              </a:lnSpc>
              <a:spcAft>
                <a:spcPts val="1400"/>
              </a:spcAft>
            </a:pPr>
            <a:r>
              <a:rPr sz="1450" b="1" i="0">
                <a:solidFill>
                  <a:srgbClr val="F58220"/>
                </a:solidFill>
                <a:latin typeface="Times New Roman" panose="02020603050405020304" pitchFamily="18" charset="0"/>
                <a:cs typeface="Times New Roman" panose="02020603050405020304" pitchFamily="18" charset="0"/>
              </a:rPr>
              <a:t>▪  </a:t>
            </a:r>
            <a:r>
              <a:rPr sz="1450" b="1" i="0">
                <a:solidFill>
                  <a:srgbClr val="0C1E36"/>
                </a:solidFill>
                <a:latin typeface="Times New Roman" panose="02020603050405020304" pitchFamily="18" charset="0"/>
                <a:cs typeface="Times New Roman" panose="02020603050405020304" pitchFamily="18" charset="0"/>
              </a:rPr>
              <a:t>Static Advisory Reports.  </a:t>
            </a:r>
            <a:r>
              <a:rPr sz="1450" b="0" i="0">
                <a:solidFill>
                  <a:srgbClr val="333333"/>
                </a:solidFill>
                <a:latin typeface="Times New Roman" panose="02020603050405020304" pitchFamily="18" charset="0"/>
                <a:cs typeface="Times New Roman" panose="02020603050405020304" pitchFamily="18" charset="0"/>
              </a:rPr>
              <a:t>Traditional PDF reports don't allow interactive screening, reweighting, or custom horizon projections.</a:t>
            </a:r>
          </a:p>
          <a:p>
            <a:pPr>
              <a:lnSpc>
                <a:spcPct val="108000"/>
              </a:lnSpc>
              <a:spcAft>
                <a:spcPts val="1400"/>
              </a:spcAft>
            </a:pPr>
            <a:r>
              <a:rPr sz="1450" b="1" i="0">
                <a:solidFill>
                  <a:srgbClr val="F58220"/>
                </a:solidFill>
                <a:latin typeface="Times New Roman" panose="02020603050405020304" pitchFamily="18" charset="0"/>
                <a:cs typeface="Times New Roman" panose="02020603050405020304" pitchFamily="18" charset="0"/>
              </a:rPr>
              <a:t>▪  </a:t>
            </a:r>
            <a:r>
              <a:rPr sz="1450" b="1" i="0">
                <a:solidFill>
                  <a:srgbClr val="0C1E36"/>
                </a:solidFill>
                <a:latin typeface="Times New Roman" panose="02020603050405020304" pitchFamily="18" charset="0"/>
                <a:cs typeface="Times New Roman" panose="02020603050405020304" pitchFamily="18" charset="0"/>
              </a:rPr>
              <a:t>Manual Pipelines.  </a:t>
            </a:r>
            <a:r>
              <a:rPr sz="1450" b="0" i="0">
                <a:solidFill>
                  <a:srgbClr val="333333"/>
                </a:solidFill>
                <a:latin typeface="Times New Roman" panose="02020603050405020304" pitchFamily="18" charset="0"/>
                <a:cs typeface="Times New Roman" panose="02020603050405020304" pitchFamily="18" charset="0"/>
              </a:rPr>
              <a:t>Wealth teams spend significant effort manually loading spreadsheet data, introducing errors.</a:t>
            </a:r>
          </a:p>
          <a:p>
            <a:pPr>
              <a:lnSpc>
                <a:spcPct val="108000"/>
              </a:lnSpc>
              <a:spcAft>
                <a:spcPts val="1400"/>
              </a:spcAft>
            </a:pPr>
            <a:r>
              <a:rPr sz="1450" b="1" i="0">
                <a:solidFill>
                  <a:srgbClr val="F58220"/>
                </a:solidFill>
                <a:latin typeface="Times New Roman" panose="02020603050405020304" pitchFamily="18" charset="0"/>
                <a:cs typeface="Times New Roman" panose="02020603050405020304" pitchFamily="18" charset="0"/>
              </a:rPr>
              <a:t>▪  </a:t>
            </a:r>
            <a:r>
              <a:rPr sz="1450" b="1" i="0">
                <a:solidFill>
                  <a:srgbClr val="0C1E36"/>
                </a:solidFill>
                <a:latin typeface="Times New Roman" panose="02020603050405020304" pitchFamily="18" charset="0"/>
                <a:cs typeface="Times New Roman" panose="02020603050405020304" pitchFamily="18" charset="0"/>
              </a:rPr>
              <a:t>Data Inconsistency.  </a:t>
            </a:r>
            <a:r>
              <a:rPr sz="1450" b="0" i="0">
                <a:solidFill>
                  <a:srgbClr val="333333"/>
                </a:solidFill>
                <a:latin typeface="Times New Roman" panose="02020603050405020304" pitchFamily="18" charset="0"/>
                <a:cs typeface="Times New Roman" panose="02020603050405020304" pitchFamily="18" charset="0"/>
              </a:rPr>
              <a:t>Mismatched scheme names and incorrect AMFI identifiers across sources break table joins.</a:t>
            </a:r>
          </a:p>
        </p:txBody>
      </p:sp>
      <p:sp>
        <p:nvSpPr>
          <p:cNvPr id="6" name="TextBox 5"/>
          <p:cNvSpPr txBox="1"/>
          <p:nvPr/>
        </p:nvSpPr>
        <p:spPr>
          <a:xfrm>
            <a:off x="8686800" y="4864608"/>
            <a:ext cx="365760" cy="228600"/>
          </a:xfrm>
          <a:prstGeom prst="rect">
            <a:avLst/>
          </a:prstGeom>
          <a:noFill/>
        </p:spPr>
        <p:txBody>
          <a:bodyPr wrap="square" lIns="0" tIns="0" rIns="0" bIns="0" anchor="t">
            <a:spAutoFit/>
          </a:bodyPr>
          <a:lstStyle/>
          <a:p>
            <a:pPr algn="r"/>
            <a:r>
              <a:rPr sz="900" b="0" i="0">
                <a:solidFill>
                  <a:srgbClr val="8A93A3"/>
                </a:solidFill>
                <a:latin typeface="Calibri"/>
              </a:rPr>
              <a:t>3</a:t>
            </a:r>
          </a:p>
        </p:txBody>
      </p:sp>
      <p:sp>
        <p:nvSpPr>
          <p:cNvPr id="7" name="TextBox 6"/>
          <p:cNvSpPr txBox="1"/>
          <p:nvPr/>
        </p:nvSpPr>
        <p:spPr>
          <a:xfrm>
            <a:off x="457200" y="4864608"/>
            <a:ext cx="5486400" cy="228600"/>
          </a:xfrm>
          <a:prstGeom prst="rect">
            <a:avLst/>
          </a:prstGeom>
          <a:noFill/>
        </p:spPr>
        <p:txBody>
          <a:bodyPr wrap="square" lIns="0" tIns="0" rIns="0" bIns="0" anchor="t">
            <a:spAutoFit/>
          </a:bodyPr>
          <a:lstStyle/>
          <a:p>
            <a:r>
              <a:rPr sz="900" b="0" i="0">
                <a:solidFill>
                  <a:srgbClr val="8A93A3"/>
                </a:solidFill>
                <a:latin typeface="Calibri"/>
              </a:rPr>
              <a:t>BlueStock Fintech | Mutual Fund Analytics Platform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5486400" cy="274320"/>
          </a:xfrm>
          <a:prstGeom prst="rect">
            <a:avLst/>
          </a:prstGeom>
          <a:noFill/>
        </p:spPr>
        <p:txBody>
          <a:bodyPr wrap="square" lIns="0" tIns="0" rIns="0" bIns="0" anchor="t">
            <a:spAutoFit/>
          </a:bodyPr>
          <a:lstStyle/>
          <a:p>
            <a:r>
              <a:rPr sz="1100" b="1" i="0" spc="150">
                <a:solidFill>
                  <a:srgbClr val="F58220"/>
                </a:solidFill>
                <a:latin typeface="Calibri"/>
              </a:rPr>
              <a:t>GOALS</a:t>
            </a:r>
          </a:p>
        </p:txBody>
      </p:sp>
      <p:sp>
        <p:nvSpPr>
          <p:cNvPr id="4" name="TextBox 3"/>
          <p:cNvSpPr txBox="1"/>
          <p:nvPr/>
        </p:nvSpPr>
        <p:spPr>
          <a:xfrm>
            <a:off x="457200" y="566928"/>
            <a:ext cx="8229600" cy="548640"/>
          </a:xfrm>
          <a:prstGeom prst="rect">
            <a:avLst/>
          </a:prstGeom>
          <a:noFill/>
        </p:spPr>
        <p:txBody>
          <a:bodyPr wrap="square" lIns="0" tIns="0" rIns="0" bIns="0" anchor="t">
            <a:spAutoFit/>
          </a:bodyPr>
          <a:lstStyle/>
          <a:p>
            <a:r>
              <a:rPr sz="2400" b="1" i="0">
                <a:solidFill>
                  <a:srgbClr val="0C1E36"/>
                </a:solidFill>
                <a:latin typeface="Calibri"/>
              </a:rPr>
              <a:t>Project Objectives</a:t>
            </a:r>
          </a:p>
        </p:txBody>
      </p:sp>
      <p:sp>
        <p:nvSpPr>
          <p:cNvPr id="5" name="Rounded Rectangle 4"/>
          <p:cNvSpPr/>
          <p:nvPr/>
        </p:nvSpPr>
        <p:spPr>
          <a:xfrm>
            <a:off x="457200" y="1417320"/>
            <a:ext cx="2651760" cy="1417320"/>
          </a:xfrm>
          <a:prstGeom prst="roundRect">
            <a:avLst>
              <a:gd name="adj" fmla="val 6000"/>
            </a:avLst>
          </a:prstGeom>
          <a:solidFill>
            <a:srgbClr val="FFFFF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91440" rtlCol="0" anchor="ctr"/>
          <a:lstStyle/>
          <a:p>
            <a:pPr algn="ctr">
              <a:spcBef>
                <a:spcPts val="2800"/>
              </a:spcBef>
            </a:pPr>
            <a:r>
              <a:rPr sz="1250" b="1" i="0">
                <a:solidFill>
                  <a:srgbClr val="0C1E36"/>
                </a:solidFill>
                <a:latin typeface="Times New Roman" panose="02020603050405020304" pitchFamily="18" charset="0"/>
                <a:cs typeface="Times New Roman" panose="02020603050405020304" pitchFamily="18" charset="0"/>
              </a:rPr>
              <a:t>Relational Consolidation</a:t>
            </a:r>
          </a:p>
          <a:p>
            <a:pPr>
              <a:spcBef>
                <a:spcPts val="300"/>
              </a:spcBef>
            </a:pPr>
            <a:r>
              <a:rPr sz="1050" b="0" i="0">
                <a:solidFill>
                  <a:srgbClr val="333333"/>
                </a:solidFill>
                <a:latin typeface="Times New Roman" panose="02020603050405020304" pitchFamily="18" charset="0"/>
                <a:cs typeface="Times New Roman" panose="02020603050405020304" pitchFamily="18" charset="0"/>
              </a:rPr>
              <a:t>Host all historical mutual fund records in a local, optimized database.</a:t>
            </a:r>
          </a:p>
        </p:txBody>
      </p:sp>
      <p:sp>
        <p:nvSpPr>
          <p:cNvPr id="6" name="Oval 5"/>
          <p:cNvSpPr/>
          <p:nvPr/>
        </p:nvSpPr>
        <p:spPr>
          <a:xfrm>
            <a:off x="594360" y="1527048"/>
            <a:ext cx="274320" cy="274320"/>
          </a:xfrm>
          <a:prstGeom prst="ellipse">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1</a:t>
            </a:r>
          </a:p>
        </p:txBody>
      </p:sp>
      <p:sp>
        <p:nvSpPr>
          <p:cNvPr id="7" name="Rounded Rectangle 6"/>
          <p:cNvSpPr/>
          <p:nvPr/>
        </p:nvSpPr>
        <p:spPr>
          <a:xfrm>
            <a:off x="3291840" y="1417320"/>
            <a:ext cx="2651760" cy="1417320"/>
          </a:xfrm>
          <a:prstGeom prst="roundRect">
            <a:avLst>
              <a:gd name="adj" fmla="val 6000"/>
            </a:avLst>
          </a:prstGeom>
          <a:solidFill>
            <a:srgbClr val="FFFFF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91440" rtlCol="0" anchor="ctr"/>
          <a:lstStyle/>
          <a:p>
            <a:pPr algn="ctr">
              <a:spcBef>
                <a:spcPts val="2800"/>
              </a:spcBef>
            </a:pPr>
            <a:r>
              <a:rPr sz="1250" b="1" i="0">
                <a:solidFill>
                  <a:srgbClr val="0C1E36"/>
                </a:solidFill>
                <a:latin typeface="Times New Roman" panose="02020603050405020304" pitchFamily="18" charset="0"/>
                <a:cs typeface="Times New Roman" panose="02020603050405020304" pitchFamily="18" charset="0"/>
              </a:rPr>
              <a:t>Automated Updates</a:t>
            </a:r>
          </a:p>
          <a:p>
            <a:pPr>
              <a:spcBef>
                <a:spcPts val="300"/>
              </a:spcBef>
            </a:pPr>
            <a:r>
              <a:rPr sz="1050" b="0" i="0">
                <a:solidFill>
                  <a:srgbClr val="333333"/>
                </a:solidFill>
                <a:latin typeface="Times New Roman" panose="02020603050405020304" pitchFamily="18" charset="0"/>
                <a:cs typeface="Times New Roman" panose="02020603050405020304" pitchFamily="18" charset="0"/>
              </a:rPr>
              <a:t>Scheduled ETL pipeline that cleans data and pulls daily valuations incrementally.</a:t>
            </a:r>
          </a:p>
        </p:txBody>
      </p:sp>
      <p:sp>
        <p:nvSpPr>
          <p:cNvPr id="8" name="Oval 7"/>
          <p:cNvSpPr/>
          <p:nvPr/>
        </p:nvSpPr>
        <p:spPr>
          <a:xfrm>
            <a:off x="3429000" y="1527048"/>
            <a:ext cx="274320" cy="274320"/>
          </a:xfrm>
          <a:prstGeom prst="ellipse">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2</a:t>
            </a:r>
          </a:p>
        </p:txBody>
      </p:sp>
      <p:sp>
        <p:nvSpPr>
          <p:cNvPr id="9" name="Rounded Rectangle 8"/>
          <p:cNvSpPr/>
          <p:nvPr/>
        </p:nvSpPr>
        <p:spPr>
          <a:xfrm>
            <a:off x="6126480" y="1417320"/>
            <a:ext cx="2651760" cy="1417320"/>
          </a:xfrm>
          <a:prstGeom prst="roundRect">
            <a:avLst>
              <a:gd name="adj" fmla="val 6000"/>
            </a:avLst>
          </a:prstGeom>
          <a:solidFill>
            <a:srgbClr val="FFFFF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91440" rtlCol="0" anchor="ctr"/>
          <a:lstStyle/>
          <a:p>
            <a:pPr algn="ctr">
              <a:spcBef>
                <a:spcPts val="2800"/>
              </a:spcBef>
            </a:pPr>
            <a:r>
              <a:rPr sz="1250" b="1" i="0">
                <a:solidFill>
                  <a:srgbClr val="0C1E36"/>
                </a:solidFill>
                <a:latin typeface="Times New Roman" panose="02020603050405020304" pitchFamily="18" charset="0"/>
                <a:cs typeface="Times New Roman" panose="02020603050405020304" pitchFamily="18" charset="0"/>
              </a:rPr>
              <a:t>Multi-Criteria Recommender</a:t>
            </a:r>
          </a:p>
          <a:p>
            <a:pPr>
              <a:spcBef>
                <a:spcPts val="300"/>
              </a:spcBef>
            </a:pPr>
            <a:r>
              <a:rPr sz="1050" b="0" i="0">
                <a:solidFill>
                  <a:srgbClr val="333333"/>
                </a:solidFill>
                <a:latin typeface="Times New Roman" panose="02020603050405020304" pitchFamily="18" charset="0"/>
                <a:cs typeface="Times New Roman" panose="02020603050405020304" pitchFamily="18" charset="0"/>
              </a:rPr>
              <a:t>Scoring engine to rank funds by investor goals, risk, and expense limits.</a:t>
            </a:r>
          </a:p>
        </p:txBody>
      </p:sp>
      <p:sp>
        <p:nvSpPr>
          <p:cNvPr id="10" name="Oval 9"/>
          <p:cNvSpPr/>
          <p:nvPr/>
        </p:nvSpPr>
        <p:spPr>
          <a:xfrm>
            <a:off x="6263640" y="1527048"/>
            <a:ext cx="274320" cy="274320"/>
          </a:xfrm>
          <a:prstGeom prst="ellipse">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3</a:t>
            </a:r>
          </a:p>
        </p:txBody>
      </p:sp>
      <p:sp>
        <p:nvSpPr>
          <p:cNvPr id="11" name="Rounded Rectangle 10"/>
          <p:cNvSpPr/>
          <p:nvPr/>
        </p:nvSpPr>
        <p:spPr>
          <a:xfrm>
            <a:off x="457200" y="3017520"/>
            <a:ext cx="2651760" cy="1417320"/>
          </a:xfrm>
          <a:prstGeom prst="roundRect">
            <a:avLst>
              <a:gd name="adj" fmla="val 6000"/>
            </a:avLst>
          </a:prstGeom>
          <a:solidFill>
            <a:srgbClr val="FFFFF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91440" rtlCol="0" anchor="ctr"/>
          <a:lstStyle/>
          <a:p>
            <a:pPr algn="ctr">
              <a:spcBef>
                <a:spcPts val="2800"/>
              </a:spcBef>
            </a:pPr>
            <a:r>
              <a:rPr sz="1250" b="1" i="0">
                <a:solidFill>
                  <a:srgbClr val="0C1E36"/>
                </a:solidFill>
                <a:latin typeface="Times New Roman" panose="02020603050405020304" pitchFamily="18" charset="0"/>
                <a:cs typeface="Times New Roman" panose="02020603050405020304" pitchFamily="18" charset="0"/>
              </a:rPr>
              <a:t>Risk Metrics Computation</a:t>
            </a:r>
          </a:p>
          <a:p>
            <a:pPr>
              <a:spcBef>
                <a:spcPts val="300"/>
              </a:spcBef>
            </a:pPr>
            <a:r>
              <a:rPr sz="1050" b="0" i="0">
                <a:solidFill>
                  <a:srgbClr val="333333"/>
                </a:solidFill>
                <a:latin typeface="Times New Roman" panose="02020603050405020304" pitchFamily="18" charset="0"/>
                <a:cs typeface="Times New Roman" panose="02020603050405020304" pitchFamily="18" charset="0"/>
              </a:rPr>
              <a:t>Calculators for Sharpe/Sortino ratios, Alpha, Beta, and Max Drawdowns.</a:t>
            </a:r>
          </a:p>
        </p:txBody>
      </p:sp>
      <p:sp>
        <p:nvSpPr>
          <p:cNvPr id="12" name="Oval 11"/>
          <p:cNvSpPr/>
          <p:nvPr/>
        </p:nvSpPr>
        <p:spPr>
          <a:xfrm>
            <a:off x="594360" y="3127248"/>
            <a:ext cx="274320" cy="274320"/>
          </a:xfrm>
          <a:prstGeom prst="ellipse">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4</a:t>
            </a:r>
          </a:p>
        </p:txBody>
      </p:sp>
      <p:sp>
        <p:nvSpPr>
          <p:cNvPr id="13" name="Rounded Rectangle 12"/>
          <p:cNvSpPr/>
          <p:nvPr/>
        </p:nvSpPr>
        <p:spPr>
          <a:xfrm>
            <a:off x="3291840" y="3017520"/>
            <a:ext cx="2651760" cy="1417320"/>
          </a:xfrm>
          <a:prstGeom prst="roundRect">
            <a:avLst>
              <a:gd name="adj" fmla="val 6000"/>
            </a:avLst>
          </a:prstGeom>
          <a:solidFill>
            <a:srgbClr val="FFFFF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91440" rtlCol="0" anchor="ctr"/>
          <a:lstStyle/>
          <a:p>
            <a:pPr algn="ctr">
              <a:spcBef>
                <a:spcPts val="2800"/>
              </a:spcBef>
            </a:pPr>
            <a:r>
              <a:rPr sz="1250" b="1" i="0">
                <a:solidFill>
                  <a:srgbClr val="0C1E36"/>
                </a:solidFill>
                <a:latin typeface="Times New Roman" panose="02020603050405020304" pitchFamily="18" charset="0"/>
                <a:cs typeface="Times New Roman" panose="02020603050405020304" pitchFamily="18" charset="0"/>
              </a:rPr>
              <a:t>Optimization Integration</a:t>
            </a:r>
          </a:p>
          <a:p>
            <a:pPr>
              <a:spcBef>
                <a:spcPts val="300"/>
              </a:spcBef>
            </a:pPr>
            <a:r>
              <a:rPr sz="1050" b="0" i="0">
                <a:solidFill>
                  <a:srgbClr val="333333"/>
                </a:solidFill>
                <a:latin typeface="Times New Roman" panose="02020603050405020304" pitchFamily="18" charset="0"/>
                <a:cs typeface="Times New Roman" panose="02020603050405020304" pitchFamily="18" charset="0"/>
              </a:rPr>
              <a:t>Asset weighting models using Markowitz Modern Portfolio Theory.</a:t>
            </a:r>
          </a:p>
        </p:txBody>
      </p:sp>
      <p:sp>
        <p:nvSpPr>
          <p:cNvPr id="14" name="Oval 13"/>
          <p:cNvSpPr/>
          <p:nvPr/>
        </p:nvSpPr>
        <p:spPr>
          <a:xfrm>
            <a:off x="3429000" y="3127248"/>
            <a:ext cx="274320" cy="274320"/>
          </a:xfrm>
          <a:prstGeom prst="ellipse">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5</a:t>
            </a:r>
          </a:p>
        </p:txBody>
      </p:sp>
      <p:sp>
        <p:nvSpPr>
          <p:cNvPr id="15" name="Rounded Rectangle 14"/>
          <p:cNvSpPr/>
          <p:nvPr/>
        </p:nvSpPr>
        <p:spPr>
          <a:xfrm>
            <a:off x="6126480" y="3017520"/>
            <a:ext cx="2651760" cy="1417320"/>
          </a:xfrm>
          <a:prstGeom prst="roundRect">
            <a:avLst>
              <a:gd name="adj" fmla="val 6000"/>
            </a:avLst>
          </a:prstGeom>
          <a:solidFill>
            <a:srgbClr val="FFFFF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91440" rtlCol="0" anchor="ctr"/>
          <a:lstStyle/>
          <a:p>
            <a:pPr algn="ctr">
              <a:spcBef>
                <a:spcPts val="2800"/>
              </a:spcBef>
            </a:pPr>
            <a:r>
              <a:rPr sz="1250" b="1" i="0">
                <a:solidFill>
                  <a:srgbClr val="0C1E36"/>
                </a:solidFill>
                <a:latin typeface="Times New Roman" panose="02020603050405020304" pitchFamily="18" charset="0"/>
                <a:cs typeface="Times New Roman" panose="02020603050405020304" pitchFamily="18" charset="0"/>
              </a:rPr>
              <a:t>Report Generation</a:t>
            </a:r>
          </a:p>
          <a:p>
            <a:pPr>
              <a:spcBef>
                <a:spcPts val="300"/>
              </a:spcBef>
            </a:pPr>
            <a:r>
              <a:rPr sz="1050" b="0" i="0">
                <a:solidFill>
                  <a:srgbClr val="333333"/>
                </a:solidFill>
                <a:latin typeface="Times New Roman" panose="02020603050405020304" pitchFamily="18" charset="0"/>
                <a:cs typeface="Times New Roman" panose="02020603050405020304" pitchFamily="18" charset="0"/>
              </a:rPr>
              <a:t>Downloadable, client-ready PDF reports and structured Excel files.</a:t>
            </a:r>
          </a:p>
        </p:txBody>
      </p:sp>
      <p:sp>
        <p:nvSpPr>
          <p:cNvPr id="16" name="Oval 15"/>
          <p:cNvSpPr/>
          <p:nvPr/>
        </p:nvSpPr>
        <p:spPr>
          <a:xfrm>
            <a:off x="6263640" y="3127248"/>
            <a:ext cx="274320" cy="274320"/>
          </a:xfrm>
          <a:prstGeom prst="ellipse">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6</a:t>
            </a:r>
          </a:p>
        </p:txBody>
      </p:sp>
      <p:sp>
        <p:nvSpPr>
          <p:cNvPr id="17" name="TextBox 16"/>
          <p:cNvSpPr txBox="1"/>
          <p:nvPr/>
        </p:nvSpPr>
        <p:spPr>
          <a:xfrm>
            <a:off x="8686800" y="4864608"/>
            <a:ext cx="365760" cy="228600"/>
          </a:xfrm>
          <a:prstGeom prst="rect">
            <a:avLst/>
          </a:prstGeom>
          <a:noFill/>
        </p:spPr>
        <p:txBody>
          <a:bodyPr wrap="square" lIns="0" tIns="0" rIns="0" bIns="0" anchor="t">
            <a:spAutoFit/>
          </a:bodyPr>
          <a:lstStyle/>
          <a:p>
            <a:pPr algn="r"/>
            <a:r>
              <a:rPr sz="900" b="0" i="0">
                <a:solidFill>
                  <a:srgbClr val="8A93A3"/>
                </a:solidFill>
                <a:latin typeface="Calibri"/>
              </a:rPr>
              <a:t>4</a:t>
            </a:r>
          </a:p>
        </p:txBody>
      </p:sp>
      <p:sp>
        <p:nvSpPr>
          <p:cNvPr id="18" name="TextBox 17"/>
          <p:cNvSpPr txBox="1"/>
          <p:nvPr/>
        </p:nvSpPr>
        <p:spPr>
          <a:xfrm>
            <a:off x="457200" y="4864608"/>
            <a:ext cx="5486400" cy="228600"/>
          </a:xfrm>
          <a:prstGeom prst="rect">
            <a:avLst/>
          </a:prstGeom>
          <a:noFill/>
        </p:spPr>
        <p:txBody>
          <a:bodyPr wrap="square" lIns="0" tIns="0" rIns="0" bIns="0" anchor="t">
            <a:spAutoFit/>
          </a:bodyPr>
          <a:lstStyle/>
          <a:p>
            <a:r>
              <a:rPr sz="900" b="0" i="0">
                <a:solidFill>
                  <a:srgbClr val="8A93A3"/>
                </a:solidFill>
                <a:latin typeface="Calibri"/>
              </a:rPr>
              <a:t>BlueStock Fintech | Mutual Fund Analytics Platform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5486400" cy="274320"/>
          </a:xfrm>
          <a:prstGeom prst="rect">
            <a:avLst/>
          </a:prstGeom>
          <a:noFill/>
        </p:spPr>
        <p:txBody>
          <a:bodyPr wrap="square" lIns="0" tIns="0" rIns="0" bIns="0" anchor="t">
            <a:spAutoFit/>
          </a:bodyPr>
          <a:lstStyle/>
          <a:p>
            <a:r>
              <a:rPr sz="1100" b="1" i="0" spc="150">
                <a:solidFill>
                  <a:srgbClr val="F58220"/>
                </a:solidFill>
                <a:latin typeface="Calibri"/>
              </a:rPr>
              <a:t>UNDER THE HOOD</a:t>
            </a:r>
          </a:p>
        </p:txBody>
      </p:sp>
      <p:sp>
        <p:nvSpPr>
          <p:cNvPr id="4" name="TextBox 3"/>
          <p:cNvSpPr txBox="1"/>
          <p:nvPr/>
        </p:nvSpPr>
        <p:spPr>
          <a:xfrm>
            <a:off x="457200" y="566928"/>
            <a:ext cx="8229600" cy="548640"/>
          </a:xfrm>
          <a:prstGeom prst="rect">
            <a:avLst/>
          </a:prstGeom>
          <a:noFill/>
        </p:spPr>
        <p:txBody>
          <a:bodyPr wrap="square" lIns="0" tIns="0" rIns="0" bIns="0" anchor="t">
            <a:spAutoFit/>
          </a:bodyPr>
          <a:lstStyle/>
          <a:p>
            <a:r>
              <a:rPr sz="2400" b="1" i="0">
                <a:solidFill>
                  <a:srgbClr val="0C1E36"/>
                </a:solidFill>
                <a:latin typeface="Calibri"/>
              </a:rPr>
              <a:t>Technology Stack</a:t>
            </a:r>
          </a:p>
        </p:txBody>
      </p:sp>
      <p:graphicFrame>
        <p:nvGraphicFramePr>
          <p:cNvPr id="5" name="Table 4"/>
          <p:cNvGraphicFramePr>
            <a:graphicFrameLocks noGrp="1"/>
          </p:cNvGraphicFramePr>
          <p:nvPr>
            <p:extLst>
              <p:ext uri="{D42A27DB-BD31-4B8C-83A1-F6EECF244321}">
                <p14:modId xmlns:p14="http://schemas.microsoft.com/office/powerpoint/2010/main" val="1272034069"/>
              </p:ext>
            </p:extLst>
          </p:nvPr>
        </p:nvGraphicFramePr>
        <p:xfrm>
          <a:off x="457200" y="1371600"/>
          <a:ext cx="8229600" cy="33375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17195">
                <a:tc>
                  <a:txBody>
                    <a:bodyPr/>
                    <a:lstStyle/>
                    <a:p>
                      <a:r>
                        <a:rPr sz="1200" b="1" i="0">
                          <a:solidFill>
                            <a:srgbClr val="FFFFFF"/>
                          </a:solidFill>
                          <a:latin typeface="Times New Roman" panose="02020603050405020304" pitchFamily="18" charset="0"/>
                          <a:cs typeface="Times New Roman" panose="02020603050405020304" pitchFamily="18" charset="0"/>
                        </a:rPr>
                        <a:t>Technology</a:t>
                      </a:r>
                    </a:p>
                  </a:txBody>
                  <a:tcPr marT="36576" marB="36576">
                    <a:solidFill>
                      <a:srgbClr val="0C1E36"/>
                    </a:solidFill>
                  </a:tcPr>
                </a:tc>
                <a:tc>
                  <a:txBody>
                    <a:bodyPr/>
                    <a:lstStyle/>
                    <a:p>
                      <a:r>
                        <a:rPr sz="1200" b="1" i="0">
                          <a:solidFill>
                            <a:srgbClr val="FFFFFF"/>
                          </a:solidFill>
                          <a:latin typeface="Times New Roman" panose="02020603050405020304" pitchFamily="18" charset="0"/>
                          <a:cs typeface="Times New Roman" panose="02020603050405020304" pitchFamily="18" charset="0"/>
                        </a:rPr>
                        <a:t>Purpose</a:t>
                      </a:r>
                    </a:p>
                  </a:txBody>
                  <a:tcPr marT="36576" marB="36576">
                    <a:solidFill>
                      <a:srgbClr val="0C1E36"/>
                    </a:solidFill>
                  </a:tcPr>
                </a:tc>
                <a:tc>
                  <a:txBody>
                    <a:bodyPr/>
                    <a:lstStyle/>
                    <a:p>
                      <a:r>
                        <a:rPr sz="1200" b="1" i="0">
                          <a:solidFill>
                            <a:srgbClr val="FFFFFF"/>
                          </a:solidFill>
                          <a:latin typeface="Times New Roman" panose="02020603050405020304" pitchFamily="18" charset="0"/>
                          <a:cs typeface="Times New Roman" panose="02020603050405020304" pitchFamily="18" charset="0"/>
                        </a:rPr>
                        <a:t>Usage in Project</a:t>
                      </a:r>
                    </a:p>
                  </a:txBody>
                  <a:tcPr marT="36576" marB="36576">
                    <a:solidFill>
                      <a:srgbClr val="0C1E36"/>
                    </a:solidFill>
                  </a:tcPr>
                </a:tc>
                <a:extLst>
                  <a:ext uri="{0D108BD9-81ED-4DB2-BD59-A6C34878D82A}">
                    <a16:rowId xmlns:a16="http://schemas.microsoft.com/office/drawing/2014/main" val="10000"/>
                  </a:ext>
                </a:extLst>
              </a:tr>
              <a:tr h="417195">
                <a:tc>
                  <a:txBody>
                    <a:bodyPr/>
                    <a:lstStyle/>
                    <a:p>
                      <a:r>
                        <a:rPr sz="1100" b="1" i="0">
                          <a:solidFill>
                            <a:srgbClr val="0C1E36"/>
                          </a:solidFill>
                          <a:latin typeface="Times New Roman" panose="02020603050405020304" pitchFamily="18" charset="0"/>
                          <a:cs typeface="Times New Roman" panose="02020603050405020304" pitchFamily="18" charset="0"/>
                        </a:rPr>
                        <a:t>Python</a:t>
                      </a:r>
                    </a:p>
                  </a:txBody>
                  <a:tcPr marT="27432" marB="27432">
                    <a:solidFill>
                      <a:srgbClr val="FFFFFF"/>
                    </a:solidFill>
                  </a:tcPr>
                </a:tc>
                <a:tc>
                  <a:txBody>
                    <a:bodyPr/>
                    <a:lstStyle/>
                    <a:p>
                      <a:r>
                        <a:rPr sz="1100" b="0" i="0">
                          <a:solidFill>
                            <a:srgbClr val="333333"/>
                          </a:solidFill>
                          <a:latin typeface="Times New Roman" panose="02020603050405020304" pitchFamily="18" charset="0"/>
                          <a:cs typeface="Times New Roman" panose="02020603050405020304" pitchFamily="18" charset="0"/>
                        </a:rPr>
                        <a:t>Core logic &amp; math</a:t>
                      </a:r>
                    </a:p>
                  </a:txBody>
                  <a:tcPr marT="27432" marB="27432">
                    <a:solidFill>
                      <a:srgbClr val="FFFFFF"/>
                    </a:solidFill>
                  </a:tcPr>
                </a:tc>
                <a:tc>
                  <a:txBody>
                    <a:bodyPr/>
                    <a:lstStyle/>
                    <a:p>
                      <a:r>
                        <a:rPr sz="1100" b="0" i="0">
                          <a:solidFill>
                            <a:srgbClr val="333333"/>
                          </a:solidFill>
                          <a:latin typeface="Times New Roman" panose="02020603050405020304" pitchFamily="18" charset="0"/>
                          <a:cs typeface="Times New Roman" panose="02020603050405020304" pitchFamily="18" charset="0"/>
                        </a:rPr>
                        <a:t>Processes files, computes metrics, controls app flow</a:t>
                      </a:r>
                    </a:p>
                  </a:txBody>
                  <a:tcPr marT="27432" marB="27432">
                    <a:solidFill>
                      <a:srgbClr val="FFFFFF"/>
                    </a:solidFill>
                  </a:tcPr>
                </a:tc>
                <a:extLst>
                  <a:ext uri="{0D108BD9-81ED-4DB2-BD59-A6C34878D82A}">
                    <a16:rowId xmlns:a16="http://schemas.microsoft.com/office/drawing/2014/main" val="10001"/>
                  </a:ext>
                </a:extLst>
              </a:tr>
              <a:tr h="417195">
                <a:tc>
                  <a:txBody>
                    <a:bodyPr/>
                    <a:lstStyle/>
                    <a:p>
                      <a:r>
                        <a:rPr sz="1100" b="1" i="0">
                          <a:solidFill>
                            <a:srgbClr val="0C1E36"/>
                          </a:solidFill>
                          <a:latin typeface="Times New Roman" panose="02020603050405020304" pitchFamily="18" charset="0"/>
                          <a:cs typeface="Times New Roman" panose="02020603050405020304" pitchFamily="18" charset="0"/>
                        </a:rPr>
                        <a:t>Streamlit</a:t>
                      </a:r>
                    </a:p>
                  </a:txBody>
                  <a:tcPr marT="27432" marB="27432">
                    <a:solidFill>
                      <a:srgbClr val="F1F4F9"/>
                    </a:solidFill>
                  </a:tcPr>
                </a:tc>
                <a:tc>
                  <a:txBody>
                    <a:bodyPr/>
                    <a:lstStyle/>
                    <a:p>
                      <a:r>
                        <a:rPr sz="1100" b="0" i="0">
                          <a:solidFill>
                            <a:srgbClr val="333333"/>
                          </a:solidFill>
                          <a:latin typeface="Times New Roman" panose="02020603050405020304" pitchFamily="18" charset="0"/>
                          <a:cs typeface="Times New Roman" panose="02020603050405020304" pitchFamily="18" charset="0"/>
                        </a:rPr>
                        <a:t>Multi-page dashboard framework</a:t>
                      </a:r>
                    </a:p>
                  </a:txBody>
                  <a:tcPr marT="27432" marB="27432">
                    <a:solidFill>
                      <a:srgbClr val="F1F4F9"/>
                    </a:solidFill>
                  </a:tcPr>
                </a:tc>
                <a:tc>
                  <a:txBody>
                    <a:bodyPr/>
                    <a:lstStyle/>
                    <a:p>
                      <a:r>
                        <a:rPr sz="1100" b="0" i="0">
                          <a:solidFill>
                            <a:srgbClr val="333333"/>
                          </a:solidFill>
                          <a:latin typeface="Times New Roman" panose="02020603050405020304" pitchFamily="18" charset="0"/>
                          <a:cs typeface="Times New Roman" panose="02020603050405020304" pitchFamily="18" charset="0"/>
                        </a:rPr>
                        <a:t>Renders navigation tabs, KPIs, visual charts</a:t>
                      </a:r>
                    </a:p>
                  </a:txBody>
                  <a:tcPr marT="27432" marB="27432">
                    <a:solidFill>
                      <a:srgbClr val="F1F4F9"/>
                    </a:solidFill>
                  </a:tcPr>
                </a:tc>
                <a:extLst>
                  <a:ext uri="{0D108BD9-81ED-4DB2-BD59-A6C34878D82A}">
                    <a16:rowId xmlns:a16="http://schemas.microsoft.com/office/drawing/2014/main" val="10002"/>
                  </a:ext>
                </a:extLst>
              </a:tr>
              <a:tr h="417195">
                <a:tc>
                  <a:txBody>
                    <a:bodyPr/>
                    <a:lstStyle/>
                    <a:p>
                      <a:r>
                        <a:rPr sz="1100" b="1" i="0">
                          <a:solidFill>
                            <a:srgbClr val="0C1E36"/>
                          </a:solidFill>
                          <a:latin typeface="Times New Roman" panose="02020603050405020304" pitchFamily="18" charset="0"/>
                          <a:cs typeface="Times New Roman" panose="02020603050405020304" pitchFamily="18" charset="0"/>
                        </a:rPr>
                        <a:t>SQLite</a:t>
                      </a:r>
                    </a:p>
                  </a:txBody>
                  <a:tcPr marT="27432" marB="27432">
                    <a:solidFill>
                      <a:srgbClr val="FFFFFF"/>
                    </a:solidFill>
                  </a:tcPr>
                </a:tc>
                <a:tc>
                  <a:txBody>
                    <a:bodyPr/>
                    <a:lstStyle/>
                    <a:p>
                      <a:r>
                        <a:rPr sz="1100" b="0" i="0">
                          <a:solidFill>
                            <a:srgbClr val="333333"/>
                          </a:solidFill>
                          <a:latin typeface="Times New Roman" panose="02020603050405020304" pitchFamily="18" charset="0"/>
                          <a:cs typeface="Times New Roman" panose="02020603050405020304" pitchFamily="18" charset="0"/>
                        </a:rPr>
                        <a:t>Relational database engine</a:t>
                      </a:r>
                    </a:p>
                  </a:txBody>
                  <a:tcPr marT="27432" marB="27432">
                    <a:solidFill>
                      <a:srgbClr val="FFFFFF"/>
                    </a:solidFill>
                  </a:tcPr>
                </a:tc>
                <a:tc>
                  <a:txBody>
                    <a:bodyPr/>
                    <a:lstStyle/>
                    <a:p>
                      <a:r>
                        <a:rPr sz="1100" b="0" i="0">
                          <a:solidFill>
                            <a:srgbClr val="333333"/>
                          </a:solidFill>
                          <a:latin typeface="Times New Roman" panose="02020603050405020304" pitchFamily="18" charset="0"/>
                          <a:cs typeface="Times New Roman" panose="02020603050405020304" pitchFamily="18" charset="0"/>
                        </a:rPr>
                        <a:t>Hosts staging, dimension, fact &amp; audit tables</a:t>
                      </a:r>
                    </a:p>
                  </a:txBody>
                  <a:tcPr marT="27432" marB="27432">
                    <a:solidFill>
                      <a:srgbClr val="FFFFFF"/>
                    </a:solidFill>
                  </a:tcPr>
                </a:tc>
                <a:extLst>
                  <a:ext uri="{0D108BD9-81ED-4DB2-BD59-A6C34878D82A}">
                    <a16:rowId xmlns:a16="http://schemas.microsoft.com/office/drawing/2014/main" val="10003"/>
                  </a:ext>
                </a:extLst>
              </a:tr>
              <a:tr h="417195">
                <a:tc>
                  <a:txBody>
                    <a:bodyPr/>
                    <a:lstStyle/>
                    <a:p>
                      <a:r>
                        <a:rPr sz="1100" b="1" i="0">
                          <a:solidFill>
                            <a:srgbClr val="0C1E36"/>
                          </a:solidFill>
                          <a:latin typeface="Times New Roman" panose="02020603050405020304" pitchFamily="18" charset="0"/>
                          <a:cs typeface="Times New Roman" panose="02020603050405020304" pitchFamily="18" charset="0"/>
                        </a:rPr>
                        <a:t>Pandas</a:t>
                      </a:r>
                    </a:p>
                  </a:txBody>
                  <a:tcPr marT="27432" marB="27432">
                    <a:solidFill>
                      <a:srgbClr val="F1F4F9"/>
                    </a:solidFill>
                  </a:tcPr>
                </a:tc>
                <a:tc>
                  <a:txBody>
                    <a:bodyPr/>
                    <a:lstStyle/>
                    <a:p>
                      <a:r>
                        <a:rPr sz="1100" b="0" i="0">
                          <a:solidFill>
                            <a:srgbClr val="333333"/>
                          </a:solidFill>
                          <a:latin typeface="Times New Roman" panose="02020603050405020304" pitchFamily="18" charset="0"/>
                          <a:cs typeface="Times New Roman" panose="02020603050405020304" pitchFamily="18" charset="0"/>
                        </a:rPr>
                        <a:t>Structured data manipulation</a:t>
                      </a:r>
                    </a:p>
                  </a:txBody>
                  <a:tcPr marT="27432" marB="27432">
                    <a:solidFill>
                      <a:srgbClr val="F1F4F9"/>
                    </a:solidFill>
                  </a:tcPr>
                </a:tc>
                <a:tc>
                  <a:txBody>
                    <a:bodyPr/>
                    <a:lstStyle/>
                    <a:p>
                      <a:r>
                        <a:rPr sz="1100" b="0" i="0">
                          <a:solidFill>
                            <a:srgbClr val="333333"/>
                          </a:solidFill>
                          <a:latin typeface="Times New Roman" panose="02020603050405020304" pitchFamily="18" charset="0"/>
                          <a:cs typeface="Times New Roman" panose="02020603050405020304" pitchFamily="18" charset="0"/>
                        </a:rPr>
                        <a:t>Cleans, filters, joins, aggregates tables</a:t>
                      </a:r>
                    </a:p>
                  </a:txBody>
                  <a:tcPr marT="27432" marB="27432">
                    <a:solidFill>
                      <a:srgbClr val="F1F4F9"/>
                    </a:solidFill>
                  </a:tcPr>
                </a:tc>
                <a:extLst>
                  <a:ext uri="{0D108BD9-81ED-4DB2-BD59-A6C34878D82A}">
                    <a16:rowId xmlns:a16="http://schemas.microsoft.com/office/drawing/2014/main" val="10004"/>
                  </a:ext>
                </a:extLst>
              </a:tr>
              <a:tr h="417195">
                <a:tc>
                  <a:txBody>
                    <a:bodyPr/>
                    <a:lstStyle/>
                    <a:p>
                      <a:r>
                        <a:rPr sz="1100" b="1" i="0">
                          <a:solidFill>
                            <a:srgbClr val="0C1E36"/>
                          </a:solidFill>
                          <a:latin typeface="Times New Roman" panose="02020603050405020304" pitchFamily="18" charset="0"/>
                          <a:cs typeface="Times New Roman" panose="02020603050405020304" pitchFamily="18" charset="0"/>
                        </a:rPr>
                        <a:t>NumPy / SciPy</a:t>
                      </a:r>
                    </a:p>
                  </a:txBody>
                  <a:tcPr marT="27432" marB="27432">
                    <a:solidFill>
                      <a:srgbClr val="FFFFFF"/>
                    </a:solidFill>
                  </a:tcPr>
                </a:tc>
                <a:tc>
                  <a:txBody>
                    <a:bodyPr/>
                    <a:lstStyle/>
                    <a:p>
                      <a:r>
                        <a:rPr sz="1100" b="0" i="0">
                          <a:solidFill>
                            <a:srgbClr val="333333"/>
                          </a:solidFill>
                          <a:latin typeface="Times New Roman" panose="02020603050405020304" pitchFamily="18" charset="0"/>
                          <a:cs typeface="Times New Roman" panose="02020603050405020304" pitchFamily="18" charset="0"/>
                        </a:rPr>
                        <a:t>Array math &amp; optimization</a:t>
                      </a:r>
                    </a:p>
                  </a:txBody>
                  <a:tcPr marT="27432" marB="27432">
                    <a:solidFill>
                      <a:srgbClr val="FFFFFF"/>
                    </a:solidFill>
                  </a:tcPr>
                </a:tc>
                <a:tc>
                  <a:txBody>
                    <a:bodyPr/>
                    <a:lstStyle/>
                    <a:p>
                      <a:r>
                        <a:rPr sz="1100" b="0" i="0">
                          <a:solidFill>
                            <a:srgbClr val="333333"/>
                          </a:solidFill>
                          <a:latin typeface="Times New Roman" panose="02020603050405020304" pitchFamily="18" charset="0"/>
                          <a:cs typeface="Times New Roman" panose="02020603050405020304" pitchFamily="18" charset="0"/>
                        </a:rPr>
                        <a:t>Runs Monte Carlo scenarios &amp; quadratic optimization</a:t>
                      </a:r>
                    </a:p>
                  </a:txBody>
                  <a:tcPr marT="27432" marB="27432">
                    <a:solidFill>
                      <a:srgbClr val="FFFFFF"/>
                    </a:solidFill>
                  </a:tcPr>
                </a:tc>
                <a:extLst>
                  <a:ext uri="{0D108BD9-81ED-4DB2-BD59-A6C34878D82A}">
                    <a16:rowId xmlns:a16="http://schemas.microsoft.com/office/drawing/2014/main" val="10005"/>
                  </a:ext>
                </a:extLst>
              </a:tr>
              <a:tr h="417195">
                <a:tc>
                  <a:txBody>
                    <a:bodyPr/>
                    <a:lstStyle/>
                    <a:p>
                      <a:r>
                        <a:rPr sz="1100" b="1" i="0">
                          <a:solidFill>
                            <a:srgbClr val="0C1E36"/>
                          </a:solidFill>
                          <a:latin typeface="Times New Roman" panose="02020603050405020304" pitchFamily="18" charset="0"/>
                          <a:cs typeface="Times New Roman" panose="02020603050405020304" pitchFamily="18" charset="0"/>
                        </a:rPr>
                        <a:t>Plotly</a:t>
                      </a:r>
                    </a:p>
                  </a:txBody>
                  <a:tcPr marT="27432" marB="27432">
                    <a:solidFill>
                      <a:srgbClr val="F1F4F9"/>
                    </a:solidFill>
                  </a:tcPr>
                </a:tc>
                <a:tc>
                  <a:txBody>
                    <a:bodyPr/>
                    <a:lstStyle/>
                    <a:p>
                      <a:r>
                        <a:rPr sz="1100" b="0" i="0">
                          <a:solidFill>
                            <a:srgbClr val="333333"/>
                          </a:solidFill>
                          <a:latin typeface="Times New Roman" panose="02020603050405020304" pitchFamily="18" charset="0"/>
                          <a:cs typeface="Times New Roman" panose="02020603050405020304" pitchFamily="18" charset="0"/>
                        </a:rPr>
                        <a:t>Interactive charting library</a:t>
                      </a:r>
                    </a:p>
                  </a:txBody>
                  <a:tcPr marT="27432" marB="27432">
                    <a:solidFill>
                      <a:srgbClr val="F1F4F9"/>
                    </a:solidFill>
                  </a:tcPr>
                </a:tc>
                <a:tc>
                  <a:txBody>
                    <a:bodyPr/>
                    <a:lstStyle/>
                    <a:p>
                      <a:r>
                        <a:rPr sz="1100" b="0" i="0">
                          <a:solidFill>
                            <a:srgbClr val="333333"/>
                          </a:solidFill>
                          <a:latin typeface="Times New Roman" panose="02020603050405020304" pitchFamily="18" charset="0"/>
                          <a:cs typeface="Times New Roman" panose="02020603050405020304" pitchFamily="18" charset="0"/>
                        </a:rPr>
                        <a:t>Renders lines, bars, donuts, heatmap grids</a:t>
                      </a:r>
                    </a:p>
                  </a:txBody>
                  <a:tcPr marT="27432" marB="27432">
                    <a:solidFill>
                      <a:srgbClr val="F1F4F9"/>
                    </a:solidFill>
                  </a:tcPr>
                </a:tc>
                <a:extLst>
                  <a:ext uri="{0D108BD9-81ED-4DB2-BD59-A6C34878D82A}">
                    <a16:rowId xmlns:a16="http://schemas.microsoft.com/office/drawing/2014/main" val="10006"/>
                  </a:ext>
                </a:extLst>
              </a:tr>
              <a:tr h="417195">
                <a:tc>
                  <a:txBody>
                    <a:bodyPr/>
                    <a:lstStyle/>
                    <a:p>
                      <a:r>
                        <a:rPr sz="1100" b="1" i="0">
                          <a:solidFill>
                            <a:srgbClr val="0C1E36"/>
                          </a:solidFill>
                          <a:latin typeface="Times New Roman" panose="02020603050405020304" pitchFamily="18" charset="0"/>
                          <a:cs typeface="Times New Roman" panose="02020603050405020304" pitchFamily="18" charset="0"/>
                        </a:rPr>
                        <a:t>ReportLab / openpyxl</a:t>
                      </a:r>
                    </a:p>
                  </a:txBody>
                  <a:tcPr marT="27432" marB="27432">
                    <a:solidFill>
                      <a:srgbClr val="FFFFFF"/>
                    </a:solidFill>
                  </a:tcPr>
                </a:tc>
                <a:tc>
                  <a:txBody>
                    <a:bodyPr/>
                    <a:lstStyle/>
                    <a:p>
                      <a:r>
                        <a:rPr sz="1100" b="0" i="0">
                          <a:solidFill>
                            <a:srgbClr val="333333"/>
                          </a:solidFill>
                          <a:latin typeface="Times New Roman" panose="02020603050405020304" pitchFamily="18" charset="0"/>
                          <a:cs typeface="Times New Roman" panose="02020603050405020304" pitchFamily="18" charset="0"/>
                        </a:rPr>
                        <a:t>PDF &amp; Excel export engines</a:t>
                      </a:r>
                    </a:p>
                  </a:txBody>
                  <a:tcPr marT="27432" marB="27432">
                    <a:solidFill>
                      <a:srgbClr val="FFFFFF"/>
                    </a:solidFill>
                  </a:tcPr>
                </a:tc>
                <a:tc>
                  <a:txBody>
                    <a:bodyPr/>
                    <a:lstStyle/>
                    <a:p>
                      <a:r>
                        <a:rPr sz="1100" b="0" i="0">
                          <a:solidFill>
                            <a:srgbClr val="333333"/>
                          </a:solidFill>
                          <a:latin typeface="Times New Roman" panose="02020603050405020304" pitchFamily="18" charset="0"/>
                          <a:cs typeface="Times New Roman" panose="02020603050405020304" pitchFamily="18" charset="0"/>
                        </a:rPr>
                        <a:t>Generates formatted reporting files for advisors</a:t>
                      </a:r>
                    </a:p>
                  </a:txBody>
                  <a:tcPr marT="27432" marB="27432">
                    <a:solidFill>
                      <a:srgbClr val="FFFFFF"/>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8686800" y="4864608"/>
            <a:ext cx="365760" cy="228600"/>
          </a:xfrm>
          <a:prstGeom prst="rect">
            <a:avLst/>
          </a:prstGeom>
          <a:noFill/>
        </p:spPr>
        <p:txBody>
          <a:bodyPr wrap="square" lIns="0" tIns="0" rIns="0" bIns="0" anchor="t">
            <a:spAutoFit/>
          </a:bodyPr>
          <a:lstStyle/>
          <a:p>
            <a:pPr algn="r"/>
            <a:r>
              <a:rPr sz="900" b="0" i="0">
                <a:solidFill>
                  <a:srgbClr val="8A93A3"/>
                </a:solidFill>
                <a:latin typeface="Calibri"/>
              </a:rPr>
              <a:t>5</a:t>
            </a:r>
          </a:p>
        </p:txBody>
      </p:sp>
      <p:sp>
        <p:nvSpPr>
          <p:cNvPr id="7" name="TextBox 6"/>
          <p:cNvSpPr txBox="1"/>
          <p:nvPr/>
        </p:nvSpPr>
        <p:spPr>
          <a:xfrm>
            <a:off x="457200" y="4864608"/>
            <a:ext cx="5486400" cy="228600"/>
          </a:xfrm>
          <a:prstGeom prst="rect">
            <a:avLst/>
          </a:prstGeom>
          <a:noFill/>
        </p:spPr>
        <p:txBody>
          <a:bodyPr wrap="square" lIns="0" tIns="0" rIns="0" bIns="0" anchor="t">
            <a:spAutoFit/>
          </a:bodyPr>
          <a:lstStyle/>
          <a:p>
            <a:r>
              <a:rPr sz="900" b="0" i="0">
                <a:solidFill>
                  <a:srgbClr val="8A93A3"/>
                </a:solidFill>
                <a:latin typeface="Calibri"/>
              </a:rPr>
              <a:t>BlueStock Fintech | Mutual Fund Analytics Platform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2">
            <a:extLst>
              <a:ext uri="{FF2B5EF4-FFF2-40B4-BE49-F238E27FC236}">
                <a16:creationId xmlns:a16="http://schemas.microsoft.com/office/drawing/2014/main" id="{622C2C2D-2AE5-DC96-C387-C6AFB15F7D2F}"/>
              </a:ext>
            </a:extLst>
          </p:cNvPr>
          <p:cNvSpPr/>
          <p:nvPr/>
        </p:nvSpPr>
        <p:spPr>
          <a:xfrm>
            <a:off x="6798091" y="64008"/>
            <a:ext cx="2194560" cy="384048"/>
          </a:xfrm>
          <a:prstGeom prst="rect">
            <a:avLst/>
          </a:prstGeom>
          <a:noFill/>
          <a:ln/>
        </p:spPr>
        <p:txBody>
          <a:bodyPr wrap="square" lIns="0" tIns="0" rIns="0" bIns="0" rtlCol="0" anchor="ctr"/>
          <a:lstStyle/>
          <a:p>
            <a:pPr marL="0" indent="0" algn="r">
              <a:buNone/>
            </a:pPr>
            <a:r>
              <a:rPr lang="en-US" sz="1400" b="1" dirty="0">
                <a:solidFill>
                  <a:srgbClr val="0C1E36"/>
                </a:solidFill>
                <a:latin typeface="Times New Roman" pitchFamily="34" charset="0"/>
                <a:ea typeface="Times New Roman" pitchFamily="34" charset="-122"/>
                <a:cs typeface="Times New Roman" pitchFamily="34" charset="-120"/>
              </a:rPr>
              <a:t>BLUESTOCK FINTECH</a:t>
            </a:r>
            <a:endParaRPr lang="en-US" sz="1400" dirty="0"/>
          </a:p>
        </p:txBody>
      </p:sp>
      <p:sp>
        <p:nvSpPr>
          <p:cNvPr id="8" name="Text 3">
            <a:extLst>
              <a:ext uri="{FF2B5EF4-FFF2-40B4-BE49-F238E27FC236}">
                <a16:creationId xmlns:a16="http://schemas.microsoft.com/office/drawing/2014/main" id="{5DEFD3A7-FBC3-E87F-7EB8-6B3A3ADB842D}"/>
              </a:ext>
            </a:extLst>
          </p:cNvPr>
          <p:cNvSpPr/>
          <p:nvPr/>
        </p:nvSpPr>
        <p:spPr>
          <a:xfrm>
            <a:off x="5828511" y="310896"/>
            <a:ext cx="3108960" cy="274320"/>
          </a:xfrm>
          <a:prstGeom prst="rect">
            <a:avLst/>
          </a:prstGeom>
          <a:noFill/>
          <a:ln/>
        </p:spPr>
        <p:txBody>
          <a:bodyPr wrap="square" lIns="0" tIns="0" rIns="0" bIns="0" rtlCol="0" anchor="ctr"/>
          <a:lstStyle/>
          <a:p>
            <a:pPr marL="0" indent="0" algn="r">
              <a:buNone/>
            </a:pPr>
            <a:r>
              <a:rPr lang="en-US" sz="1100" i="1" dirty="0">
                <a:solidFill>
                  <a:srgbClr val="3D4A5C"/>
                </a:solidFill>
                <a:latin typeface="Times New Roman" pitchFamily="34" charset="0"/>
                <a:ea typeface="Times New Roman" pitchFamily="34" charset="-122"/>
                <a:cs typeface="Times New Roman" pitchFamily="34" charset="-120"/>
              </a:rPr>
              <a:t>Mutual Fund Analytics Platform</a:t>
            </a:r>
            <a:endParaRPr lang="en-US" sz="1100" dirty="0"/>
          </a:p>
        </p:txBody>
      </p:sp>
      <p:sp>
        <p:nvSpPr>
          <p:cNvPr id="10" name="Text 1">
            <a:extLst>
              <a:ext uri="{FF2B5EF4-FFF2-40B4-BE49-F238E27FC236}">
                <a16:creationId xmlns:a16="http://schemas.microsoft.com/office/drawing/2014/main" id="{694B266D-A211-776C-1400-A0E5218B0011}"/>
              </a:ext>
            </a:extLst>
          </p:cNvPr>
          <p:cNvSpPr/>
          <p:nvPr/>
        </p:nvSpPr>
        <p:spPr>
          <a:xfrm>
            <a:off x="305851" y="589788"/>
            <a:ext cx="8686800" cy="320040"/>
          </a:xfrm>
          <a:prstGeom prst="rect">
            <a:avLst/>
          </a:prstGeom>
          <a:noFill/>
          <a:ln/>
        </p:spPr>
        <p:txBody>
          <a:bodyPr wrap="square" lIns="0" tIns="0" rIns="0" bIns="0" rtlCol="0" anchor="ctr"/>
          <a:lstStyle/>
          <a:p>
            <a:pPr marL="0" indent="0">
              <a:buNone/>
            </a:pPr>
            <a:r>
              <a:rPr lang="en-US" sz="1400" i="1" dirty="0">
                <a:solidFill>
                  <a:srgbClr val="F58220"/>
                </a:solidFill>
                <a:latin typeface="Times New Roman" pitchFamily="34" charset="0"/>
                <a:ea typeface="Times New Roman" pitchFamily="34" charset="-122"/>
                <a:cs typeface="Times New Roman" pitchFamily="34" charset="-120"/>
              </a:rPr>
              <a:t>Dimension &amp; Fact Tables  ·  1 of 3</a:t>
            </a:r>
            <a:endParaRPr lang="en-US" sz="1400" dirty="0"/>
          </a:p>
        </p:txBody>
      </p:sp>
      <p:graphicFrame>
        <p:nvGraphicFramePr>
          <p:cNvPr id="12" name="Table 0">
            <a:extLst>
              <a:ext uri="{FF2B5EF4-FFF2-40B4-BE49-F238E27FC236}">
                <a16:creationId xmlns:a16="http://schemas.microsoft.com/office/drawing/2014/main" id="{993C6E31-744F-1E87-37FF-8E288DDD533D}"/>
              </a:ext>
            </a:extLst>
          </p:cNvPr>
          <p:cNvGraphicFramePr>
            <a:graphicFrameLocks noGrp="1"/>
          </p:cNvGraphicFramePr>
          <p:nvPr>
            <p:extLst>
              <p:ext uri="{D42A27DB-BD31-4B8C-83A1-F6EECF244321}">
                <p14:modId xmlns:p14="http://schemas.microsoft.com/office/powerpoint/2010/main" val="3603207102"/>
              </p:ext>
            </p:extLst>
          </p:nvPr>
        </p:nvGraphicFramePr>
        <p:xfrm>
          <a:off x="305852" y="946404"/>
          <a:ext cx="8686800" cy="3834384"/>
        </p:xfrm>
        <a:graphic>
          <a:graphicData uri="http://schemas.openxmlformats.org/drawingml/2006/table">
            <a:tbl>
              <a:tblPr/>
              <a:tblGrid>
                <a:gridCol w="1309492">
                  <a:extLst>
                    <a:ext uri="{9D8B030D-6E8A-4147-A177-3AD203B41FA5}">
                      <a16:colId xmlns:a16="http://schemas.microsoft.com/office/drawing/2014/main" val="20000"/>
                    </a:ext>
                  </a:extLst>
                </a:gridCol>
                <a:gridCol w="3939223">
                  <a:extLst>
                    <a:ext uri="{9D8B030D-6E8A-4147-A177-3AD203B41FA5}">
                      <a16:colId xmlns:a16="http://schemas.microsoft.com/office/drawing/2014/main" val="20001"/>
                    </a:ext>
                  </a:extLst>
                </a:gridCol>
                <a:gridCol w="3438085">
                  <a:extLst>
                    <a:ext uri="{9D8B030D-6E8A-4147-A177-3AD203B41FA5}">
                      <a16:colId xmlns:a16="http://schemas.microsoft.com/office/drawing/2014/main" val="20002"/>
                    </a:ext>
                  </a:extLst>
                </a:gridCol>
              </a:tblGrid>
              <a:tr h="300098">
                <a:tc>
                  <a:txBody>
                    <a:bodyPr/>
                    <a:lstStyle/>
                    <a:p>
                      <a:pPr marL="0" indent="0" algn="l">
                        <a:buNone/>
                      </a:pPr>
                      <a:r>
                        <a:rPr lang="en-US" sz="1400" b="1" dirty="0">
                          <a:solidFill>
                            <a:srgbClr val="FFFFFF"/>
                          </a:solidFill>
                          <a:latin typeface="Times New Roman" pitchFamily="34" charset="0"/>
                          <a:ea typeface="Times New Roman" pitchFamily="34" charset="-122"/>
                          <a:cs typeface="Times New Roman" pitchFamily="34" charset="-120"/>
                        </a:rPr>
                        <a:t>Table Name</a:t>
                      </a:r>
                      <a:endParaRPr lang="en-US" sz="1400" dirty="0">
                        <a:latin typeface="Times New Roman" charset="0"/>
                        <a:ea typeface="Times New Roman" charset="0"/>
                        <a:cs typeface="Times New Roman" charset="0"/>
                      </a:endParaRPr>
                    </a:p>
                  </a:txBody>
                  <a:tcPr marL="73152" marR="73152" marT="73152" marB="7315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0C1E36"/>
                    </a:solidFill>
                  </a:tcPr>
                </a:tc>
                <a:tc>
                  <a:txBody>
                    <a:bodyPr/>
                    <a:lstStyle/>
                    <a:p>
                      <a:pPr marL="0" indent="0" algn="l">
                        <a:buNone/>
                      </a:pPr>
                      <a:r>
                        <a:rPr lang="en-US" sz="1400" b="1" dirty="0">
                          <a:solidFill>
                            <a:srgbClr val="FFFFFF"/>
                          </a:solidFill>
                          <a:latin typeface="Times New Roman" pitchFamily="34" charset="0"/>
                          <a:ea typeface="Times New Roman" pitchFamily="34" charset="-122"/>
                          <a:cs typeface="Times New Roman" pitchFamily="34" charset="-120"/>
                        </a:rPr>
                        <a:t>Purpose / Indicates</a:t>
                      </a:r>
                      <a:endParaRPr lang="en-US" sz="1400" dirty="0">
                        <a:latin typeface="Times New Roman" charset="0"/>
                        <a:ea typeface="Times New Roman" charset="0"/>
                        <a:cs typeface="Times New Roman" charset="0"/>
                      </a:endParaRPr>
                    </a:p>
                  </a:txBody>
                  <a:tcPr marL="73152" marR="73152" marT="73152" marB="7315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0C1E36"/>
                    </a:solidFill>
                  </a:tcPr>
                </a:tc>
                <a:tc>
                  <a:txBody>
                    <a:bodyPr/>
                    <a:lstStyle/>
                    <a:p>
                      <a:pPr marL="0" indent="0" algn="l">
                        <a:buNone/>
                      </a:pPr>
                      <a:r>
                        <a:rPr lang="en-US" sz="1400" b="1" dirty="0">
                          <a:solidFill>
                            <a:srgbClr val="FFFFFF"/>
                          </a:solidFill>
                          <a:latin typeface="Times New Roman" pitchFamily="34" charset="0"/>
                          <a:ea typeface="Times New Roman" pitchFamily="34" charset="-122"/>
                          <a:cs typeface="Times New Roman" pitchFamily="34" charset="-120"/>
                        </a:rPr>
                        <a:t>Columns</a:t>
                      </a:r>
                      <a:endParaRPr lang="en-US" sz="1400" dirty="0">
                        <a:latin typeface="Times New Roman" charset="0"/>
                        <a:ea typeface="Times New Roman" charset="0"/>
                        <a:cs typeface="Times New Roman" charset="0"/>
                      </a:endParaRPr>
                    </a:p>
                  </a:txBody>
                  <a:tcPr marL="73152" marR="73152" marT="73152" marB="7315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0C1E36"/>
                    </a:solidFill>
                  </a:tcPr>
                </a:tc>
                <a:extLst>
                  <a:ext uri="{0D108BD9-81ED-4DB2-BD59-A6C34878D82A}">
                    <a16:rowId xmlns:a16="http://schemas.microsoft.com/office/drawing/2014/main" val="10000"/>
                  </a:ext>
                </a:extLst>
              </a:tr>
              <a:tr h="642208">
                <a:tc>
                  <a:txBody>
                    <a:bodyPr/>
                    <a:lstStyle/>
                    <a:p>
                      <a:pPr marL="0" indent="0" algn="l">
                        <a:buNone/>
                      </a:pPr>
                      <a:r>
                        <a:rPr lang="en-US" sz="1200" b="1" dirty="0">
                          <a:solidFill>
                            <a:srgbClr val="0C1E36"/>
                          </a:solidFill>
                          <a:latin typeface="Consolas" pitchFamily="34" charset="0"/>
                          <a:ea typeface="Consolas" pitchFamily="34" charset="-122"/>
                          <a:cs typeface="Consolas" pitchFamily="34" charset="-120"/>
                        </a:rPr>
                        <a:t>dim_date</a:t>
                      </a:r>
                      <a:endParaRPr lang="en-US" sz="1200" dirty="0">
                        <a:latin typeface="Consolas" charset="0"/>
                        <a:ea typeface="Consolas" charset="0"/>
                        <a:cs typeface="Consolas" charset="0"/>
                      </a:endParaRPr>
                    </a:p>
                  </a:txBody>
                  <a:tcPr marL="73152" marR="73152" marT="73152" marB="7315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marL="0" indent="0" algn="l">
                        <a:buNone/>
                      </a:pPr>
                      <a:r>
                        <a:rPr lang="en-US" sz="1150" dirty="0">
                          <a:solidFill>
                            <a:srgbClr val="3D4A5C"/>
                          </a:solidFill>
                          <a:latin typeface="Times New Roman" pitchFamily="34" charset="0"/>
                          <a:ea typeface="Times New Roman" pitchFamily="34" charset="-122"/>
                          <a:cs typeface="Times New Roman" pitchFamily="34" charset="-120"/>
                        </a:rPr>
                        <a:t>Calendar dimension table used for filtering, grouping, and aggregating fact tables by time attributes (year, quarter, month, weekday, etc.) for time-series analysis.</a:t>
                      </a:r>
                      <a:endParaRPr lang="en-US" sz="1150" dirty="0">
                        <a:latin typeface="Times New Roman" charset="0"/>
                        <a:ea typeface="Times New Roman" charset="0"/>
                        <a:cs typeface="Times New Roman" charset="0"/>
                      </a:endParaRPr>
                    </a:p>
                  </a:txBody>
                  <a:tcPr marL="73152" marR="73152" marT="73152" marB="7315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C1E36"/>
                          </a:solidFill>
                          <a:latin typeface="Consolas" pitchFamily="34" charset="0"/>
                          <a:ea typeface="Consolas" pitchFamily="34" charset="-122"/>
                          <a:cs typeface="Consolas" pitchFamily="34" charset="-120"/>
                        </a:rPr>
                        <a:t>date_id, full_date, year, quarter, month, month_name, day, weekday</a:t>
                      </a:r>
                      <a:endParaRPr lang="en-US" sz="1050" dirty="0">
                        <a:latin typeface="Consolas" charset="0"/>
                        <a:ea typeface="Consolas" charset="0"/>
                        <a:cs typeface="Consolas" charset="0"/>
                      </a:endParaRPr>
                    </a:p>
                  </a:txBody>
                  <a:tcPr marL="73152" marR="73152" marT="73152" marB="7315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2208">
                <a:tc>
                  <a:txBody>
                    <a:bodyPr/>
                    <a:lstStyle/>
                    <a:p>
                      <a:pPr marL="0" indent="0" algn="l">
                        <a:buNone/>
                      </a:pPr>
                      <a:r>
                        <a:rPr lang="en-US" sz="1200" b="1" dirty="0">
                          <a:solidFill>
                            <a:srgbClr val="0C1E36"/>
                          </a:solidFill>
                          <a:latin typeface="Consolas" pitchFamily="34" charset="0"/>
                          <a:ea typeface="Consolas" pitchFamily="34" charset="-122"/>
                          <a:cs typeface="Consolas" pitchFamily="34" charset="-120"/>
                        </a:rPr>
                        <a:t>dim_fund</a:t>
                      </a:r>
                      <a:endParaRPr lang="en-US" sz="1200" dirty="0">
                        <a:latin typeface="Consolas" charset="0"/>
                        <a:ea typeface="Consolas" charset="0"/>
                        <a:cs typeface="Consolas" charset="0"/>
                      </a:endParaRPr>
                    </a:p>
                  </a:txBody>
                  <a:tcPr marL="73152" marR="73152" marT="73152" marB="7315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4F6F9"/>
                    </a:solidFill>
                  </a:tcPr>
                </a:tc>
                <a:tc>
                  <a:txBody>
                    <a:bodyPr/>
                    <a:lstStyle/>
                    <a:p>
                      <a:pPr marL="0" indent="0" algn="l">
                        <a:buNone/>
                      </a:pPr>
                      <a:r>
                        <a:rPr lang="en-US" sz="1150" dirty="0">
                          <a:solidFill>
                            <a:srgbClr val="3D4A5C"/>
                          </a:solidFill>
                          <a:latin typeface="Times New Roman" pitchFamily="34" charset="0"/>
                          <a:ea typeface="Times New Roman" pitchFamily="34" charset="-122"/>
                          <a:cs typeface="Times New Roman" pitchFamily="34" charset="-120"/>
                        </a:rPr>
                        <a:t>Master dimension table containing static information about mutual fund schemes, including fund house, category, benchmark, fund manager, and risk classification.</a:t>
                      </a:r>
                      <a:endParaRPr lang="en-US" sz="1150" dirty="0">
                        <a:latin typeface="Times New Roman" charset="0"/>
                        <a:ea typeface="Times New Roman" charset="0"/>
                        <a:cs typeface="Times New Roman" charset="0"/>
                      </a:endParaRPr>
                    </a:p>
                  </a:txBody>
                  <a:tcPr marL="73152" marR="73152" marT="73152" marB="7315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4F6F9"/>
                    </a:solidFill>
                  </a:tcPr>
                </a:tc>
                <a:tc>
                  <a:txBody>
                    <a:bodyPr/>
                    <a:lstStyle/>
                    <a:p>
                      <a:pPr marL="0" indent="0" algn="l">
                        <a:buNone/>
                      </a:pPr>
                      <a:r>
                        <a:rPr lang="en-US" sz="1050" dirty="0">
                          <a:solidFill>
                            <a:srgbClr val="0C1E36"/>
                          </a:solidFill>
                          <a:latin typeface="Consolas" pitchFamily="34" charset="0"/>
                          <a:ea typeface="Consolas" pitchFamily="34" charset="-122"/>
                          <a:cs typeface="Consolas" pitchFamily="34" charset="-120"/>
                        </a:rPr>
                        <a:t>fund_id, amfi_code, fund_house, scheme_name, category, sub_category, plan, benchmark, fund_manager, risk_category, sebi_category_code</a:t>
                      </a:r>
                      <a:endParaRPr lang="en-US" sz="1050" dirty="0">
                        <a:latin typeface="Consolas" charset="0"/>
                        <a:ea typeface="Consolas" charset="0"/>
                        <a:cs typeface="Consolas" charset="0"/>
                      </a:endParaRPr>
                    </a:p>
                  </a:txBody>
                  <a:tcPr marL="73152" marR="73152" marT="73152" marB="7315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4F6F9"/>
                    </a:solidFill>
                  </a:tcPr>
                </a:tc>
                <a:extLst>
                  <a:ext uri="{0D108BD9-81ED-4DB2-BD59-A6C34878D82A}">
                    <a16:rowId xmlns:a16="http://schemas.microsoft.com/office/drawing/2014/main" val="10002"/>
                  </a:ext>
                </a:extLst>
              </a:tr>
              <a:tr h="642208">
                <a:tc>
                  <a:txBody>
                    <a:bodyPr/>
                    <a:lstStyle/>
                    <a:p>
                      <a:pPr marL="0" indent="0" algn="l">
                        <a:buNone/>
                      </a:pPr>
                      <a:r>
                        <a:rPr lang="en-US" sz="1200" b="1" dirty="0">
                          <a:solidFill>
                            <a:srgbClr val="0C1E36"/>
                          </a:solidFill>
                          <a:latin typeface="Consolas" pitchFamily="34" charset="0"/>
                          <a:ea typeface="Consolas" pitchFamily="34" charset="-122"/>
                          <a:cs typeface="Consolas" pitchFamily="34" charset="-120"/>
                        </a:rPr>
                        <a:t>etl_metadata</a:t>
                      </a:r>
                      <a:endParaRPr lang="en-US" sz="1200" dirty="0">
                        <a:latin typeface="Consolas" charset="0"/>
                        <a:ea typeface="Consolas" charset="0"/>
                        <a:cs typeface="Consolas" charset="0"/>
                      </a:endParaRPr>
                    </a:p>
                  </a:txBody>
                  <a:tcPr marL="73152" marR="73152" marT="73152" marB="7315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marL="0" indent="0" algn="l">
                        <a:buNone/>
                      </a:pPr>
                      <a:r>
                        <a:rPr lang="en-US" sz="1150" dirty="0">
                          <a:solidFill>
                            <a:srgbClr val="3D4A5C"/>
                          </a:solidFill>
                          <a:latin typeface="Times New Roman" pitchFamily="34" charset="0"/>
                          <a:ea typeface="Times New Roman" pitchFamily="34" charset="-122"/>
                          <a:cs typeface="Times New Roman" pitchFamily="34" charset="-120"/>
                        </a:rPr>
                        <a:t>Stores ETL pipeline execution metadata, including key operational information such as the timestamp of the last successful pipeline run.</a:t>
                      </a:r>
                      <a:endParaRPr lang="en-US" sz="1150" dirty="0">
                        <a:latin typeface="Times New Roman" charset="0"/>
                        <a:ea typeface="Times New Roman" charset="0"/>
                        <a:cs typeface="Times New Roman" charset="0"/>
                      </a:endParaRPr>
                    </a:p>
                  </a:txBody>
                  <a:tcPr marL="73152" marR="73152" marT="73152" marB="7315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C1E36"/>
                          </a:solidFill>
                          <a:latin typeface="Consolas" pitchFamily="34" charset="0"/>
                          <a:ea typeface="Consolas" pitchFamily="34" charset="-122"/>
                          <a:cs typeface="Consolas" pitchFamily="34" charset="-120"/>
                        </a:rPr>
                        <a:t>key, value</a:t>
                      </a:r>
                      <a:endParaRPr lang="en-US" sz="1050" dirty="0">
                        <a:latin typeface="Consolas" charset="0"/>
                        <a:ea typeface="Consolas" charset="0"/>
                        <a:cs typeface="Consolas" charset="0"/>
                      </a:endParaRPr>
                    </a:p>
                  </a:txBody>
                  <a:tcPr marL="73152" marR="73152" marT="73152" marB="7315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2208">
                <a:tc>
                  <a:txBody>
                    <a:bodyPr/>
                    <a:lstStyle/>
                    <a:p>
                      <a:pPr marL="0" indent="0" algn="l">
                        <a:buNone/>
                      </a:pPr>
                      <a:r>
                        <a:rPr lang="en-US" sz="1200" b="1" dirty="0">
                          <a:solidFill>
                            <a:srgbClr val="0C1E36"/>
                          </a:solidFill>
                          <a:latin typeface="Consolas" pitchFamily="34" charset="0"/>
                          <a:ea typeface="Consolas" pitchFamily="34" charset="-122"/>
                          <a:cs typeface="Consolas" pitchFamily="34" charset="-120"/>
                        </a:rPr>
                        <a:t>fact_aum</a:t>
                      </a:r>
                      <a:endParaRPr lang="en-US" sz="1200" dirty="0">
                        <a:latin typeface="Consolas" charset="0"/>
                        <a:ea typeface="Consolas" charset="0"/>
                        <a:cs typeface="Consolas" charset="0"/>
                      </a:endParaRPr>
                    </a:p>
                  </a:txBody>
                  <a:tcPr marL="73152" marR="73152" marT="73152" marB="7315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4F6F9"/>
                    </a:solidFill>
                  </a:tcPr>
                </a:tc>
                <a:tc>
                  <a:txBody>
                    <a:bodyPr/>
                    <a:lstStyle/>
                    <a:p>
                      <a:pPr marL="0" indent="0" algn="l">
                        <a:buNone/>
                      </a:pPr>
                      <a:r>
                        <a:rPr lang="en-US" sz="1150" dirty="0">
                          <a:solidFill>
                            <a:srgbClr val="3D4A5C"/>
                          </a:solidFill>
                          <a:latin typeface="Times New Roman" pitchFamily="34" charset="0"/>
                          <a:ea typeface="Times New Roman" pitchFamily="34" charset="-122"/>
                          <a:cs typeface="Times New Roman" pitchFamily="34" charset="-120"/>
                        </a:rPr>
                        <a:t>Stores periodic Assets Under Management (AUM) snapshots for each fund house, supporting market share, growth trend, and ranking analyses.</a:t>
                      </a:r>
                      <a:endParaRPr lang="en-US" sz="1150" dirty="0">
                        <a:latin typeface="Times New Roman" charset="0"/>
                        <a:ea typeface="Times New Roman" charset="0"/>
                        <a:cs typeface="Times New Roman" charset="0"/>
                      </a:endParaRPr>
                    </a:p>
                  </a:txBody>
                  <a:tcPr marL="73152" marR="73152" marT="73152" marB="7315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4F6F9"/>
                    </a:solidFill>
                  </a:tcPr>
                </a:tc>
                <a:tc>
                  <a:txBody>
                    <a:bodyPr/>
                    <a:lstStyle/>
                    <a:p>
                      <a:pPr marL="0" indent="0" algn="l">
                        <a:buNone/>
                      </a:pPr>
                      <a:r>
                        <a:rPr lang="en-US" sz="1050" dirty="0">
                          <a:solidFill>
                            <a:srgbClr val="0C1E36"/>
                          </a:solidFill>
                          <a:latin typeface="Consolas" pitchFamily="34" charset="0"/>
                          <a:ea typeface="Consolas" pitchFamily="34" charset="-122"/>
                          <a:cs typeface="Consolas" pitchFamily="34" charset="-120"/>
                        </a:rPr>
                        <a:t>aum_id, date_id, fund_house, aum_lakh_crore, aum_crore, num_schemes</a:t>
                      </a:r>
                      <a:endParaRPr lang="en-US" sz="1050" dirty="0">
                        <a:latin typeface="Consolas" charset="0"/>
                        <a:ea typeface="Consolas" charset="0"/>
                        <a:cs typeface="Consolas" charset="0"/>
                      </a:endParaRPr>
                    </a:p>
                  </a:txBody>
                  <a:tcPr marL="73152" marR="73152" marT="73152" marB="7315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4F6F9"/>
                    </a:solidFill>
                  </a:tcPr>
                </a:tc>
                <a:extLst>
                  <a:ext uri="{0D108BD9-81ED-4DB2-BD59-A6C34878D82A}">
                    <a16:rowId xmlns:a16="http://schemas.microsoft.com/office/drawing/2014/main" val="10004"/>
                  </a:ext>
                </a:extLst>
              </a:tr>
              <a:tr h="642208">
                <a:tc>
                  <a:txBody>
                    <a:bodyPr/>
                    <a:lstStyle/>
                    <a:p>
                      <a:pPr marL="0" indent="0" algn="l">
                        <a:buNone/>
                      </a:pPr>
                      <a:r>
                        <a:rPr lang="en-US" sz="1200" b="1" dirty="0">
                          <a:solidFill>
                            <a:srgbClr val="0C1E36"/>
                          </a:solidFill>
                          <a:latin typeface="Consolas" pitchFamily="34" charset="0"/>
                          <a:ea typeface="Consolas" pitchFamily="34" charset="-122"/>
                          <a:cs typeface="Consolas" pitchFamily="34" charset="-120"/>
                        </a:rPr>
                        <a:t>fact_nav</a:t>
                      </a:r>
                      <a:endParaRPr lang="en-US" sz="1200" dirty="0">
                        <a:latin typeface="Consolas" charset="0"/>
                        <a:ea typeface="Consolas" charset="0"/>
                        <a:cs typeface="Consolas" charset="0"/>
                      </a:endParaRPr>
                    </a:p>
                  </a:txBody>
                  <a:tcPr marL="73152" marR="73152" marT="73152" marB="7315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marL="0" indent="0" algn="l">
                        <a:buNone/>
                      </a:pPr>
                      <a:r>
                        <a:rPr lang="en-US" sz="1150" dirty="0">
                          <a:solidFill>
                            <a:srgbClr val="3D4A5C"/>
                          </a:solidFill>
                          <a:latin typeface="Times New Roman" pitchFamily="34" charset="0"/>
                          <a:ea typeface="Times New Roman" pitchFamily="34" charset="-122"/>
                          <a:cs typeface="Times New Roman" pitchFamily="34" charset="-120"/>
                        </a:rPr>
                        <a:t>Stores daily Net Asset Value (NAV) records for each mutual fund scheme, serving as the primary source for NAV trends, return calculations, and performance analysis.</a:t>
                      </a:r>
                      <a:endParaRPr lang="en-US" sz="1150" dirty="0">
                        <a:latin typeface="Times New Roman" charset="0"/>
                        <a:ea typeface="Times New Roman" charset="0"/>
                        <a:cs typeface="Times New Roman" charset="0"/>
                      </a:endParaRPr>
                    </a:p>
                  </a:txBody>
                  <a:tcPr marL="73152" marR="73152" marT="73152" marB="7315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marL="0" indent="0" algn="l">
                        <a:buNone/>
                      </a:pPr>
                      <a:r>
                        <a:rPr lang="en-US" sz="1050" dirty="0">
                          <a:solidFill>
                            <a:srgbClr val="0C1E36"/>
                          </a:solidFill>
                          <a:latin typeface="Consolas" pitchFamily="34" charset="0"/>
                          <a:ea typeface="Consolas" pitchFamily="34" charset="-122"/>
                          <a:cs typeface="Consolas" pitchFamily="34" charset="-120"/>
                        </a:rPr>
                        <a:t>nav_id, fund_id, date_id, nav</a:t>
                      </a:r>
                      <a:endParaRPr lang="en-US" sz="1050" dirty="0">
                        <a:latin typeface="Consolas" charset="0"/>
                        <a:ea typeface="Consolas" charset="0"/>
                        <a:cs typeface="Consolas" charset="0"/>
                      </a:endParaRPr>
                    </a:p>
                  </a:txBody>
                  <a:tcPr marL="73152" marR="73152" marT="73152" marB="73152"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 name="TextBox 2">
            <a:extLst>
              <a:ext uri="{FF2B5EF4-FFF2-40B4-BE49-F238E27FC236}">
                <a16:creationId xmlns:a16="http://schemas.microsoft.com/office/drawing/2014/main" id="{E7FE3E53-5A45-6AE4-6E77-009858878EB8}"/>
              </a:ext>
            </a:extLst>
          </p:cNvPr>
          <p:cNvSpPr txBox="1"/>
          <p:nvPr/>
        </p:nvSpPr>
        <p:spPr>
          <a:xfrm>
            <a:off x="305851" y="171244"/>
            <a:ext cx="8229600" cy="369332"/>
          </a:xfrm>
          <a:prstGeom prst="rect">
            <a:avLst/>
          </a:prstGeom>
          <a:noFill/>
        </p:spPr>
        <p:txBody>
          <a:bodyPr wrap="square" lIns="0" tIns="0" rIns="0" bIns="0" anchor="t">
            <a:spAutoFit/>
          </a:bodyPr>
          <a:lstStyle/>
          <a:p>
            <a:r>
              <a:rPr lang="en-IN" sz="2400" b="1" i="0">
                <a:solidFill>
                  <a:srgbClr val="0C1E36"/>
                </a:solidFill>
                <a:latin typeface="Times New Roman" panose="02020603050405020304" pitchFamily="18" charset="0"/>
                <a:cs typeface="Times New Roman" panose="02020603050405020304" pitchFamily="18" charset="0"/>
              </a:rPr>
              <a:t>Database Design</a:t>
            </a:r>
            <a:endParaRPr sz="2400" b="1" i="0">
              <a:solidFill>
                <a:srgbClr val="0C1E3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7242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2900" y="192024"/>
            <a:ext cx="6515100" cy="377190"/>
          </a:xfrm>
          <a:prstGeom prst="rect">
            <a:avLst/>
          </a:prstGeom>
          <a:noFill/>
          <a:ln/>
        </p:spPr>
        <p:txBody>
          <a:bodyPr wrap="square" lIns="0" tIns="0" rIns="0" bIns="0" rtlCol="0" anchor="ctr"/>
          <a:lstStyle/>
          <a:p>
            <a:r>
              <a:rPr lang="en-US" sz="1950" b="1" dirty="0">
                <a:solidFill>
                  <a:srgbClr val="0C1E36"/>
                </a:solidFill>
                <a:latin typeface="Times New Roman" pitchFamily="34" charset="0"/>
                <a:ea typeface="Times New Roman" pitchFamily="34" charset="-122"/>
                <a:cs typeface="Times New Roman" pitchFamily="34" charset="-120"/>
              </a:rPr>
              <a:t>Database Schema — Data Dictionary</a:t>
            </a:r>
            <a:endParaRPr lang="en-US" sz="1950" dirty="0"/>
          </a:p>
        </p:txBody>
      </p:sp>
      <p:sp>
        <p:nvSpPr>
          <p:cNvPr id="3" name="Text 1"/>
          <p:cNvSpPr/>
          <p:nvPr/>
        </p:nvSpPr>
        <p:spPr>
          <a:xfrm>
            <a:off x="342900" y="562356"/>
            <a:ext cx="6515100" cy="240030"/>
          </a:xfrm>
          <a:prstGeom prst="rect">
            <a:avLst/>
          </a:prstGeom>
          <a:noFill/>
          <a:ln/>
        </p:spPr>
        <p:txBody>
          <a:bodyPr wrap="square" lIns="0" tIns="0" rIns="0" bIns="0" rtlCol="0" anchor="ctr"/>
          <a:lstStyle/>
          <a:p>
            <a:r>
              <a:rPr lang="en-US" sz="1050" i="1" dirty="0">
                <a:solidFill>
                  <a:srgbClr val="F58220"/>
                </a:solidFill>
                <a:latin typeface="Times New Roman" pitchFamily="34" charset="0"/>
                <a:ea typeface="Times New Roman" pitchFamily="34" charset="-122"/>
                <a:cs typeface="Times New Roman" pitchFamily="34" charset="-120"/>
              </a:rPr>
              <a:t>Fact &amp; Benchmark Tables  ·  2 of 3</a:t>
            </a:r>
            <a:endParaRPr lang="en-US" sz="1050" dirty="0"/>
          </a:p>
        </p:txBody>
      </p:sp>
      <p:sp>
        <p:nvSpPr>
          <p:cNvPr id="4" name="Text 2"/>
          <p:cNvSpPr/>
          <p:nvPr/>
        </p:nvSpPr>
        <p:spPr>
          <a:xfrm>
            <a:off x="7132320" y="219456"/>
            <a:ext cx="1645920" cy="288036"/>
          </a:xfrm>
          <a:prstGeom prst="rect">
            <a:avLst/>
          </a:prstGeom>
          <a:noFill/>
          <a:ln/>
        </p:spPr>
        <p:txBody>
          <a:bodyPr wrap="square" lIns="0" tIns="0" rIns="0" bIns="0" rtlCol="0" anchor="ctr"/>
          <a:lstStyle/>
          <a:p>
            <a:pPr algn="r"/>
            <a:r>
              <a:rPr lang="en-US" sz="1050" b="1" dirty="0">
                <a:solidFill>
                  <a:srgbClr val="0C1E36"/>
                </a:solidFill>
                <a:latin typeface="Times New Roman" pitchFamily="34" charset="0"/>
                <a:ea typeface="Times New Roman" pitchFamily="34" charset="-122"/>
                <a:cs typeface="Times New Roman" pitchFamily="34" charset="-120"/>
              </a:rPr>
              <a:t>BLUESTOCK FINTECH</a:t>
            </a:r>
            <a:endParaRPr lang="en-US" sz="1050" dirty="0"/>
          </a:p>
        </p:txBody>
      </p:sp>
      <p:sp>
        <p:nvSpPr>
          <p:cNvPr id="5" name="Text 3"/>
          <p:cNvSpPr/>
          <p:nvPr/>
        </p:nvSpPr>
        <p:spPr>
          <a:xfrm>
            <a:off x="6446520" y="493776"/>
            <a:ext cx="2331720" cy="205740"/>
          </a:xfrm>
          <a:prstGeom prst="rect">
            <a:avLst/>
          </a:prstGeom>
          <a:noFill/>
          <a:ln/>
        </p:spPr>
        <p:txBody>
          <a:bodyPr wrap="square" lIns="0" tIns="0" rIns="0" bIns="0" rtlCol="0" anchor="ctr"/>
          <a:lstStyle/>
          <a:p>
            <a:pPr algn="r"/>
            <a:r>
              <a:rPr lang="en-US" sz="825" i="1" dirty="0">
                <a:solidFill>
                  <a:srgbClr val="3D4A5C"/>
                </a:solidFill>
                <a:latin typeface="Times New Roman" pitchFamily="34" charset="0"/>
                <a:ea typeface="Times New Roman" pitchFamily="34" charset="-122"/>
                <a:cs typeface="Times New Roman" pitchFamily="34" charset="-120"/>
              </a:rPr>
              <a:t>Mutual Fund Analytics Platform</a:t>
            </a:r>
            <a:endParaRPr lang="en-US" sz="825" dirty="0"/>
          </a:p>
        </p:txBody>
      </p:sp>
      <p:graphicFrame>
        <p:nvGraphicFramePr>
          <p:cNvPr id="6" name="Table 0"/>
          <p:cNvGraphicFramePr>
            <a:graphicFrameLocks noGrp="1"/>
          </p:cNvGraphicFramePr>
          <p:nvPr>
            <p:extLst>
              <p:ext uri="{D42A27DB-BD31-4B8C-83A1-F6EECF244321}">
                <p14:modId xmlns:p14="http://schemas.microsoft.com/office/powerpoint/2010/main" val="829134515"/>
              </p:ext>
            </p:extLst>
          </p:nvPr>
        </p:nvGraphicFramePr>
        <p:xfrm>
          <a:off x="342900" y="891540"/>
          <a:ext cx="8455914" cy="4053078"/>
        </p:xfrm>
        <a:graphic>
          <a:graphicData uri="http://schemas.openxmlformats.org/drawingml/2006/table">
            <a:tbl>
              <a:tblPr/>
              <a:tblGrid>
                <a:gridCol w="1667203">
                  <a:extLst>
                    <a:ext uri="{9D8B030D-6E8A-4147-A177-3AD203B41FA5}">
                      <a16:colId xmlns:a16="http://schemas.microsoft.com/office/drawing/2014/main" val="20000"/>
                    </a:ext>
                  </a:extLst>
                </a:gridCol>
                <a:gridCol w="3442007">
                  <a:extLst>
                    <a:ext uri="{9D8B030D-6E8A-4147-A177-3AD203B41FA5}">
                      <a16:colId xmlns:a16="http://schemas.microsoft.com/office/drawing/2014/main" val="20001"/>
                    </a:ext>
                  </a:extLst>
                </a:gridCol>
                <a:gridCol w="3346704">
                  <a:extLst>
                    <a:ext uri="{9D8B030D-6E8A-4147-A177-3AD203B41FA5}">
                      <a16:colId xmlns:a16="http://schemas.microsoft.com/office/drawing/2014/main" val="20002"/>
                    </a:ext>
                  </a:extLst>
                </a:gridCol>
              </a:tblGrid>
              <a:tr h="342900">
                <a:tc>
                  <a:txBody>
                    <a:bodyPr/>
                    <a:lstStyle/>
                    <a:p>
                      <a:pPr marL="0" indent="0" algn="l">
                        <a:buNone/>
                      </a:pPr>
                      <a:r>
                        <a:rPr lang="en-US" sz="1800" b="1" dirty="0">
                          <a:solidFill>
                            <a:srgbClr val="FFFFFF"/>
                          </a:solidFill>
                          <a:latin typeface="Times New Roman" panose="02020603050405020304" pitchFamily="18" charset="0"/>
                          <a:ea typeface="Times New Roman" pitchFamily="34" charset="-122"/>
                          <a:cs typeface="Times New Roman" panose="02020603050405020304" pitchFamily="18" charset="0"/>
                        </a:rPr>
                        <a:t>Table Name</a:t>
                      </a:r>
                      <a:endParaRPr lang="en-US" sz="1800" dirty="0">
                        <a:latin typeface="Times New Roman" panose="02020603050405020304" pitchFamily="18" charset="0"/>
                        <a:ea typeface="Times New Roman"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0C1E36"/>
                    </a:solidFill>
                  </a:tcPr>
                </a:tc>
                <a:tc>
                  <a:txBody>
                    <a:bodyPr/>
                    <a:lstStyle/>
                    <a:p>
                      <a:pPr marL="0" indent="0" algn="l">
                        <a:buNone/>
                      </a:pPr>
                      <a:r>
                        <a:rPr lang="en-US" sz="1800" b="1" dirty="0">
                          <a:solidFill>
                            <a:srgbClr val="FFFFFF"/>
                          </a:solidFill>
                          <a:latin typeface="Times New Roman" panose="02020603050405020304" pitchFamily="18" charset="0"/>
                          <a:ea typeface="Times New Roman" pitchFamily="34" charset="-122"/>
                          <a:cs typeface="Times New Roman" panose="02020603050405020304" pitchFamily="18" charset="0"/>
                        </a:rPr>
                        <a:t>Purpose / Indicates</a:t>
                      </a:r>
                      <a:endParaRPr lang="en-US" sz="1800" dirty="0">
                        <a:latin typeface="Times New Roman" panose="02020603050405020304" pitchFamily="18" charset="0"/>
                        <a:ea typeface="Times New Roman"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0C1E36"/>
                    </a:solidFill>
                  </a:tcPr>
                </a:tc>
                <a:tc>
                  <a:txBody>
                    <a:bodyPr/>
                    <a:lstStyle/>
                    <a:p>
                      <a:pPr marL="0" indent="0" algn="l">
                        <a:buNone/>
                      </a:pPr>
                      <a:r>
                        <a:rPr lang="en-US" sz="1800" b="1" dirty="0">
                          <a:solidFill>
                            <a:srgbClr val="FFFFFF"/>
                          </a:solidFill>
                          <a:latin typeface="Times New Roman" panose="02020603050405020304" pitchFamily="18" charset="0"/>
                          <a:ea typeface="Times New Roman" pitchFamily="34" charset="-122"/>
                          <a:cs typeface="Times New Roman" panose="02020603050405020304" pitchFamily="18" charset="0"/>
                        </a:rPr>
                        <a:t>Columns</a:t>
                      </a:r>
                      <a:endParaRPr lang="en-US" sz="1800" dirty="0">
                        <a:latin typeface="Times New Roman" panose="02020603050405020304" pitchFamily="18" charset="0"/>
                        <a:ea typeface="Times New Roman"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0C1E36"/>
                    </a:solidFill>
                  </a:tcPr>
                </a:tc>
                <a:extLst>
                  <a:ext uri="{0D108BD9-81ED-4DB2-BD59-A6C34878D82A}">
                    <a16:rowId xmlns:a16="http://schemas.microsoft.com/office/drawing/2014/main" val="10000"/>
                  </a:ext>
                </a:extLst>
              </a:tr>
              <a:tr h="1223010">
                <a:tc>
                  <a:txBody>
                    <a:bodyPr/>
                    <a:lstStyle/>
                    <a:p>
                      <a:pPr marL="0" indent="0" algn="l">
                        <a:buNone/>
                      </a:pPr>
                      <a:r>
                        <a:rPr lang="en-US" sz="1200" b="1" dirty="0">
                          <a:solidFill>
                            <a:srgbClr val="0C1E36"/>
                          </a:solidFill>
                          <a:latin typeface="Times New Roman" panose="02020603050405020304" pitchFamily="18" charset="0"/>
                          <a:ea typeface="Consolas" pitchFamily="34" charset="-122"/>
                          <a:cs typeface="Times New Roman" panose="02020603050405020304" pitchFamily="18" charset="0"/>
                        </a:rPr>
                        <a:t>fact_performance</a:t>
                      </a:r>
                      <a:endParaRPr lang="en-US" sz="1200" dirty="0">
                        <a:latin typeface="Times New Roman" panose="02020603050405020304" pitchFamily="18" charset="0"/>
                        <a:ea typeface="Consolas"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D4A5C"/>
                          </a:solidFill>
                          <a:latin typeface="Times New Roman" panose="02020603050405020304" pitchFamily="18" charset="0"/>
                          <a:ea typeface="Times New Roman" pitchFamily="34" charset="-122"/>
                          <a:cs typeface="Times New Roman" panose="02020603050405020304" pitchFamily="18" charset="0"/>
                        </a:rPr>
                        <a:t>Stores precomputed fund performance metrics and risk-adjusted indicators such as returns, Sharpe ratio, alpha, beta, volatility, and drawdown for comparative analysis.</a:t>
                      </a:r>
                      <a:endParaRPr lang="en-US" sz="1200" dirty="0">
                        <a:latin typeface="Times New Roman" panose="02020603050405020304" pitchFamily="18" charset="0"/>
                        <a:ea typeface="Times New Roman"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C1E36"/>
                          </a:solidFill>
                          <a:latin typeface="Times New Roman" panose="02020603050405020304" pitchFamily="18" charset="0"/>
                          <a:ea typeface="Consolas" pitchFamily="34" charset="-122"/>
                          <a:cs typeface="Times New Roman" panose="02020603050405020304" pitchFamily="18" charset="0"/>
                        </a:rPr>
                        <a:t>performance_id, fund_id, return_1yr_pct, return_3yr_pct, return_5yr_pct, benchmark_3yr_pct, alpha, beta, sharpe_ratio, sortino_ratio, std_dev_ann_pct, max_drawdown_pct, aum_crore, expense_ratio_pct, morningstar_rating</a:t>
                      </a:r>
                      <a:endParaRPr lang="en-US" sz="1100" dirty="0">
                        <a:latin typeface="Times New Roman" panose="02020603050405020304" pitchFamily="18" charset="0"/>
                        <a:ea typeface="Consolas"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223010">
                <a:tc>
                  <a:txBody>
                    <a:bodyPr/>
                    <a:lstStyle/>
                    <a:p>
                      <a:pPr marL="0" indent="0" algn="l">
                        <a:buNone/>
                      </a:pPr>
                      <a:r>
                        <a:rPr lang="en-US" sz="1200" b="1" dirty="0">
                          <a:solidFill>
                            <a:srgbClr val="0C1E36"/>
                          </a:solidFill>
                          <a:latin typeface="Times New Roman" panose="02020603050405020304" pitchFamily="18" charset="0"/>
                          <a:ea typeface="Consolas" pitchFamily="34" charset="-122"/>
                          <a:cs typeface="Times New Roman" panose="02020603050405020304" pitchFamily="18" charset="0"/>
                        </a:rPr>
                        <a:t>fact_transactions</a:t>
                      </a:r>
                      <a:endParaRPr lang="en-US" sz="1200" dirty="0">
                        <a:latin typeface="Times New Roman" panose="02020603050405020304" pitchFamily="18" charset="0"/>
                        <a:ea typeface="Consolas"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4F6F9"/>
                    </a:solidFill>
                  </a:tcPr>
                </a:tc>
                <a:tc>
                  <a:txBody>
                    <a:bodyPr/>
                    <a:lstStyle/>
                    <a:p>
                      <a:pPr marL="0" indent="0" algn="l">
                        <a:buNone/>
                      </a:pPr>
                      <a:r>
                        <a:rPr lang="en-US" sz="1200" dirty="0">
                          <a:solidFill>
                            <a:srgbClr val="3D4A5C"/>
                          </a:solidFill>
                          <a:latin typeface="Times New Roman" panose="02020603050405020304" pitchFamily="18" charset="0"/>
                          <a:ea typeface="Times New Roman" pitchFamily="34" charset="-122"/>
                          <a:cs typeface="Times New Roman" panose="02020603050405020304" pitchFamily="18" charset="0"/>
                        </a:rPr>
                        <a:t>Stores investor-level mutual fund transactions along with demographic and payment information, enabling investor behavior and transaction pattern analysis.</a:t>
                      </a:r>
                      <a:endParaRPr lang="en-US" sz="1200" dirty="0">
                        <a:latin typeface="Times New Roman" panose="02020603050405020304" pitchFamily="18" charset="0"/>
                        <a:ea typeface="Times New Roman"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4F6F9"/>
                    </a:solidFill>
                  </a:tcPr>
                </a:tc>
                <a:tc>
                  <a:txBody>
                    <a:bodyPr/>
                    <a:lstStyle/>
                    <a:p>
                      <a:pPr marL="0" indent="0" algn="l">
                        <a:buNone/>
                      </a:pPr>
                      <a:r>
                        <a:rPr lang="en-US" sz="1100" dirty="0">
                          <a:solidFill>
                            <a:srgbClr val="0C1E36"/>
                          </a:solidFill>
                          <a:latin typeface="Times New Roman" panose="02020603050405020304" pitchFamily="18" charset="0"/>
                          <a:ea typeface="Consolas" pitchFamily="34" charset="-122"/>
                          <a:cs typeface="Times New Roman" panose="02020603050405020304" pitchFamily="18" charset="0"/>
                        </a:rPr>
                        <a:t>transaction_id, fund_id, date_id, investor_id, transaction_type, amount_inr, state, city, city_tier, age_group, gender, annual_income_lakh, payment_mode, kyc_status</a:t>
                      </a:r>
                      <a:endParaRPr lang="en-US" sz="1100" dirty="0">
                        <a:latin typeface="Times New Roman" panose="02020603050405020304" pitchFamily="18" charset="0"/>
                        <a:ea typeface="Consolas"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4F6F9"/>
                    </a:solidFill>
                  </a:tcPr>
                </a:tc>
                <a:extLst>
                  <a:ext uri="{0D108BD9-81ED-4DB2-BD59-A6C34878D82A}">
                    <a16:rowId xmlns:a16="http://schemas.microsoft.com/office/drawing/2014/main" val="10002"/>
                  </a:ext>
                </a:extLst>
              </a:tr>
              <a:tr h="1223010">
                <a:tc>
                  <a:txBody>
                    <a:bodyPr/>
                    <a:lstStyle/>
                    <a:p>
                      <a:pPr marL="0" indent="0" algn="l">
                        <a:buNone/>
                      </a:pPr>
                      <a:r>
                        <a:rPr lang="en-US" sz="1200" b="1" dirty="0">
                          <a:solidFill>
                            <a:srgbClr val="0C1E36"/>
                          </a:solidFill>
                          <a:latin typeface="Times New Roman" panose="02020603050405020304" pitchFamily="18" charset="0"/>
                          <a:ea typeface="Consolas" pitchFamily="34" charset="-122"/>
                          <a:cs typeface="Times New Roman" panose="02020603050405020304" pitchFamily="18" charset="0"/>
                        </a:rPr>
                        <a:t>stg_benchmark_indices</a:t>
                      </a:r>
                      <a:endParaRPr lang="en-US" sz="1200" dirty="0">
                        <a:latin typeface="Times New Roman" panose="02020603050405020304" pitchFamily="18" charset="0"/>
                        <a:ea typeface="Consolas"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D4A5C"/>
                          </a:solidFill>
                          <a:latin typeface="Times New Roman" panose="02020603050405020304" pitchFamily="18" charset="0"/>
                          <a:ea typeface="Times New Roman" pitchFamily="34" charset="-122"/>
                          <a:cs typeface="Times New Roman" panose="02020603050405020304" pitchFamily="18" charset="0"/>
                        </a:rPr>
                        <a:t>Staging table containing daily benchmark index values (e.g., NIFTY 50) used for benchmarking fund performance and calculating alpha and beta.</a:t>
                      </a:r>
                      <a:endParaRPr lang="en-US" sz="1200" dirty="0">
                        <a:latin typeface="Times New Roman" panose="02020603050405020304" pitchFamily="18" charset="0"/>
                        <a:ea typeface="Times New Roman"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C1E36"/>
                          </a:solidFill>
                          <a:latin typeface="Times New Roman" panose="02020603050405020304" pitchFamily="18" charset="0"/>
                          <a:ea typeface="Consolas" pitchFamily="34" charset="-122"/>
                          <a:cs typeface="Times New Roman" panose="02020603050405020304" pitchFamily="18" charset="0"/>
                        </a:rPr>
                        <a:t>date, index_name, close_value</a:t>
                      </a:r>
                      <a:endParaRPr lang="en-US" sz="1100" dirty="0">
                        <a:latin typeface="Times New Roman" panose="02020603050405020304" pitchFamily="18" charset="0"/>
                        <a:ea typeface="Consolas"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2900" y="192024"/>
            <a:ext cx="6515100" cy="377190"/>
          </a:xfrm>
          <a:prstGeom prst="rect">
            <a:avLst/>
          </a:prstGeom>
          <a:noFill/>
          <a:ln/>
        </p:spPr>
        <p:txBody>
          <a:bodyPr wrap="square" lIns="0" tIns="0" rIns="0" bIns="0" rtlCol="0" anchor="ctr"/>
          <a:lstStyle/>
          <a:p>
            <a:r>
              <a:rPr lang="en-US" sz="1950" b="1" dirty="0">
                <a:solidFill>
                  <a:srgbClr val="0C1E36"/>
                </a:solidFill>
                <a:latin typeface="Times New Roman" pitchFamily="34" charset="0"/>
                <a:ea typeface="Times New Roman" pitchFamily="34" charset="-122"/>
                <a:cs typeface="Times New Roman" pitchFamily="34" charset="-120"/>
              </a:rPr>
              <a:t>Database Schema — Data Dictionary</a:t>
            </a:r>
            <a:endParaRPr lang="en-US" sz="1950" dirty="0"/>
          </a:p>
        </p:txBody>
      </p:sp>
      <p:sp>
        <p:nvSpPr>
          <p:cNvPr id="3" name="Text 1"/>
          <p:cNvSpPr/>
          <p:nvPr/>
        </p:nvSpPr>
        <p:spPr>
          <a:xfrm>
            <a:off x="342900" y="562356"/>
            <a:ext cx="6515100" cy="240030"/>
          </a:xfrm>
          <a:prstGeom prst="rect">
            <a:avLst/>
          </a:prstGeom>
          <a:noFill/>
          <a:ln/>
        </p:spPr>
        <p:txBody>
          <a:bodyPr wrap="square" lIns="0" tIns="0" rIns="0" bIns="0" rtlCol="0" anchor="ctr"/>
          <a:lstStyle/>
          <a:p>
            <a:r>
              <a:rPr lang="en-US" sz="1050" i="1" dirty="0">
                <a:solidFill>
                  <a:srgbClr val="F58220"/>
                </a:solidFill>
                <a:latin typeface="Times New Roman" pitchFamily="34" charset="0"/>
                <a:ea typeface="Times New Roman" pitchFamily="34" charset="-122"/>
                <a:cs typeface="Times New Roman" pitchFamily="34" charset="-120"/>
              </a:rPr>
              <a:t>Staging Tables  ·  3 of 3</a:t>
            </a:r>
            <a:endParaRPr lang="en-US" sz="1050" dirty="0"/>
          </a:p>
        </p:txBody>
      </p:sp>
      <p:sp>
        <p:nvSpPr>
          <p:cNvPr id="4" name="Text 2"/>
          <p:cNvSpPr/>
          <p:nvPr/>
        </p:nvSpPr>
        <p:spPr>
          <a:xfrm>
            <a:off x="7132320" y="219456"/>
            <a:ext cx="1645920" cy="288036"/>
          </a:xfrm>
          <a:prstGeom prst="rect">
            <a:avLst/>
          </a:prstGeom>
          <a:noFill/>
          <a:ln/>
        </p:spPr>
        <p:txBody>
          <a:bodyPr wrap="square" lIns="0" tIns="0" rIns="0" bIns="0" rtlCol="0" anchor="ctr"/>
          <a:lstStyle/>
          <a:p>
            <a:pPr algn="r"/>
            <a:r>
              <a:rPr lang="en-US" sz="1050" b="1" dirty="0">
                <a:solidFill>
                  <a:srgbClr val="0C1E36"/>
                </a:solidFill>
                <a:latin typeface="Times New Roman" pitchFamily="34" charset="0"/>
                <a:ea typeface="Times New Roman" pitchFamily="34" charset="-122"/>
                <a:cs typeface="Times New Roman" pitchFamily="34" charset="-120"/>
              </a:rPr>
              <a:t>BLUESTOCK FINTECH</a:t>
            </a:r>
            <a:endParaRPr lang="en-US" sz="1050" dirty="0"/>
          </a:p>
        </p:txBody>
      </p:sp>
      <p:sp>
        <p:nvSpPr>
          <p:cNvPr id="5" name="Text 3"/>
          <p:cNvSpPr/>
          <p:nvPr/>
        </p:nvSpPr>
        <p:spPr>
          <a:xfrm>
            <a:off x="6446520" y="493776"/>
            <a:ext cx="2331720" cy="205740"/>
          </a:xfrm>
          <a:prstGeom prst="rect">
            <a:avLst/>
          </a:prstGeom>
          <a:noFill/>
          <a:ln/>
        </p:spPr>
        <p:txBody>
          <a:bodyPr wrap="square" lIns="0" tIns="0" rIns="0" bIns="0" rtlCol="0" anchor="ctr"/>
          <a:lstStyle/>
          <a:p>
            <a:pPr algn="r"/>
            <a:r>
              <a:rPr lang="en-US" sz="825" i="1" dirty="0">
                <a:solidFill>
                  <a:srgbClr val="3D4A5C"/>
                </a:solidFill>
                <a:latin typeface="Times New Roman" pitchFamily="34" charset="0"/>
                <a:ea typeface="Times New Roman" pitchFamily="34" charset="-122"/>
                <a:cs typeface="Times New Roman" pitchFamily="34" charset="-120"/>
              </a:rPr>
              <a:t>Mutual Fund Analytics Platform</a:t>
            </a:r>
            <a:endParaRPr lang="en-US" sz="825" dirty="0"/>
          </a:p>
        </p:txBody>
      </p:sp>
      <p:graphicFrame>
        <p:nvGraphicFramePr>
          <p:cNvPr id="6" name="Table 0"/>
          <p:cNvGraphicFramePr>
            <a:graphicFrameLocks noGrp="1"/>
          </p:cNvGraphicFramePr>
          <p:nvPr>
            <p:extLst>
              <p:ext uri="{D42A27DB-BD31-4B8C-83A1-F6EECF244321}">
                <p14:modId xmlns:p14="http://schemas.microsoft.com/office/powerpoint/2010/main" val="3919705329"/>
              </p:ext>
            </p:extLst>
          </p:nvPr>
        </p:nvGraphicFramePr>
        <p:xfrm>
          <a:off x="342900" y="891540"/>
          <a:ext cx="8455914" cy="4053080"/>
        </p:xfrm>
        <a:graphic>
          <a:graphicData uri="http://schemas.openxmlformats.org/drawingml/2006/table">
            <a:tbl>
              <a:tblPr/>
              <a:tblGrid>
                <a:gridCol w="1809093">
                  <a:extLst>
                    <a:ext uri="{9D8B030D-6E8A-4147-A177-3AD203B41FA5}">
                      <a16:colId xmlns:a16="http://schemas.microsoft.com/office/drawing/2014/main" val="20000"/>
                    </a:ext>
                  </a:extLst>
                </a:gridCol>
                <a:gridCol w="3413235">
                  <a:extLst>
                    <a:ext uri="{9D8B030D-6E8A-4147-A177-3AD203B41FA5}">
                      <a16:colId xmlns:a16="http://schemas.microsoft.com/office/drawing/2014/main" val="20001"/>
                    </a:ext>
                  </a:extLst>
                </a:gridCol>
                <a:gridCol w="3233586">
                  <a:extLst>
                    <a:ext uri="{9D8B030D-6E8A-4147-A177-3AD203B41FA5}">
                      <a16:colId xmlns:a16="http://schemas.microsoft.com/office/drawing/2014/main" val="20002"/>
                    </a:ext>
                  </a:extLst>
                </a:gridCol>
              </a:tblGrid>
              <a:tr h="342900">
                <a:tc>
                  <a:txBody>
                    <a:bodyPr/>
                    <a:lstStyle/>
                    <a:p>
                      <a:pPr marL="0" indent="0" algn="l">
                        <a:buNone/>
                      </a:pPr>
                      <a:r>
                        <a:rPr lang="en-US" sz="1800" b="1" dirty="0">
                          <a:solidFill>
                            <a:srgbClr val="FFFFFF"/>
                          </a:solidFill>
                          <a:latin typeface="Times New Roman" panose="02020603050405020304" pitchFamily="18" charset="0"/>
                          <a:ea typeface="Times New Roman" pitchFamily="34" charset="-122"/>
                          <a:cs typeface="Times New Roman" panose="02020603050405020304" pitchFamily="18" charset="0"/>
                        </a:rPr>
                        <a:t>Table Name</a:t>
                      </a:r>
                      <a:endParaRPr lang="en-US" sz="1800" dirty="0">
                        <a:latin typeface="Times New Roman" panose="02020603050405020304" pitchFamily="18" charset="0"/>
                        <a:ea typeface="Times New Roman"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0C1E36"/>
                    </a:solidFill>
                  </a:tcPr>
                </a:tc>
                <a:tc>
                  <a:txBody>
                    <a:bodyPr/>
                    <a:lstStyle/>
                    <a:p>
                      <a:pPr marL="0" indent="0" algn="l">
                        <a:buNone/>
                      </a:pPr>
                      <a:r>
                        <a:rPr lang="en-US" sz="1800" b="1" dirty="0">
                          <a:solidFill>
                            <a:srgbClr val="FFFFFF"/>
                          </a:solidFill>
                          <a:latin typeface="Times New Roman" panose="02020603050405020304" pitchFamily="18" charset="0"/>
                          <a:ea typeface="Times New Roman" pitchFamily="34" charset="-122"/>
                          <a:cs typeface="Times New Roman" panose="02020603050405020304" pitchFamily="18" charset="0"/>
                        </a:rPr>
                        <a:t>Purpose / Indicates</a:t>
                      </a:r>
                      <a:endParaRPr lang="en-US" sz="1800" dirty="0">
                        <a:latin typeface="Times New Roman" panose="02020603050405020304" pitchFamily="18" charset="0"/>
                        <a:ea typeface="Times New Roman"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0C1E36"/>
                    </a:solidFill>
                  </a:tcPr>
                </a:tc>
                <a:tc>
                  <a:txBody>
                    <a:bodyPr/>
                    <a:lstStyle/>
                    <a:p>
                      <a:pPr marL="0" indent="0" algn="l">
                        <a:buNone/>
                      </a:pPr>
                      <a:r>
                        <a:rPr lang="en-US" sz="1800" b="1" dirty="0">
                          <a:solidFill>
                            <a:srgbClr val="FFFFFF"/>
                          </a:solidFill>
                          <a:latin typeface="Times New Roman" panose="02020603050405020304" pitchFamily="18" charset="0"/>
                          <a:ea typeface="Times New Roman" pitchFamily="34" charset="-122"/>
                          <a:cs typeface="Times New Roman" panose="02020603050405020304" pitchFamily="18" charset="0"/>
                        </a:rPr>
                        <a:t>Columns</a:t>
                      </a:r>
                      <a:endParaRPr lang="en-US" sz="1800" dirty="0">
                        <a:latin typeface="Times New Roman" panose="02020603050405020304" pitchFamily="18" charset="0"/>
                        <a:ea typeface="Times New Roman"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0C1E36"/>
                    </a:solidFill>
                  </a:tcPr>
                </a:tc>
                <a:extLst>
                  <a:ext uri="{0D108BD9-81ED-4DB2-BD59-A6C34878D82A}">
                    <a16:rowId xmlns:a16="http://schemas.microsoft.com/office/drawing/2014/main" val="10000"/>
                  </a:ext>
                </a:extLst>
              </a:tr>
              <a:tr h="917258">
                <a:tc>
                  <a:txBody>
                    <a:bodyPr/>
                    <a:lstStyle/>
                    <a:p>
                      <a:pPr marL="0" indent="0" algn="l">
                        <a:buNone/>
                      </a:pPr>
                      <a:r>
                        <a:rPr lang="en-US" sz="1200" b="1" dirty="0">
                          <a:solidFill>
                            <a:srgbClr val="0C1E36"/>
                          </a:solidFill>
                          <a:latin typeface="Times New Roman" panose="02020603050405020304" pitchFamily="18" charset="0"/>
                          <a:ea typeface="Consolas" pitchFamily="34" charset="-122"/>
                          <a:cs typeface="Times New Roman" panose="02020603050405020304" pitchFamily="18" charset="0"/>
                        </a:rPr>
                        <a:t>stg_category_inflows</a:t>
                      </a:r>
                      <a:endParaRPr lang="en-US" sz="1200" dirty="0">
                        <a:latin typeface="Times New Roman" panose="02020603050405020304" pitchFamily="18" charset="0"/>
                        <a:ea typeface="Consolas"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D4A5C"/>
                          </a:solidFill>
                          <a:latin typeface="Times New Roman" panose="02020603050405020304" pitchFamily="18" charset="0"/>
                          <a:ea typeface="Times New Roman" pitchFamily="34" charset="-122"/>
                          <a:cs typeface="Times New Roman" panose="02020603050405020304" pitchFamily="18" charset="0"/>
                        </a:rPr>
                        <a:t>Staging table storing monthly net capital inflows across mutual fund categories such as Equity, Debt, Hybrid, and Liquid funds.</a:t>
                      </a:r>
                      <a:endParaRPr lang="en-US" sz="1200" dirty="0">
                        <a:latin typeface="Times New Roman" panose="02020603050405020304" pitchFamily="18" charset="0"/>
                        <a:ea typeface="Times New Roman"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C1E36"/>
                          </a:solidFill>
                          <a:latin typeface="Times New Roman" panose="02020603050405020304" pitchFamily="18" charset="0"/>
                          <a:ea typeface="Consolas" pitchFamily="34" charset="-122"/>
                          <a:cs typeface="Times New Roman" panose="02020603050405020304" pitchFamily="18" charset="0"/>
                        </a:rPr>
                        <a:t>month, category, net_inflow_crore</a:t>
                      </a:r>
                      <a:endParaRPr lang="en-US" sz="1100" dirty="0">
                        <a:latin typeface="Times New Roman" panose="02020603050405020304" pitchFamily="18" charset="0"/>
                        <a:ea typeface="Consolas"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7258">
                <a:tc>
                  <a:txBody>
                    <a:bodyPr/>
                    <a:lstStyle/>
                    <a:p>
                      <a:pPr marL="0" indent="0" algn="l">
                        <a:buNone/>
                      </a:pPr>
                      <a:r>
                        <a:rPr lang="en-US" sz="1200" b="1" dirty="0">
                          <a:solidFill>
                            <a:srgbClr val="0C1E36"/>
                          </a:solidFill>
                          <a:latin typeface="Times New Roman" panose="02020603050405020304" pitchFamily="18" charset="0"/>
                          <a:ea typeface="Consolas" pitchFamily="34" charset="-122"/>
                          <a:cs typeface="Times New Roman" panose="02020603050405020304" pitchFamily="18" charset="0"/>
                        </a:rPr>
                        <a:t>stg_industry_folio_count</a:t>
                      </a:r>
                      <a:endParaRPr lang="en-US" sz="1200" dirty="0">
                        <a:latin typeface="Times New Roman" panose="02020603050405020304" pitchFamily="18" charset="0"/>
                        <a:ea typeface="Consolas"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4F6F9"/>
                    </a:solidFill>
                  </a:tcPr>
                </a:tc>
                <a:tc>
                  <a:txBody>
                    <a:bodyPr/>
                    <a:lstStyle/>
                    <a:p>
                      <a:pPr marL="0" indent="0" algn="l">
                        <a:buNone/>
                      </a:pPr>
                      <a:r>
                        <a:rPr lang="en-US" sz="1200" dirty="0">
                          <a:solidFill>
                            <a:srgbClr val="3D4A5C"/>
                          </a:solidFill>
                          <a:latin typeface="Times New Roman" panose="02020603050405020304" pitchFamily="18" charset="0"/>
                          <a:ea typeface="Times New Roman" pitchFamily="34" charset="-122"/>
                          <a:cs typeface="Times New Roman" panose="02020603050405020304" pitchFamily="18" charset="0"/>
                        </a:rPr>
                        <a:t>Staging table tracking monthly industry-wide folio counts across different asset classes, supporting investor participation and growth analysis.</a:t>
                      </a:r>
                      <a:endParaRPr lang="en-US" sz="1200" dirty="0">
                        <a:latin typeface="Times New Roman" panose="02020603050405020304" pitchFamily="18" charset="0"/>
                        <a:ea typeface="Times New Roman"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4F6F9"/>
                    </a:solidFill>
                  </a:tcPr>
                </a:tc>
                <a:tc>
                  <a:txBody>
                    <a:bodyPr/>
                    <a:lstStyle/>
                    <a:p>
                      <a:pPr marL="0" indent="0" algn="l">
                        <a:buNone/>
                      </a:pPr>
                      <a:r>
                        <a:rPr lang="en-US" sz="1100" dirty="0">
                          <a:solidFill>
                            <a:srgbClr val="0C1E36"/>
                          </a:solidFill>
                          <a:latin typeface="Times New Roman" panose="02020603050405020304" pitchFamily="18" charset="0"/>
                          <a:ea typeface="Consolas" pitchFamily="34" charset="-122"/>
                          <a:cs typeface="Times New Roman" panose="02020603050405020304" pitchFamily="18" charset="0"/>
                        </a:rPr>
                        <a:t>month, total_folios_crore, equity_folios_crore, debt_folios_crore, hybrid_folios_crore, others_folios_crore, folio_difference</a:t>
                      </a:r>
                      <a:endParaRPr lang="en-US" sz="1100" dirty="0">
                        <a:latin typeface="Times New Roman" panose="02020603050405020304" pitchFamily="18" charset="0"/>
                        <a:ea typeface="Consolas"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4F6F9"/>
                    </a:solidFill>
                  </a:tcPr>
                </a:tc>
                <a:extLst>
                  <a:ext uri="{0D108BD9-81ED-4DB2-BD59-A6C34878D82A}">
                    <a16:rowId xmlns:a16="http://schemas.microsoft.com/office/drawing/2014/main" val="10002"/>
                  </a:ext>
                </a:extLst>
              </a:tr>
              <a:tr h="917258">
                <a:tc>
                  <a:txBody>
                    <a:bodyPr/>
                    <a:lstStyle/>
                    <a:p>
                      <a:pPr marL="0" indent="0" algn="l">
                        <a:buNone/>
                      </a:pPr>
                      <a:r>
                        <a:rPr lang="en-US" sz="1200" b="1" dirty="0">
                          <a:solidFill>
                            <a:srgbClr val="0C1E36"/>
                          </a:solidFill>
                          <a:latin typeface="Times New Roman" panose="02020603050405020304" pitchFamily="18" charset="0"/>
                          <a:ea typeface="Consolas" pitchFamily="34" charset="-122"/>
                          <a:cs typeface="Times New Roman" panose="02020603050405020304" pitchFamily="18" charset="0"/>
                        </a:rPr>
                        <a:t>stg_monthly_sip_inflows</a:t>
                      </a:r>
                      <a:endParaRPr lang="en-US" sz="1200" dirty="0">
                        <a:latin typeface="Times New Roman" panose="02020603050405020304" pitchFamily="18" charset="0"/>
                        <a:ea typeface="Consolas"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D4A5C"/>
                          </a:solidFill>
                          <a:latin typeface="Times New Roman" panose="02020603050405020304" pitchFamily="18" charset="0"/>
                          <a:ea typeface="Times New Roman" pitchFamily="34" charset="-122"/>
                          <a:cs typeface="Times New Roman" panose="02020603050405020304" pitchFamily="18" charset="0"/>
                        </a:rPr>
                        <a:t>Staging table storing monthly Systematic Investment Plan (SIP) statistics, including inflows, active accounts, SIP AUM, and year-over-year growth metrics.</a:t>
                      </a:r>
                      <a:endParaRPr lang="en-US" sz="1200" dirty="0">
                        <a:latin typeface="Times New Roman" panose="02020603050405020304" pitchFamily="18" charset="0"/>
                        <a:ea typeface="Times New Roman"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C1E36"/>
                          </a:solidFill>
                          <a:latin typeface="Times New Roman" panose="02020603050405020304" pitchFamily="18" charset="0"/>
                          <a:ea typeface="Consolas" pitchFamily="34" charset="-122"/>
                          <a:cs typeface="Times New Roman" panose="02020603050405020304" pitchFamily="18" charset="0"/>
                        </a:rPr>
                        <a:t>month, sip_inflow_crore, active_sip_accounts_crore, new_sip_accounts_lakh, sip_aum_lakh_crore, yoy_growth_pct, yoy_anomaly</a:t>
                      </a:r>
                      <a:endParaRPr lang="en-US" sz="1100" dirty="0">
                        <a:latin typeface="Times New Roman" panose="02020603050405020304" pitchFamily="18" charset="0"/>
                        <a:ea typeface="Consolas"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7258">
                <a:tc>
                  <a:txBody>
                    <a:bodyPr/>
                    <a:lstStyle/>
                    <a:p>
                      <a:pPr marL="0" indent="0" algn="l">
                        <a:buNone/>
                      </a:pPr>
                      <a:r>
                        <a:rPr lang="en-US" sz="1200" b="1" dirty="0">
                          <a:solidFill>
                            <a:srgbClr val="0C1E36"/>
                          </a:solidFill>
                          <a:latin typeface="Times New Roman" panose="02020603050405020304" pitchFamily="18" charset="0"/>
                          <a:ea typeface="Consolas" pitchFamily="34" charset="-122"/>
                          <a:cs typeface="Times New Roman" panose="02020603050405020304" pitchFamily="18" charset="0"/>
                        </a:rPr>
                        <a:t>stg_portfolio_holdings</a:t>
                      </a:r>
                      <a:endParaRPr lang="en-US" sz="1200" dirty="0">
                        <a:latin typeface="Times New Roman" panose="02020603050405020304" pitchFamily="18" charset="0"/>
                        <a:ea typeface="Consolas"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4F6F9"/>
                    </a:solidFill>
                  </a:tcPr>
                </a:tc>
                <a:tc>
                  <a:txBody>
                    <a:bodyPr/>
                    <a:lstStyle/>
                    <a:p>
                      <a:pPr marL="0" indent="0" algn="l">
                        <a:buNone/>
                      </a:pPr>
                      <a:r>
                        <a:rPr lang="en-US" sz="1200" dirty="0">
                          <a:solidFill>
                            <a:srgbClr val="3D4A5C"/>
                          </a:solidFill>
                          <a:latin typeface="Times New Roman" panose="02020603050405020304" pitchFamily="18" charset="0"/>
                          <a:ea typeface="Times New Roman" pitchFamily="34" charset="-122"/>
                          <a:cs typeface="Times New Roman" panose="02020603050405020304" pitchFamily="18" charset="0"/>
                        </a:rPr>
                        <a:t>Staging table containing detailed portfolio holdings of mutual fund schemes, including stock allocation, sector classification, portfolio weights, and market values.</a:t>
                      </a:r>
                      <a:endParaRPr lang="en-US" sz="1200" dirty="0">
                        <a:latin typeface="Times New Roman" panose="02020603050405020304" pitchFamily="18" charset="0"/>
                        <a:ea typeface="Times New Roman"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4F6F9"/>
                    </a:solidFill>
                  </a:tcPr>
                </a:tc>
                <a:tc>
                  <a:txBody>
                    <a:bodyPr/>
                    <a:lstStyle/>
                    <a:p>
                      <a:pPr marL="0" indent="0" algn="l">
                        <a:buNone/>
                      </a:pPr>
                      <a:r>
                        <a:rPr lang="en-US" sz="1100" dirty="0">
                          <a:solidFill>
                            <a:srgbClr val="0C1E36"/>
                          </a:solidFill>
                          <a:latin typeface="Times New Roman" panose="02020603050405020304" pitchFamily="18" charset="0"/>
                          <a:ea typeface="Consolas" pitchFamily="34" charset="-122"/>
                          <a:cs typeface="Times New Roman" panose="02020603050405020304" pitchFamily="18" charset="0"/>
                        </a:rPr>
                        <a:t>holding_id, amfi_code, stock_symbol, stock_name, sector, weight_pct, market_value_cr, current_price_inr, portfolio_date</a:t>
                      </a:r>
                      <a:endParaRPr lang="en-US" sz="1100" dirty="0">
                        <a:latin typeface="Times New Roman" panose="02020603050405020304" pitchFamily="18" charset="0"/>
                        <a:ea typeface="Consolas" charset="0"/>
                        <a:cs typeface="Times New Roman" panose="02020603050405020304" pitchFamily="18" charset="0"/>
                      </a:endParaRPr>
                    </a:p>
                  </a:txBody>
                  <a:tcPr marL="54864" marR="54864" marT="54864" marB="54864" anchor="ctr">
                    <a:lnL w="9525" cap="flat" cmpd="sng" algn="ctr">
                      <a:solidFill>
                        <a:srgbClr val="C9D2DE"/>
                      </a:solidFill>
                      <a:prstDash val="solid"/>
                      <a:round/>
                      <a:headEnd type="none" w="med" len="med"/>
                      <a:tailEnd type="none" w="med" len="med"/>
                    </a:lnL>
                    <a:lnR w="9525" cap="flat" cmpd="sng" algn="ctr">
                      <a:solidFill>
                        <a:srgbClr val="C9D2DE"/>
                      </a:solidFill>
                      <a:prstDash val="solid"/>
                      <a:round/>
                      <a:headEnd type="none" w="med" len="med"/>
                      <a:tailEnd type="none" w="med" len="med"/>
                    </a:lnR>
                    <a:lnT w="9525" cap="flat" cmpd="sng" algn="ctr">
                      <a:solidFill>
                        <a:srgbClr val="C9D2DE"/>
                      </a:solidFill>
                      <a:prstDash val="solid"/>
                      <a:round/>
                      <a:headEnd type="none" w="med" len="med"/>
                      <a:tailEnd type="none" w="med" len="med"/>
                    </a:lnT>
                    <a:lnB w="9525" cap="flat" cmpd="sng" algn="ctr">
                      <a:solidFill>
                        <a:srgbClr val="C9D2DE"/>
                      </a:solidFill>
                      <a:prstDash val="solid"/>
                      <a:round/>
                      <a:headEnd type="none" w="med" len="med"/>
                      <a:tailEnd type="none" w="med" len="med"/>
                    </a:lnB>
                    <a:solidFill>
                      <a:srgbClr val="F4F6F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79582"/>
            <a:ext cx="5486400" cy="169277"/>
          </a:xfrm>
          <a:prstGeom prst="rect">
            <a:avLst/>
          </a:prstGeom>
          <a:noFill/>
        </p:spPr>
        <p:txBody>
          <a:bodyPr wrap="square" lIns="0" tIns="0" rIns="0" bIns="0" anchor="t">
            <a:spAutoFit/>
          </a:bodyPr>
          <a:lstStyle/>
          <a:p>
            <a:r>
              <a:rPr sz="1100" b="1" i="0" spc="150">
                <a:solidFill>
                  <a:srgbClr val="F58220"/>
                </a:solidFill>
                <a:latin typeface="Times New Roman" panose="02020603050405020304" pitchFamily="18" charset="0"/>
                <a:cs typeface="Times New Roman" panose="02020603050405020304" pitchFamily="18" charset="0"/>
              </a:rPr>
              <a:t>ARCHITECTURE</a:t>
            </a:r>
          </a:p>
        </p:txBody>
      </p:sp>
      <p:sp>
        <p:nvSpPr>
          <p:cNvPr id="4" name="TextBox 3"/>
          <p:cNvSpPr txBox="1"/>
          <p:nvPr/>
        </p:nvSpPr>
        <p:spPr>
          <a:xfrm>
            <a:off x="457200" y="422150"/>
            <a:ext cx="8229600" cy="369332"/>
          </a:xfrm>
          <a:prstGeom prst="rect">
            <a:avLst/>
          </a:prstGeom>
          <a:noFill/>
        </p:spPr>
        <p:txBody>
          <a:bodyPr wrap="square" lIns="0" tIns="0" rIns="0" bIns="0" anchor="t">
            <a:spAutoFit/>
          </a:bodyPr>
          <a:lstStyle/>
          <a:p>
            <a:r>
              <a:rPr lang="en-IN" sz="2400" b="1" i="0">
                <a:solidFill>
                  <a:srgbClr val="0C1E36"/>
                </a:solidFill>
                <a:latin typeface="Times New Roman" panose="02020603050405020304" pitchFamily="18" charset="0"/>
                <a:cs typeface="Times New Roman" panose="02020603050405020304" pitchFamily="18" charset="0"/>
              </a:rPr>
              <a:t>Database Design &amp;</a:t>
            </a:r>
            <a:r>
              <a:rPr sz="2400" b="1" i="0">
                <a:solidFill>
                  <a:srgbClr val="0C1E36"/>
                </a:solidFill>
                <a:latin typeface="Times New Roman" panose="02020603050405020304" pitchFamily="18" charset="0"/>
                <a:cs typeface="Times New Roman" panose="02020603050405020304" pitchFamily="18" charset="0"/>
              </a:rPr>
              <a:t> ETL Pipeline</a:t>
            </a:r>
          </a:p>
        </p:txBody>
      </p:sp>
      <p:grpSp>
        <p:nvGrpSpPr>
          <p:cNvPr id="26" name="Group 25">
            <a:extLst>
              <a:ext uri="{FF2B5EF4-FFF2-40B4-BE49-F238E27FC236}">
                <a16:creationId xmlns:a16="http://schemas.microsoft.com/office/drawing/2014/main" id="{00741A42-797B-3449-1E39-4034DD645B2D}"/>
              </a:ext>
            </a:extLst>
          </p:cNvPr>
          <p:cNvGrpSpPr/>
          <p:nvPr/>
        </p:nvGrpSpPr>
        <p:grpSpPr>
          <a:xfrm>
            <a:off x="961697" y="1013872"/>
            <a:ext cx="7094482" cy="3680463"/>
            <a:chOff x="4709160" y="1325880"/>
            <a:chExt cx="3977640" cy="2979818"/>
          </a:xfrm>
        </p:grpSpPr>
        <p:sp>
          <p:nvSpPr>
            <p:cNvPr id="16" name="Oval 15"/>
            <p:cNvSpPr/>
            <p:nvPr/>
          </p:nvSpPr>
          <p:spPr>
            <a:xfrm>
              <a:off x="4709160" y="2843784"/>
              <a:ext cx="201168" cy="201168"/>
            </a:xfrm>
            <a:prstGeom prst="ellipse">
              <a:avLst/>
            </a:prstGeom>
            <a:solidFill>
              <a:srgbClr val="0C1E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i="0">
                  <a:solidFill>
                    <a:srgbClr val="FFFFFF"/>
                  </a:solidFill>
                  <a:latin typeface="Times New Roman" panose="02020603050405020304" pitchFamily="18" charset="0"/>
                  <a:cs typeface="Times New Roman" panose="02020603050405020304" pitchFamily="18" charset="0"/>
                </a:rPr>
                <a:t>3</a:t>
              </a:r>
            </a:p>
          </p:txBody>
        </p:sp>
        <p:grpSp>
          <p:nvGrpSpPr>
            <p:cNvPr id="24" name="Group 23">
              <a:extLst>
                <a:ext uri="{FF2B5EF4-FFF2-40B4-BE49-F238E27FC236}">
                  <a16:creationId xmlns:a16="http://schemas.microsoft.com/office/drawing/2014/main" id="{1B33DBD3-535D-0A7F-20ED-EAB0E1C78184}"/>
                </a:ext>
              </a:extLst>
            </p:cNvPr>
            <p:cNvGrpSpPr/>
            <p:nvPr/>
          </p:nvGrpSpPr>
          <p:grpSpPr>
            <a:xfrm>
              <a:off x="4709160" y="1325880"/>
              <a:ext cx="3977640" cy="2979818"/>
              <a:chOff x="4709160" y="1325880"/>
              <a:chExt cx="3977640" cy="2979818"/>
            </a:xfrm>
          </p:grpSpPr>
          <p:sp>
            <p:nvSpPr>
              <p:cNvPr id="11" name="TextBox 10"/>
              <p:cNvSpPr txBox="1"/>
              <p:nvPr/>
            </p:nvSpPr>
            <p:spPr>
              <a:xfrm>
                <a:off x="4709160" y="1325880"/>
                <a:ext cx="3977639" cy="199348"/>
              </a:xfrm>
              <a:prstGeom prst="rect">
                <a:avLst/>
              </a:prstGeom>
              <a:noFill/>
            </p:spPr>
            <p:txBody>
              <a:bodyPr wrap="square" lIns="0" tIns="0" rIns="0" bIns="0" anchor="t">
                <a:spAutoFit/>
              </a:bodyPr>
              <a:lstStyle/>
              <a:p>
                <a:r>
                  <a:rPr sz="1600" b="1" i="0">
                    <a:solidFill>
                      <a:srgbClr val="0C1E36"/>
                    </a:solidFill>
                    <a:latin typeface="Times New Roman" panose="02020603050405020304" pitchFamily="18" charset="0"/>
                    <a:cs typeface="Times New Roman" panose="02020603050405020304" pitchFamily="18" charset="0"/>
                  </a:rPr>
                  <a:t>ETL Workflow</a:t>
                </a:r>
              </a:p>
            </p:txBody>
          </p:sp>
          <p:sp>
            <p:nvSpPr>
              <p:cNvPr id="12" name="Oval 11"/>
              <p:cNvSpPr/>
              <p:nvPr/>
            </p:nvSpPr>
            <p:spPr>
              <a:xfrm>
                <a:off x="4709160" y="1709928"/>
                <a:ext cx="201168" cy="201168"/>
              </a:xfrm>
              <a:prstGeom prst="ellipse">
                <a:avLst/>
              </a:prstGeom>
              <a:solidFill>
                <a:srgbClr val="0C1E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i="0">
                    <a:solidFill>
                      <a:srgbClr val="FFFFFF"/>
                    </a:solidFill>
                    <a:latin typeface="Times New Roman" panose="02020603050405020304" pitchFamily="18" charset="0"/>
                    <a:cs typeface="Times New Roman" panose="02020603050405020304" pitchFamily="18" charset="0"/>
                  </a:rPr>
                  <a:t>1</a:t>
                </a:r>
              </a:p>
            </p:txBody>
          </p:sp>
          <p:sp>
            <p:nvSpPr>
              <p:cNvPr id="13" name="TextBox 12"/>
              <p:cNvSpPr txBox="1"/>
              <p:nvPr/>
            </p:nvSpPr>
            <p:spPr>
              <a:xfrm>
                <a:off x="5047488" y="1664208"/>
                <a:ext cx="3639312" cy="373779"/>
              </a:xfrm>
              <a:prstGeom prst="rect">
                <a:avLst/>
              </a:prstGeom>
              <a:noFill/>
            </p:spPr>
            <p:txBody>
              <a:bodyPr wrap="square" lIns="0" tIns="0" rIns="0" bIns="0" anchor="t">
                <a:spAutoFit/>
              </a:bodyPr>
              <a:lstStyle/>
              <a:p>
                <a:r>
                  <a:rPr sz="1600" b="1" i="0">
                    <a:solidFill>
                      <a:srgbClr val="0C1E36"/>
                    </a:solidFill>
                    <a:latin typeface="Times New Roman" panose="02020603050405020304" pitchFamily="18" charset="0"/>
                    <a:cs typeface="Times New Roman" panose="02020603050405020304" pitchFamily="18" charset="0"/>
                  </a:rPr>
                  <a:t>Extract  —  </a:t>
                </a:r>
                <a:r>
                  <a:rPr sz="1400" b="0" i="0">
                    <a:solidFill>
                      <a:srgbClr val="333333"/>
                    </a:solidFill>
                    <a:latin typeface="Times New Roman" panose="02020603050405020304" pitchFamily="18" charset="0"/>
                    <a:cs typeface="Times New Roman" panose="02020603050405020304" pitchFamily="18" charset="0"/>
                  </a:rPr>
                  <a:t>Reads raw CSVs and queries AMFI / MFAPI APIs for live historical NAV data.</a:t>
                </a:r>
              </a:p>
            </p:txBody>
          </p:sp>
          <p:sp>
            <p:nvSpPr>
              <p:cNvPr id="14" name="Oval 13"/>
              <p:cNvSpPr/>
              <p:nvPr/>
            </p:nvSpPr>
            <p:spPr>
              <a:xfrm>
                <a:off x="4709160" y="2276856"/>
                <a:ext cx="201168" cy="201168"/>
              </a:xfrm>
              <a:prstGeom prst="ellipse">
                <a:avLst/>
              </a:prstGeom>
              <a:solidFill>
                <a:srgbClr val="0C1E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i="0">
                    <a:solidFill>
                      <a:srgbClr val="FFFFFF"/>
                    </a:solidFill>
                    <a:latin typeface="Times New Roman" panose="02020603050405020304" pitchFamily="18" charset="0"/>
                    <a:cs typeface="Times New Roman" panose="02020603050405020304" pitchFamily="18" charset="0"/>
                  </a:rPr>
                  <a:t>2</a:t>
                </a:r>
              </a:p>
            </p:txBody>
          </p:sp>
          <p:sp>
            <p:nvSpPr>
              <p:cNvPr id="15" name="TextBox 14"/>
              <p:cNvSpPr txBox="1"/>
              <p:nvPr/>
            </p:nvSpPr>
            <p:spPr>
              <a:xfrm>
                <a:off x="5047488" y="2231136"/>
                <a:ext cx="3639312" cy="373779"/>
              </a:xfrm>
              <a:prstGeom prst="rect">
                <a:avLst/>
              </a:prstGeom>
              <a:noFill/>
            </p:spPr>
            <p:txBody>
              <a:bodyPr wrap="square" lIns="0" tIns="0" rIns="0" bIns="0" anchor="t">
                <a:spAutoFit/>
              </a:bodyPr>
              <a:lstStyle/>
              <a:p>
                <a:r>
                  <a:rPr sz="1600" b="1" i="0">
                    <a:solidFill>
                      <a:srgbClr val="0C1E36"/>
                    </a:solidFill>
                    <a:latin typeface="Times New Roman" panose="02020603050405020304" pitchFamily="18" charset="0"/>
                    <a:cs typeface="Times New Roman" panose="02020603050405020304" pitchFamily="18" charset="0"/>
                  </a:rPr>
                  <a:t>Transform  —  </a:t>
                </a:r>
                <a:r>
                  <a:rPr sz="1400" b="0" i="0">
                    <a:solidFill>
                      <a:srgbClr val="333333"/>
                    </a:solidFill>
                    <a:latin typeface="Times New Roman" panose="02020603050405020304" pitchFamily="18" charset="0"/>
                    <a:cs typeface="Times New Roman" panose="02020603050405020304" pitchFamily="18" charset="0"/>
                  </a:rPr>
                  <a:t>Standardizes dates, coerces types, removes duplicates, handles missing values.</a:t>
                </a:r>
              </a:p>
            </p:txBody>
          </p:sp>
          <p:sp>
            <p:nvSpPr>
              <p:cNvPr id="17" name="TextBox 16"/>
              <p:cNvSpPr txBox="1"/>
              <p:nvPr/>
            </p:nvSpPr>
            <p:spPr>
              <a:xfrm>
                <a:off x="5047488" y="2798064"/>
                <a:ext cx="3639312" cy="373779"/>
              </a:xfrm>
              <a:prstGeom prst="rect">
                <a:avLst/>
              </a:prstGeom>
              <a:noFill/>
            </p:spPr>
            <p:txBody>
              <a:bodyPr wrap="square" lIns="0" tIns="0" rIns="0" bIns="0" anchor="t">
                <a:spAutoFit/>
              </a:bodyPr>
              <a:lstStyle/>
              <a:p>
                <a:r>
                  <a:rPr sz="1600" b="1" i="0">
                    <a:solidFill>
                      <a:srgbClr val="0C1E36"/>
                    </a:solidFill>
                    <a:latin typeface="Times New Roman" panose="02020603050405020304" pitchFamily="18" charset="0"/>
                    <a:cs typeface="Times New Roman" panose="02020603050405020304" pitchFamily="18" charset="0"/>
                  </a:rPr>
                  <a:t>Correct  —  </a:t>
                </a:r>
                <a:r>
                  <a:rPr sz="1400" b="0" i="0">
                    <a:solidFill>
                      <a:srgbClr val="333333"/>
                    </a:solidFill>
                    <a:latin typeface="Times New Roman" panose="02020603050405020304" pitchFamily="18" charset="0"/>
                    <a:cs typeface="Times New Roman" panose="02020603050405020304" pitchFamily="18" charset="0"/>
                  </a:rPr>
                  <a:t>Fixes AMFI ID mismatches (e.g. ABSL Large Cap 112114 → 103174).</a:t>
                </a:r>
              </a:p>
            </p:txBody>
          </p:sp>
          <p:sp>
            <p:nvSpPr>
              <p:cNvPr id="18" name="Oval 17"/>
              <p:cNvSpPr/>
              <p:nvPr/>
            </p:nvSpPr>
            <p:spPr>
              <a:xfrm>
                <a:off x="4709160" y="3410712"/>
                <a:ext cx="201168" cy="201168"/>
              </a:xfrm>
              <a:prstGeom prst="ellipse">
                <a:avLst/>
              </a:prstGeom>
              <a:solidFill>
                <a:srgbClr val="0C1E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i="0">
                    <a:solidFill>
                      <a:srgbClr val="FFFFFF"/>
                    </a:solidFill>
                    <a:latin typeface="Times New Roman" panose="02020603050405020304" pitchFamily="18" charset="0"/>
                    <a:cs typeface="Times New Roman" panose="02020603050405020304" pitchFamily="18" charset="0"/>
                  </a:rPr>
                  <a:t>4</a:t>
                </a:r>
              </a:p>
            </p:txBody>
          </p:sp>
          <p:sp>
            <p:nvSpPr>
              <p:cNvPr id="19" name="TextBox 18"/>
              <p:cNvSpPr txBox="1"/>
              <p:nvPr/>
            </p:nvSpPr>
            <p:spPr>
              <a:xfrm>
                <a:off x="5047488" y="3364992"/>
                <a:ext cx="3639312" cy="199348"/>
              </a:xfrm>
              <a:prstGeom prst="rect">
                <a:avLst/>
              </a:prstGeom>
              <a:noFill/>
            </p:spPr>
            <p:txBody>
              <a:bodyPr wrap="square" lIns="0" tIns="0" rIns="0" bIns="0" anchor="t">
                <a:spAutoFit/>
              </a:bodyPr>
              <a:lstStyle/>
              <a:p>
                <a:r>
                  <a:rPr sz="1600" b="1" i="0">
                    <a:solidFill>
                      <a:srgbClr val="0C1E36"/>
                    </a:solidFill>
                    <a:latin typeface="Times New Roman" panose="02020603050405020304" pitchFamily="18" charset="0"/>
                    <a:cs typeface="Times New Roman" panose="02020603050405020304" pitchFamily="18" charset="0"/>
                  </a:rPr>
                  <a:t>Load  —  </a:t>
                </a:r>
                <a:r>
                  <a:rPr sz="1400" b="0" i="0">
                    <a:solidFill>
                      <a:srgbClr val="333333"/>
                    </a:solidFill>
                    <a:latin typeface="Times New Roman" panose="02020603050405020304" pitchFamily="18" charset="0"/>
                    <a:cs typeface="Times New Roman" panose="02020603050405020304" pitchFamily="18" charset="0"/>
                  </a:rPr>
                  <a:t>Loads cleaned staging tables into SQLite with FK &amp; unique constraints.</a:t>
                </a:r>
              </a:p>
            </p:txBody>
          </p:sp>
          <p:sp>
            <p:nvSpPr>
              <p:cNvPr id="20" name="Oval 19"/>
              <p:cNvSpPr/>
              <p:nvPr/>
            </p:nvSpPr>
            <p:spPr>
              <a:xfrm>
                <a:off x="4709160" y="3977640"/>
                <a:ext cx="201168" cy="201168"/>
              </a:xfrm>
              <a:prstGeom prst="ellipse">
                <a:avLst/>
              </a:prstGeom>
              <a:solidFill>
                <a:srgbClr val="0C1E3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i="0">
                    <a:solidFill>
                      <a:srgbClr val="FFFFFF"/>
                    </a:solidFill>
                    <a:latin typeface="Times New Roman" panose="02020603050405020304" pitchFamily="18" charset="0"/>
                    <a:cs typeface="Times New Roman" panose="02020603050405020304" pitchFamily="18" charset="0"/>
                  </a:rPr>
                  <a:t>5</a:t>
                </a:r>
              </a:p>
            </p:txBody>
          </p:sp>
          <p:sp>
            <p:nvSpPr>
              <p:cNvPr id="21" name="TextBox 20"/>
              <p:cNvSpPr txBox="1"/>
              <p:nvPr/>
            </p:nvSpPr>
            <p:spPr>
              <a:xfrm>
                <a:off x="5047488" y="3931920"/>
                <a:ext cx="3639312" cy="373778"/>
              </a:xfrm>
              <a:prstGeom prst="rect">
                <a:avLst/>
              </a:prstGeom>
              <a:noFill/>
            </p:spPr>
            <p:txBody>
              <a:bodyPr wrap="square" lIns="0" tIns="0" rIns="0" bIns="0" anchor="t">
                <a:spAutoFit/>
              </a:bodyPr>
              <a:lstStyle/>
              <a:p>
                <a:r>
                  <a:rPr sz="1600" b="1" i="0">
                    <a:solidFill>
                      <a:srgbClr val="0C1E36"/>
                    </a:solidFill>
                    <a:latin typeface="Times New Roman" panose="02020603050405020304" pitchFamily="18" charset="0"/>
                    <a:cs typeface="Times New Roman" panose="02020603050405020304" pitchFamily="18" charset="0"/>
                  </a:rPr>
                  <a:t>Update Daily  —  </a:t>
                </a:r>
                <a:r>
                  <a:rPr sz="1400" b="0" i="0">
                    <a:solidFill>
                      <a:srgbClr val="333333"/>
                    </a:solidFill>
                    <a:latin typeface="Times New Roman" panose="02020603050405020304" pitchFamily="18" charset="0"/>
                    <a:cs typeface="Times New Roman" panose="02020603050405020304" pitchFamily="18" charset="0"/>
                  </a:rPr>
                  <a:t>Fetches new NAVs since last run, appends to fact_nav, audits in etl_metadata.</a:t>
                </a:r>
              </a:p>
            </p:txBody>
          </p:sp>
        </p:grpSp>
      </p:grpSp>
      <p:sp>
        <p:nvSpPr>
          <p:cNvPr id="22" name="TextBox 21"/>
          <p:cNvSpPr txBox="1"/>
          <p:nvPr/>
        </p:nvSpPr>
        <p:spPr>
          <a:xfrm>
            <a:off x="8686800" y="4864608"/>
            <a:ext cx="365760" cy="138499"/>
          </a:xfrm>
          <a:prstGeom prst="rect">
            <a:avLst/>
          </a:prstGeom>
          <a:noFill/>
        </p:spPr>
        <p:txBody>
          <a:bodyPr wrap="square" lIns="0" tIns="0" rIns="0" bIns="0" anchor="t">
            <a:spAutoFit/>
          </a:bodyPr>
          <a:lstStyle/>
          <a:p>
            <a:pPr algn="r"/>
            <a:r>
              <a:rPr sz="900" b="0" i="0">
                <a:solidFill>
                  <a:srgbClr val="8A93A3"/>
                </a:solidFill>
                <a:latin typeface="Times New Roman" panose="02020603050405020304" pitchFamily="18" charset="0"/>
                <a:cs typeface="Times New Roman" panose="02020603050405020304" pitchFamily="18" charset="0"/>
              </a:rPr>
              <a:t>6</a:t>
            </a:r>
          </a:p>
        </p:txBody>
      </p:sp>
      <p:sp>
        <p:nvSpPr>
          <p:cNvPr id="23" name="TextBox 22"/>
          <p:cNvSpPr txBox="1"/>
          <p:nvPr/>
        </p:nvSpPr>
        <p:spPr>
          <a:xfrm>
            <a:off x="457200" y="4864608"/>
            <a:ext cx="5486400" cy="138499"/>
          </a:xfrm>
          <a:prstGeom prst="rect">
            <a:avLst/>
          </a:prstGeom>
          <a:noFill/>
        </p:spPr>
        <p:txBody>
          <a:bodyPr wrap="square" lIns="0" tIns="0" rIns="0" bIns="0" anchor="t">
            <a:spAutoFit/>
          </a:bodyPr>
          <a:lstStyle/>
          <a:p>
            <a:r>
              <a:rPr sz="900" b="0" i="0">
                <a:solidFill>
                  <a:srgbClr val="8A93A3"/>
                </a:solidFill>
                <a:latin typeface="Times New Roman" panose="02020603050405020304" pitchFamily="18" charset="0"/>
                <a:cs typeface="Times New Roman" panose="02020603050405020304" pitchFamily="18" charset="0"/>
              </a:rPr>
              <a:t>BlueStock Fintech | Mutual Fund Analytics Platform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0292"/>
            <a:ext cx="9144000" cy="51435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457200" y="320040"/>
            <a:ext cx="5486400" cy="169277"/>
          </a:xfrm>
          <a:prstGeom prst="rect">
            <a:avLst/>
          </a:prstGeom>
          <a:noFill/>
        </p:spPr>
        <p:txBody>
          <a:bodyPr wrap="square" lIns="0" tIns="0" rIns="0" bIns="0" anchor="t">
            <a:spAutoFit/>
          </a:bodyPr>
          <a:lstStyle/>
          <a:p>
            <a:r>
              <a:rPr sz="1100" b="1" i="0" spc="150">
                <a:solidFill>
                  <a:srgbClr val="F58220"/>
                </a:solidFill>
                <a:latin typeface="Times New Roman" panose="02020603050405020304" pitchFamily="18" charset="0"/>
                <a:cs typeface="Times New Roman" panose="02020603050405020304" pitchFamily="18" charset="0"/>
              </a:rPr>
              <a:t>PRODUCT WALKTHROUGH</a:t>
            </a:r>
          </a:p>
        </p:txBody>
      </p:sp>
      <p:sp>
        <p:nvSpPr>
          <p:cNvPr id="4" name="TextBox 3"/>
          <p:cNvSpPr txBox="1"/>
          <p:nvPr/>
        </p:nvSpPr>
        <p:spPr>
          <a:xfrm>
            <a:off x="457200" y="566928"/>
            <a:ext cx="8229600" cy="369332"/>
          </a:xfrm>
          <a:prstGeom prst="rect">
            <a:avLst/>
          </a:prstGeom>
          <a:noFill/>
        </p:spPr>
        <p:txBody>
          <a:bodyPr wrap="square" lIns="0" tIns="0" rIns="0" bIns="0" anchor="t">
            <a:spAutoFit/>
          </a:bodyPr>
          <a:lstStyle/>
          <a:p>
            <a:r>
              <a:rPr sz="2400" b="1" i="0">
                <a:solidFill>
                  <a:srgbClr val="0C1E36"/>
                </a:solidFill>
                <a:latin typeface="Times New Roman" panose="02020603050405020304" pitchFamily="18" charset="0"/>
                <a:cs typeface="Times New Roman" panose="02020603050405020304" pitchFamily="18" charset="0"/>
              </a:rPr>
              <a:t>Dashboard Overview (Pages 1–3)</a:t>
            </a:r>
          </a:p>
        </p:txBody>
      </p:sp>
      <p:sp>
        <p:nvSpPr>
          <p:cNvPr id="5" name="TextBox 4"/>
          <p:cNvSpPr txBox="1"/>
          <p:nvPr/>
        </p:nvSpPr>
        <p:spPr>
          <a:xfrm>
            <a:off x="605396" y="1271016"/>
            <a:ext cx="3840480" cy="2230226"/>
          </a:xfrm>
          <a:prstGeom prst="rect">
            <a:avLst/>
          </a:prstGeom>
          <a:noFill/>
        </p:spPr>
        <p:txBody>
          <a:bodyPr wrap="square" lIns="0" tIns="0" rIns="0" bIns="0" anchor="t">
            <a:spAutoFit/>
          </a:bodyPr>
          <a:lstStyle/>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Dashboard.  </a:t>
            </a:r>
            <a:r>
              <a:rPr sz="1400" b="0" i="0">
                <a:solidFill>
                  <a:srgbClr val="333333"/>
                </a:solidFill>
                <a:latin typeface="Times New Roman" panose="02020603050405020304" pitchFamily="18" charset="0"/>
                <a:cs typeface="Times New Roman" panose="02020603050405020304" pitchFamily="18" charset="0"/>
              </a:rPr>
              <a:t>Summarizes overall mutual fund assets, AMC market shares, and category splits.</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NAV Analytics.  </a:t>
            </a:r>
            <a:r>
              <a:rPr sz="1400" b="0" i="0">
                <a:solidFill>
                  <a:srgbClr val="333333"/>
                </a:solidFill>
                <a:latin typeface="Times New Roman" panose="02020603050405020304" pitchFamily="18" charset="0"/>
                <a:cs typeface="Times New Roman" panose="02020603050405020304" pitchFamily="18" charset="0"/>
              </a:rPr>
              <a:t>Period selectors (1M/6M/1Y/All), rolling returns, drawdowns, calendar heatmaps.</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Performance.  </a:t>
            </a:r>
            <a:r>
              <a:rPr sz="1400" b="0" i="0">
                <a:solidFill>
                  <a:srgbClr val="333333"/>
                </a:solidFill>
                <a:latin typeface="Times New Roman" panose="02020603050405020304" pitchFamily="18" charset="0"/>
                <a:cs typeface="Times New Roman" panose="02020603050405020304" pitchFamily="18" charset="0"/>
              </a:rPr>
              <a:t>Risk-return comparisons, benchmark tracking, alpha metrics.</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KPIs shown.  </a:t>
            </a:r>
            <a:r>
              <a:rPr sz="1400" b="0" i="0">
                <a:solidFill>
                  <a:srgbClr val="333333"/>
                </a:solidFill>
                <a:latin typeface="Times New Roman" panose="02020603050405020304" pitchFamily="18" charset="0"/>
                <a:cs typeface="Times New Roman" panose="02020603050405020304" pitchFamily="18" charset="0"/>
              </a:rPr>
              <a:t>Total Industry AUM, Active Fund Houses, Category Splits.</a:t>
            </a:r>
          </a:p>
        </p:txBody>
      </p:sp>
      <p:sp>
        <p:nvSpPr>
          <p:cNvPr id="6" name="Rounded Rectangle 5"/>
          <p:cNvSpPr/>
          <p:nvPr/>
        </p:nvSpPr>
        <p:spPr>
          <a:xfrm>
            <a:off x="457200" y="4160520"/>
            <a:ext cx="3840480" cy="548640"/>
          </a:xfrm>
          <a:prstGeom prst="roundRect">
            <a:avLst>
              <a:gd name="adj" fmla="val 12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050" b="0" i="1">
                <a:solidFill>
                  <a:srgbClr val="0C1E36"/>
                </a:solidFill>
                <a:latin typeface="Times New Roman" panose="02020603050405020304" pitchFamily="18" charset="0"/>
                <a:cs typeface="Times New Roman" panose="02020603050405020304" pitchFamily="18" charset="0"/>
              </a:rPr>
              <a:t>Gives advisors a single-glance snapshot of industry scale and fund positioning.</a:t>
            </a:r>
          </a:p>
        </p:txBody>
      </p:sp>
      <p:pic>
        <p:nvPicPr>
          <p:cNvPr id="7" name="Picture 6" descr="page_dashboard.png"/>
          <p:cNvPicPr>
            <a:picLocks noChangeAspect="1"/>
          </p:cNvPicPr>
          <p:nvPr/>
        </p:nvPicPr>
        <p:blipFill>
          <a:blip r:embed="rId2"/>
          <a:stretch>
            <a:fillRect/>
          </a:stretch>
        </p:blipFill>
        <p:spPr>
          <a:xfrm>
            <a:off x="4445876" y="1083564"/>
            <a:ext cx="4606684" cy="3008376"/>
          </a:xfrm>
          <a:prstGeom prst="rect">
            <a:avLst/>
          </a:prstGeom>
          <a:ln w="9525">
            <a:solidFill>
              <a:srgbClr val="E2E6EC"/>
            </a:solidFill>
          </a:ln>
          <a:effectLst>
            <a:outerShdw blurRad="90000" dist="30000" dir="5400000" rotWithShape="0">
              <a:srgbClr val="1A1A1A">
                <a:alpha val="25000"/>
              </a:srgbClr>
            </a:outerShdw>
          </a:effectLst>
        </p:spPr>
      </p:pic>
      <p:sp>
        <p:nvSpPr>
          <p:cNvPr id="8" name="TextBox 7"/>
          <p:cNvSpPr txBox="1"/>
          <p:nvPr/>
        </p:nvSpPr>
        <p:spPr>
          <a:xfrm>
            <a:off x="4663440" y="4146804"/>
            <a:ext cx="4389120" cy="153888"/>
          </a:xfrm>
          <a:prstGeom prst="rect">
            <a:avLst/>
          </a:prstGeom>
          <a:noFill/>
        </p:spPr>
        <p:txBody>
          <a:bodyPr wrap="square" lIns="0" tIns="0" rIns="0" bIns="0" anchor="t">
            <a:spAutoFit/>
          </a:bodyPr>
          <a:lstStyle/>
          <a:p>
            <a:pPr algn="ctr"/>
            <a:r>
              <a:rPr sz="1000" b="0" i="1">
                <a:solidFill>
                  <a:srgbClr val="8A93A3"/>
                </a:solidFill>
                <a:latin typeface="Times New Roman" panose="02020603050405020304" pitchFamily="18" charset="0"/>
                <a:cs typeface="Times New Roman" panose="02020603050405020304" pitchFamily="18" charset="0"/>
              </a:rPr>
              <a:t>Dashboard — Overview page</a:t>
            </a:r>
          </a:p>
        </p:txBody>
      </p:sp>
      <p:sp>
        <p:nvSpPr>
          <p:cNvPr id="9" name="TextBox 8"/>
          <p:cNvSpPr txBox="1"/>
          <p:nvPr/>
        </p:nvSpPr>
        <p:spPr>
          <a:xfrm>
            <a:off x="8686800" y="4864608"/>
            <a:ext cx="365760" cy="138499"/>
          </a:xfrm>
          <a:prstGeom prst="rect">
            <a:avLst/>
          </a:prstGeom>
          <a:noFill/>
        </p:spPr>
        <p:txBody>
          <a:bodyPr wrap="square" lIns="0" tIns="0" rIns="0" bIns="0" anchor="t">
            <a:spAutoFit/>
          </a:bodyPr>
          <a:lstStyle/>
          <a:p>
            <a:pPr algn="r"/>
            <a:r>
              <a:rPr sz="900" b="0" i="0">
                <a:solidFill>
                  <a:srgbClr val="8A93A3"/>
                </a:solidFill>
                <a:latin typeface="Times New Roman" panose="02020603050405020304" pitchFamily="18" charset="0"/>
                <a:cs typeface="Times New Roman" panose="02020603050405020304" pitchFamily="18" charset="0"/>
              </a:rPr>
              <a:t>7</a:t>
            </a:r>
          </a:p>
        </p:txBody>
      </p:sp>
      <p:sp>
        <p:nvSpPr>
          <p:cNvPr id="10" name="TextBox 9"/>
          <p:cNvSpPr txBox="1"/>
          <p:nvPr/>
        </p:nvSpPr>
        <p:spPr>
          <a:xfrm>
            <a:off x="457200" y="4864608"/>
            <a:ext cx="5486400" cy="138499"/>
          </a:xfrm>
          <a:prstGeom prst="rect">
            <a:avLst/>
          </a:prstGeom>
          <a:noFill/>
        </p:spPr>
        <p:txBody>
          <a:bodyPr wrap="square" lIns="0" tIns="0" rIns="0" bIns="0" anchor="t">
            <a:spAutoFit/>
          </a:bodyPr>
          <a:lstStyle/>
          <a:p>
            <a:r>
              <a:rPr sz="900" b="0" i="0">
                <a:solidFill>
                  <a:srgbClr val="8A93A3"/>
                </a:solidFill>
                <a:latin typeface="Times New Roman" panose="02020603050405020304" pitchFamily="18" charset="0"/>
                <a:cs typeface="Times New Roman" panose="02020603050405020304" pitchFamily="18" charset="0"/>
              </a:rPr>
              <a:t>BlueStock Fintech | Mutual Fund Analytics Platform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0292"/>
            <a:ext cx="9144000" cy="51435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457200" y="320040"/>
            <a:ext cx="5486400" cy="169277"/>
          </a:xfrm>
          <a:prstGeom prst="rect">
            <a:avLst/>
          </a:prstGeom>
          <a:noFill/>
        </p:spPr>
        <p:txBody>
          <a:bodyPr wrap="square" lIns="0" tIns="0" rIns="0" bIns="0" anchor="t">
            <a:spAutoFit/>
          </a:bodyPr>
          <a:lstStyle/>
          <a:p>
            <a:r>
              <a:rPr sz="1100" b="1" i="0" spc="150">
                <a:solidFill>
                  <a:srgbClr val="F58220"/>
                </a:solidFill>
                <a:latin typeface="Times New Roman" panose="02020603050405020304" pitchFamily="18" charset="0"/>
                <a:cs typeface="Times New Roman" panose="02020603050405020304" pitchFamily="18" charset="0"/>
              </a:rPr>
              <a:t>PRODUCT WALKTHROUGH</a:t>
            </a:r>
          </a:p>
        </p:txBody>
      </p:sp>
      <p:sp>
        <p:nvSpPr>
          <p:cNvPr id="4" name="TextBox 3"/>
          <p:cNvSpPr txBox="1"/>
          <p:nvPr/>
        </p:nvSpPr>
        <p:spPr>
          <a:xfrm>
            <a:off x="457200" y="566928"/>
            <a:ext cx="8229600" cy="369332"/>
          </a:xfrm>
          <a:prstGeom prst="rect">
            <a:avLst/>
          </a:prstGeom>
          <a:noFill/>
        </p:spPr>
        <p:txBody>
          <a:bodyPr wrap="square" lIns="0" tIns="0" rIns="0" bIns="0" anchor="t">
            <a:spAutoFit/>
          </a:bodyPr>
          <a:lstStyle/>
          <a:p>
            <a:r>
              <a:rPr sz="2400" b="1" i="0">
                <a:solidFill>
                  <a:srgbClr val="0C1E36"/>
                </a:solidFill>
                <a:latin typeface="Times New Roman" panose="02020603050405020304" pitchFamily="18" charset="0"/>
                <a:cs typeface="Times New Roman" panose="02020603050405020304" pitchFamily="18" charset="0"/>
              </a:rPr>
              <a:t>Dashboard Pages 4–6</a:t>
            </a:r>
          </a:p>
        </p:txBody>
      </p:sp>
      <p:sp>
        <p:nvSpPr>
          <p:cNvPr id="5" name="TextBox 4"/>
          <p:cNvSpPr txBox="1"/>
          <p:nvPr/>
        </p:nvSpPr>
        <p:spPr>
          <a:xfrm>
            <a:off x="614855" y="1271016"/>
            <a:ext cx="3840480" cy="2230226"/>
          </a:xfrm>
          <a:prstGeom prst="rect">
            <a:avLst/>
          </a:prstGeom>
          <a:noFill/>
        </p:spPr>
        <p:txBody>
          <a:bodyPr wrap="square" lIns="0" tIns="0" rIns="0" bIns="0" anchor="t">
            <a:spAutoFit/>
          </a:bodyPr>
          <a:lstStyle/>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Risk Analytics.  </a:t>
            </a:r>
            <a:r>
              <a:rPr sz="1400" b="0" i="0">
                <a:solidFill>
                  <a:srgbClr val="333333"/>
                </a:solidFill>
                <a:latin typeface="Times New Roman" panose="02020603050405020304" pitchFamily="18" charset="0"/>
                <a:cs typeface="Times New Roman" panose="02020603050405020304" pitchFamily="18" charset="0"/>
              </a:rPr>
              <a:t>Standard deviation bounds, beta values, Sharpe/Sortino comparisons.</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Investor Analytics.  </a:t>
            </a:r>
            <a:r>
              <a:rPr sz="1400" b="0" i="0">
                <a:solidFill>
                  <a:srgbClr val="333333"/>
                </a:solidFill>
                <a:latin typeface="Times New Roman" panose="02020603050405020304" pitchFamily="18" charset="0"/>
                <a:cs typeface="Times New Roman" panose="02020603050405020304" pitchFamily="18" charset="0"/>
              </a:rPr>
              <a:t>Investor demographics, geography, and saving channels.</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SIP &amp; Market Trends.  </a:t>
            </a:r>
            <a:r>
              <a:rPr sz="1400" b="0" i="0">
                <a:solidFill>
                  <a:srgbClr val="333333"/>
                </a:solidFill>
                <a:latin typeface="Times New Roman" panose="02020603050405020304" pitchFamily="18" charset="0"/>
                <a:cs typeface="Times New Roman" panose="02020603050405020304" pitchFamily="18" charset="0"/>
              </a:rPr>
              <a:t>Retail SIP patterns vs. broader market indices.</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Visuals.  </a:t>
            </a:r>
            <a:r>
              <a:rPr sz="1400" b="0" i="0">
                <a:solidFill>
                  <a:srgbClr val="333333"/>
                </a:solidFill>
                <a:latin typeface="Times New Roman" panose="02020603050405020304" pitchFamily="18" charset="0"/>
                <a:cs typeface="Times New Roman" panose="02020603050405020304" pitchFamily="18" charset="0"/>
              </a:rPr>
              <a:t>Volatility vs. return scatter, transaction volume by state, SIP vs. Nifty overlay.</a:t>
            </a:r>
          </a:p>
        </p:txBody>
      </p:sp>
      <p:sp>
        <p:nvSpPr>
          <p:cNvPr id="6" name="Rounded Rectangle 5"/>
          <p:cNvSpPr/>
          <p:nvPr/>
        </p:nvSpPr>
        <p:spPr>
          <a:xfrm>
            <a:off x="457200" y="4160520"/>
            <a:ext cx="3840480" cy="548640"/>
          </a:xfrm>
          <a:prstGeom prst="roundRect">
            <a:avLst>
              <a:gd name="adj" fmla="val 12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050" b="0" i="1">
                <a:solidFill>
                  <a:srgbClr val="0C1E36"/>
                </a:solidFill>
                <a:latin typeface="Times New Roman" panose="02020603050405020304" pitchFamily="18" charset="0"/>
                <a:cs typeface="Times New Roman" panose="02020603050405020304" pitchFamily="18" charset="0"/>
              </a:rPr>
              <a:t>Surfaces which funds carry disproportionate risk relative to their returns.</a:t>
            </a:r>
          </a:p>
        </p:txBody>
      </p:sp>
      <p:pic>
        <p:nvPicPr>
          <p:cNvPr id="7" name="Picture 6" descr="page_risk_analytics.png"/>
          <p:cNvPicPr>
            <a:picLocks noChangeAspect="1"/>
          </p:cNvPicPr>
          <p:nvPr/>
        </p:nvPicPr>
        <p:blipFill>
          <a:blip r:embed="rId2"/>
          <a:stretch>
            <a:fillRect/>
          </a:stretch>
        </p:blipFill>
        <p:spPr>
          <a:xfrm>
            <a:off x="4455334" y="594360"/>
            <a:ext cx="4597225" cy="3396996"/>
          </a:xfrm>
          <a:prstGeom prst="rect">
            <a:avLst/>
          </a:prstGeom>
          <a:ln w="9525">
            <a:solidFill>
              <a:srgbClr val="E2E6EC"/>
            </a:solidFill>
          </a:ln>
          <a:effectLst>
            <a:outerShdw blurRad="90000" dist="30000" dir="5400000" rotWithShape="0">
              <a:srgbClr val="1A1A1A">
                <a:alpha val="25000"/>
              </a:srgbClr>
            </a:outerShdw>
          </a:effectLst>
        </p:spPr>
      </p:pic>
      <p:sp>
        <p:nvSpPr>
          <p:cNvPr id="8" name="TextBox 7"/>
          <p:cNvSpPr txBox="1"/>
          <p:nvPr/>
        </p:nvSpPr>
        <p:spPr>
          <a:xfrm>
            <a:off x="4663440" y="4146804"/>
            <a:ext cx="4389120" cy="153888"/>
          </a:xfrm>
          <a:prstGeom prst="rect">
            <a:avLst/>
          </a:prstGeom>
          <a:noFill/>
        </p:spPr>
        <p:txBody>
          <a:bodyPr wrap="square" lIns="0" tIns="0" rIns="0" bIns="0" anchor="t">
            <a:spAutoFit/>
          </a:bodyPr>
          <a:lstStyle/>
          <a:p>
            <a:pPr algn="ctr"/>
            <a:r>
              <a:rPr sz="1000" b="0" i="1">
                <a:solidFill>
                  <a:srgbClr val="8A93A3"/>
                </a:solidFill>
                <a:latin typeface="Times New Roman" panose="02020603050405020304" pitchFamily="18" charset="0"/>
                <a:cs typeface="Times New Roman" panose="02020603050405020304" pitchFamily="18" charset="0"/>
              </a:rPr>
              <a:t>Risk Analytics page</a:t>
            </a:r>
          </a:p>
        </p:txBody>
      </p:sp>
      <p:sp>
        <p:nvSpPr>
          <p:cNvPr id="9" name="TextBox 8"/>
          <p:cNvSpPr txBox="1"/>
          <p:nvPr/>
        </p:nvSpPr>
        <p:spPr>
          <a:xfrm>
            <a:off x="8686800" y="4864608"/>
            <a:ext cx="365760" cy="138499"/>
          </a:xfrm>
          <a:prstGeom prst="rect">
            <a:avLst/>
          </a:prstGeom>
          <a:noFill/>
        </p:spPr>
        <p:txBody>
          <a:bodyPr wrap="square" lIns="0" tIns="0" rIns="0" bIns="0" anchor="t">
            <a:spAutoFit/>
          </a:bodyPr>
          <a:lstStyle/>
          <a:p>
            <a:pPr algn="r"/>
            <a:r>
              <a:rPr sz="900" b="0" i="0">
                <a:solidFill>
                  <a:srgbClr val="8A93A3"/>
                </a:solidFill>
                <a:latin typeface="Times New Roman" panose="02020603050405020304" pitchFamily="18" charset="0"/>
                <a:cs typeface="Times New Roman" panose="02020603050405020304" pitchFamily="18" charset="0"/>
              </a:rPr>
              <a:t>8</a:t>
            </a:r>
          </a:p>
        </p:txBody>
      </p:sp>
      <p:sp>
        <p:nvSpPr>
          <p:cNvPr id="10" name="TextBox 9"/>
          <p:cNvSpPr txBox="1"/>
          <p:nvPr/>
        </p:nvSpPr>
        <p:spPr>
          <a:xfrm>
            <a:off x="457200" y="4864608"/>
            <a:ext cx="5486400" cy="138499"/>
          </a:xfrm>
          <a:prstGeom prst="rect">
            <a:avLst/>
          </a:prstGeom>
          <a:noFill/>
        </p:spPr>
        <p:txBody>
          <a:bodyPr wrap="square" lIns="0" tIns="0" rIns="0" bIns="0" anchor="t">
            <a:spAutoFit/>
          </a:bodyPr>
          <a:lstStyle/>
          <a:p>
            <a:r>
              <a:rPr sz="900" b="0" i="0">
                <a:solidFill>
                  <a:srgbClr val="8A93A3"/>
                </a:solidFill>
                <a:latin typeface="Times New Roman" panose="02020603050405020304" pitchFamily="18" charset="0"/>
                <a:cs typeface="Times New Roman" panose="02020603050405020304" pitchFamily="18" charset="0"/>
              </a:rPr>
              <a:t>BlueStock Fintech | Mutual Fund Analytics Platform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457200" y="320040"/>
            <a:ext cx="5486400" cy="169277"/>
          </a:xfrm>
          <a:prstGeom prst="rect">
            <a:avLst/>
          </a:prstGeom>
          <a:noFill/>
        </p:spPr>
        <p:txBody>
          <a:bodyPr wrap="square" lIns="0" tIns="0" rIns="0" bIns="0" anchor="t">
            <a:spAutoFit/>
          </a:bodyPr>
          <a:lstStyle/>
          <a:p>
            <a:r>
              <a:rPr sz="1100" b="1" i="0" spc="150">
                <a:solidFill>
                  <a:srgbClr val="F58220"/>
                </a:solidFill>
                <a:latin typeface="Times New Roman" panose="02020603050405020304" pitchFamily="18" charset="0"/>
                <a:cs typeface="Times New Roman" panose="02020603050405020304" pitchFamily="18" charset="0"/>
              </a:rPr>
              <a:t>PRODUCT WALKTHROUGH</a:t>
            </a:r>
          </a:p>
        </p:txBody>
      </p:sp>
      <p:sp>
        <p:nvSpPr>
          <p:cNvPr id="4" name="TextBox 3"/>
          <p:cNvSpPr txBox="1"/>
          <p:nvPr/>
        </p:nvSpPr>
        <p:spPr>
          <a:xfrm>
            <a:off x="457200" y="566928"/>
            <a:ext cx="8229600" cy="369332"/>
          </a:xfrm>
          <a:prstGeom prst="rect">
            <a:avLst/>
          </a:prstGeom>
          <a:noFill/>
        </p:spPr>
        <p:txBody>
          <a:bodyPr wrap="square" lIns="0" tIns="0" rIns="0" bIns="0" anchor="t">
            <a:spAutoFit/>
          </a:bodyPr>
          <a:lstStyle/>
          <a:p>
            <a:r>
              <a:rPr sz="2400" b="1" i="0">
                <a:solidFill>
                  <a:srgbClr val="0C1E36"/>
                </a:solidFill>
                <a:latin typeface="Times New Roman" panose="02020603050405020304" pitchFamily="18" charset="0"/>
                <a:cs typeface="Times New Roman" panose="02020603050405020304" pitchFamily="18" charset="0"/>
              </a:rPr>
              <a:t>Dashboard Pages 7–9</a:t>
            </a:r>
          </a:p>
        </p:txBody>
      </p:sp>
      <p:sp>
        <p:nvSpPr>
          <p:cNvPr id="5" name="TextBox 4"/>
          <p:cNvSpPr txBox="1"/>
          <p:nvPr/>
        </p:nvSpPr>
        <p:spPr>
          <a:xfrm>
            <a:off x="640080" y="1238066"/>
            <a:ext cx="3840480" cy="2230226"/>
          </a:xfrm>
          <a:prstGeom prst="rect">
            <a:avLst/>
          </a:prstGeom>
          <a:noFill/>
        </p:spPr>
        <p:txBody>
          <a:bodyPr wrap="square" lIns="0" tIns="0" rIns="0" bIns="0" anchor="t">
            <a:spAutoFit/>
          </a:bodyPr>
          <a:lstStyle/>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Portfolio Holdings.  </a:t>
            </a:r>
            <a:r>
              <a:rPr sz="1400" b="0" i="0">
                <a:solidFill>
                  <a:srgbClr val="333333"/>
                </a:solidFill>
                <a:latin typeface="Times New Roman" panose="02020603050405020304" pitchFamily="18" charset="0"/>
                <a:cs typeface="Times New Roman" panose="02020603050405020304" pitchFamily="18" charset="0"/>
              </a:rPr>
              <a:t>Stock allocation, concentration risk, and sector exposure.</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Monte Carlo Simulation.  </a:t>
            </a:r>
            <a:r>
              <a:rPr sz="1400" b="0" i="0">
                <a:solidFill>
                  <a:srgbClr val="333333"/>
                </a:solidFill>
                <a:latin typeface="Times New Roman" panose="02020603050405020304" pitchFamily="18" charset="0"/>
                <a:cs typeface="Times New Roman" panose="02020603050405020304" pitchFamily="18" charset="0"/>
              </a:rPr>
              <a:t>Projects future value distributions using probability simulations.</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Portfolio Optimizer.  </a:t>
            </a:r>
            <a:r>
              <a:rPr sz="1400" b="0" i="0">
                <a:solidFill>
                  <a:srgbClr val="333333"/>
                </a:solidFill>
                <a:latin typeface="Times New Roman" panose="02020603050405020304" pitchFamily="18" charset="0"/>
                <a:cs typeface="Times New Roman" panose="02020603050405020304" pitchFamily="18" charset="0"/>
              </a:rPr>
              <a:t>Computes asset weights to maximize risk-adjusted efficiency.</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Key output.  </a:t>
            </a:r>
            <a:r>
              <a:rPr sz="1400" b="0" i="0">
                <a:solidFill>
                  <a:srgbClr val="333333"/>
                </a:solidFill>
                <a:latin typeface="Times New Roman" panose="02020603050405020304" pitchFamily="18" charset="0"/>
                <a:cs typeface="Times New Roman" panose="02020603050405020304" pitchFamily="18" charset="0"/>
              </a:rPr>
              <a:t>Efficient Frontier scatter, highlighting Max Sharpe &amp; Min Volatility portfolios.</a:t>
            </a:r>
          </a:p>
        </p:txBody>
      </p:sp>
      <p:sp>
        <p:nvSpPr>
          <p:cNvPr id="6" name="Rounded Rectangle 5"/>
          <p:cNvSpPr/>
          <p:nvPr/>
        </p:nvSpPr>
        <p:spPr>
          <a:xfrm>
            <a:off x="457200" y="4160520"/>
            <a:ext cx="3840480" cy="548640"/>
          </a:xfrm>
          <a:prstGeom prst="roundRect">
            <a:avLst>
              <a:gd name="adj" fmla="val 12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050" b="0" i="1">
                <a:solidFill>
                  <a:srgbClr val="0C1E36"/>
                </a:solidFill>
                <a:latin typeface="Times New Roman" panose="02020603050405020304" pitchFamily="18" charset="0"/>
                <a:cs typeface="Times New Roman" panose="02020603050405020304" pitchFamily="18" charset="0"/>
              </a:rPr>
              <a:t>Turns Modern Portfolio Theory into an interactive, advisor-ready tool.</a:t>
            </a:r>
          </a:p>
        </p:txBody>
      </p:sp>
      <p:pic>
        <p:nvPicPr>
          <p:cNvPr id="7" name="Picture 6" descr="page_portfolio_optimizer.png"/>
          <p:cNvPicPr>
            <a:picLocks noChangeAspect="1"/>
          </p:cNvPicPr>
          <p:nvPr/>
        </p:nvPicPr>
        <p:blipFill>
          <a:blip r:embed="rId2"/>
          <a:stretch>
            <a:fillRect/>
          </a:stretch>
        </p:blipFill>
        <p:spPr>
          <a:xfrm>
            <a:off x="4572000" y="768096"/>
            <a:ext cx="4480560" cy="3323844"/>
          </a:xfrm>
          <a:prstGeom prst="rect">
            <a:avLst/>
          </a:prstGeom>
          <a:ln w="9525">
            <a:solidFill>
              <a:srgbClr val="E2E6EC"/>
            </a:solidFill>
          </a:ln>
          <a:effectLst>
            <a:outerShdw blurRad="90000" dist="30000" dir="5400000" rotWithShape="0">
              <a:srgbClr val="1A1A1A">
                <a:alpha val="25000"/>
              </a:srgbClr>
            </a:outerShdw>
          </a:effectLst>
        </p:spPr>
      </p:pic>
      <p:sp>
        <p:nvSpPr>
          <p:cNvPr id="8" name="TextBox 7"/>
          <p:cNvSpPr txBox="1"/>
          <p:nvPr/>
        </p:nvSpPr>
        <p:spPr>
          <a:xfrm>
            <a:off x="4663440" y="4146804"/>
            <a:ext cx="4389120" cy="153888"/>
          </a:xfrm>
          <a:prstGeom prst="rect">
            <a:avLst/>
          </a:prstGeom>
          <a:noFill/>
        </p:spPr>
        <p:txBody>
          <a:bodyPr wrap="square" lIns="0" tIns="0" rIns="0" bIns="0" anchor="t">
            <a:spAutoFit/>
          </a:bodyPr>
          <a:lstStyle/>
          <a:p>
            <a:pPr algn="ctr"/>
            <a:r>
              <a:rPr sz="1000" b="0" i="1">
                <a:solidFill>
                  <a:srgbClr val="8A93A3"/>
                </a:solidFill>
                <a:latin typeface="Times New Roman" panose="02020603050405020304" pitchFamily="18" charset="0"/>
                <a:cs typeface="Times New Roman" panose="02020603050405020304" pitchFamily="18" charset="0"/>
              </a:rPr>
              <a:t>Portfolio Optimizer page</a:t>
            </a:r>
          </a:p>
        </p:txBody>
      </p:sp>
      <p:sp>
        <p:nvSpPr>
          <p:cNvPr id="9" name="TextBox 8"/>
          <p:cNvSpPr txBox="1"/>
          <p:nvPr/>
        </p:nvSpPr>
        <p:spPr>
          <a:xfrm>
            <a:off x="8686800" y="4864608"/>
            <a:ext cx="365760" cy="138499"/>
          </a:xfrm>
          <a:prstGeom prst="rect">
            <a:avLst/>
          </a:prstGeom>
          <a:noFill/>
        </p:spPr>
        <p:txBody>
          <a:bodyPr wrap="square" lIns="0" tIns="0" rIns="0" bIns="0" anchor="t">
            <a:spAutoFit/>
          </a:bodyPr>
          <a:lstStyle/>
          <a:p>
            <a:pPr algn="r"/>
            <a:r>
              <a:rPr sz="900" b="0" i="0">
                <a:solidFill>
                  <a:srgbClr val="8A93A3"/>
                </a:solidFill>
                <a:latin typeface="Times New Roman" panose="02020603050405020304" pitchFamily="18" charset="0"/>
                <a:cs typeface="Times New Roman" panose="02020603050405020304" pitchFamily="18" charset="0"/>
              </a:rPr>
              <a:t>9</a:t>
            </a:r>
          </a:p>
        </p:txBody>
      </p:sp>
      <p:sp>
        <p:nvSpPr>
          <p:cNvPr id="10" name="TextBox 9"/>
          <p:cNvSpPr txBox="1"/>
          <p:nvPr/>
        </p:nvSpPr>
        <p:spPr>
          <a:xfrm>
            <a:off x="457200" y="4864608"/>
            <a:ext cx="5486400" cy="138499"/>
          </a:xfrm>
          <a:prstGeom prst="rect">
            <a:avLst/>
          </a:prstGeom>
          <a:noFill/>
        </p:spPr>
        <p:txBody>
          <a:bodyPr wrap="square" lIns="0" tIns="0" rIns="0" bIns="0" anchor="t">
            <a:spAutoFit/>
          </a:bodyPr>
          <a:lstStyle/>
          <a:p>
            <a:r>
              <a:rPr sz="900" b="0" i="0">
                <a:solidFill>
                  <a:srgbClr val="8A93A3"/>
                </a:solidFill>
                <a:latin typeface="Times New Roman" panose="02020603050405020304" pitchFamily="18" charset="0"/>
                <a:cs typeface="Times New Roman" panose="02020603050405020304" pitchFamily="18" charset="0"/>
              </a:rPr>
              <a:t>BlueStock Fintech | Mutual Fund Analytics Platform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457200" y="320040"/>
            <a:ext cx="5486400" cy="169277"/>
          </a:xfrm>
          <a:prstGeom prst="rect">
            <a:avLst/>
          </a:prstGeom>
          <a:noFill/>
        </p:spPr>
        <p:txBody>
          <a:bodyPr wrap="square" lIns="0" tIns="0" rIns="0" bIns="0" anchor="t">
            <a:spAutoFit/>
          </a:bodyPr>
          <a:lstStyle/>
          <a:p>
            <a:r>
              <a:rPr sz="1100" b="1" i="0" spc="150">
                <a:solidFill>
                  <a:srgbClr val="F58220"/>
                </a:solidFill>
                <a:latin typeface="Times New Roman" panose="02020603050405020304" pitchFamily="18" charset="0"/>
                <a:cs typeface="Times New Roman" panose="02020603050405020304" pitchFamily="18" charset="0"/>
              </a:rPr>
              <a:t>PRODUCT WALKTHROUGH</a:t>
            </a:r>
          </a:p>
        </p:txBody>
      </p:sp>
      <p:sp>
        <p:nvSpPr>
          <p:cNvPr id="4" name="TextBox 3"/>
          <p:cNvSpPr txBox="1"/>
          <p:nvPr/>
        </p:nvSpPr>
        <p:spPr>
          <a:xfrm>
            <a:off x="457200" y="566928"/>
            <a:ext cx="8229600" cy="369332"/>
          </a:xfrm>
          <a:prstGeom prst="rect">
            <a:avLst/>
          </a:prstGeom>
          <a:noFill/>
        </p:spPr>
        <p:txBody>
          <a:bodyPr wrap="square" lIns="0" tIns="0" rIns="0" bIns="0" anchor="t">
            <a:spAutoFit/>
          </a:bodyPr>
          <a:lstStyle/>
          <a:p>
            <a:r>
              <a:rPr sz="2400" b="1" i="0">
                <a:solidFill>
                  <a:srgbClr val="0C1E36"/>
                </a:solidFill>
                <a:latin typeface="Times New Roman" panose="02020603050405020304" pitchFamily="18" charset="0"/>
                <a:cs typeface="Times New Roman" panose="02020603050405020304" pitchFamily="18" charset="0"/>
              </a:rPr>
              <a:t>Dashboard Pages 10–12</a:t>
            </a:r>
          </a:p>
        </p:txBody>
      </p:sp>
      <p:sp>
        <p:nvSpPr>
          <p:cNvPr id="5" name="TextBox 4"/>
          <p:cNvSpPr txBox="1"/>
          <p:nvPr/>
        </p:nvSpPr>
        <p:spPr>
          <a:xfrm>
            <a:off x="640081" y="1292930"/>
            <a:ext cx="3840480" cy="2230226"/>
          </a:xfrm>
          <a:prstGeom prst="rect">
            <a:avLst/>
          </a:prstGeom>
          <a:noFill/>
        </p:spPr>
        <p:txBody>
          <a:bodyPr wrap="square" lIns="0" tIns="0" rIns="0" bIns="0" anchor="t">
            <a:spAutoFit/>
          </a:bodyPr>
          <a:lstStyle/>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Fund Recommender.  </a:t>
            </a:r>
            <a:r>
              <a:rPr sz="1400" b="0" i="0">
                <a:solidFill>
                  <a:srgbClr val="333333"/>
                </a:solidFill>
                <a:latin typeface="Times New Roman" panose="02020603050405020304" pitchFamily="18" charset="0"/>
                <a:cs typeface="Times New Roman" panose="02020603050405020304" pitchFamily="18" charset="0"/>
              </a:rPr>
              <a:t>Suggests funds based on client goal, risk appetite, horizon, expense limit.</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Reports &amp; Export.  </a:t>
            </a:r>
            <a:r>
              <a:rPr sz="1400" b="0" i="0">
                <a:solidFill>
                  <a:srgbClr val="333333"/>
                </a:solidFill>
                <a:latin typeface="Times New Roman" panose="02020603050405020304" pitchFamily="18" charset="0"/>
                <a:cs typeface="Times New Roman" panose="02020603050405020304" pitchFamily="18" charset="0"/>
              </a:rPr>
              <a:t>Client fact sheet PDFs, CSV datasets, multi-sheet Excel books.</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Admin Panel.  </a:t>
            </a:r>
            <a:r>
              <a:rPr sz="1400" b="0" i="0">
                <a:solidFill>
                  <a:srgbClr val="333333"/>
                </a:solidFill>
                <a:latin typeface="Times New Roman" panose="02020603050405020304" pitchFamily="18" charset="0"/>
                <a:cs typeface="Times New Roman" panose="02020603050405020304" pitchFamily="18" charset="0"/>
              </a:rPr>
              <a:t>System diagnostics: DB health, last ETL run, live logs.</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Output format.  </a:t>
            </a:r>
            <a:r>
              <a:rPr sz="1400" b="0" i="0">
                <a:solidFill>
                  <a:srgbClr val="333333"/>
                </a:solidFill>
                <a:latin typeface="Times New Roman" panose="02020603050405020304" pitchFamily="18" charset="0"/>
                <a:cs typeface="Times New Roman" panose="02020603050405020304" pitchFamily="18" charset="0"/>
              </a:rPr>
              <a:t>Match % scores, top-3 recommendation cards, candidate comparison grid.</a:t>
            </a:r>
          </a:p>
        </p:txBody>
      </p:sp>
      <p:sp>
        <p:nvSpPr>
          <p:cNvPr id="6" name="Rounded Rectangle 5"/>
          <p:cNvSpPr/>
          <p:nvPr/>
        </p:nvSpPr>
        <p:spPr>
          <a:xfrm>
            <a:off x="457200" y="4160520"/>
            <a:ext cx="3840480" cy="548640"/>
          </a:xfrm>
          <a:prstGeom prst="roundRect">
            <a:avLst>
              <a:gd name="adj" fmla="val 12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050" b="0" i="1">
                <a:solidFill>
                  <a:srgbClr val="0C1E36"/>
                </a:solidFill>
                <a:latin typeface="Times New Roman" panose="02020603050405020304" pitchFamily="18" charset="0"/>
                <a:cs typeface="Times New Roman" panose="02020603050405020304" pitchFamily="18" charset="0"/>
              </a:rPr>
              <a:t>Converts a client's stated goals directly into a ranked, explainable shortlist.</a:t>
            </a:r>
          </a:p>
        </p:txBody>
      </p:sp>
      <p:pic>
        <p:nvPicPr>
          <p:cNvPr id="7" name="Picture 6" descr="page_fund_recommender.png"/>
          <p:cNvPicPr>
            <a:picLocks noChangeAspect="1"/>
          </p:cNvPicPr>
          <p:nvPr/>
        </p:nvPicPr>
        <p:blipFill>
          <a:blip r:embed="rId2"/>
          <a:stretch>
            <a:fillRect/>
          </a:stretch>
        </p:blipFill>
        <p:spPr>
          <a:xfrm>
            <a:off x="4663440" y="841248"/>
            <a:ext cx="4389120" cy="3250692"/>
          </a:xfrm>
          <a:prstGeom prst="rect">
            <a:avLst/>
          </a:prstGeom>
          <a:ln w="9525">
            <a:solidFill>
              <a:srgbClr val="E2E6EC"/>
            </a:solidFill>
          </a:ln>
          <a:effectLst>
            <a:outerShdw blurRad="90000" dist="30000" dir="5400000" rotWithShape="0">
              <a:srgbClr val="1A1A1A">
                <a:alpha val="25000"/>
              </a:srgbClr>
            </a:outerShdw>
          </a:effectLst>
        </p:spPr>
      </p:pic>
      <p:sp>
        <p:nvSpPr>
          <p:cNvPr id="8" name="TextBox 7"/>
          <p:cNvSpPr txBox="1"/>
          <p:nvPr/>
        </p:nvSpPr>
        <p:spPr>
          <a:xfrm>
            <a:off x="4663440" y="4146804"/>
            <a:ext cx="4389120" cy="153888"/>
          </a:xfrm>
          <a:prstGeom prst="rect">
            <a:avLst/>
          </a:prstGeom>
          <a:noFill/>
        </p:spPr>
        <p:txBody>
          <a:bodyPr wrap="square" lIns="0" tIns="0" rIns="0" bIns="0" anchor="t">
            <a:spAutoFit/>
          </a:bodyPr>
          <a:lstStyle/>
          <a:p>
            <a:pPr algn="ctr"/>
            <a:r>
              <a:rPr sz="1000" b="0" i="1">
                <a:solidFill>
                  <a:srgbClr val="8A93A3"/>
                </a:solidFill>
                <a:latin typeface="Times New Roman" panose="02020603050405020304" pitchFamily="18" charset="0"/>
                <a:cs typeface="Times New Roman" panose="02020603050405020304" pitchFamily="18" charset="0"/>
              </a:rPr>
              <a:t>Fund Recommender page</a:t>
            </a:r>
          </a:p>
        </p:txBody>
      </p:sp>
      <p:sp>
        <p:nvSpPr>
          <p:cNvPr id="9" name="TextBox 8"/>
          <p:cNvSpPr txBox="1"/>
          <p:nvPr/>
        </p:nvSpPr>
        <p:spPr>
          <a:xfrm>
            <a:off x="8686800" y="4864608"/>
            <a:ext cx="365760" cy="138499"/>
          </a:xfrm>
          <a:prstGeom prst="rect">
            <a:avLst/>
          </a:prstGeom>
          <a:noFill/>
        </p:spPr>
        <p:txBody>
          <a:bodyPr wrap="square" lIns="0" tIns="0" rIns="0" bIns="0" anchor="t">
            <a:spAutoFit/>
          </a:bodyPr>
          <a:lstStyle/>
          <a:p>
            <a:pPr algn="r"/>
            <a:r>
              <a:rPr sz="900" b="0" i="0">
                <a:solidFill>
                  <a:srgbClr val="8A93A3"/>
                </a:solidFill>
                <a:latin typeface="Times New Roman" panose="02020603050405020304" pitchFamily="18" charset="0"/>
                <a:cs typeface="Times New Roman" panose="02020603050405020304" pitchFamily="18" charset="0"/>
              </a:rPr>
              <a:t>10</a:t>
            </a:r>
          </a:p>
        </p:txBody>
      </p:sp>
      <p:sp>
        <p:nvSpPr>
          <p:cNvPr id="10" name="TextBox 9"/>
          <p:cNvSpPr txBox="1"/>
          <p:nvPr/>
        </p:nvSpPr>
        <p:spPr>
          <a:xfrm>
            <a:off x="457200" y="4864608"/>
            <a:ext cx="5486400" cy="138499"/>
          </a:xfrm>
          <a:prstGeom prst="rect">
            <a:avLst/>
          </a:prstGeom>
          <a:noFill/>
        </p:spPr>
        <p:txBody>
          <a:bodyPr wrap="square" lIns="0" tIns="0" rIns="0" bIns="0" anchor="t">
            <a:spAutoFit/>
          </a:bodyPr>
          <a:lstStyle/>
          <a:p>
            <a:r>
              <a:rPr sz="900" b="0" i="0">
                <a:solidFill>
                  <a:srgbClr val="8A93A3"/>
                </a:solidFill>
                <a:latin typeface="Times New Roman" panose="02020603050405020304" pitchFamily="18" charset="0"/>
                <a:cs typeface="Times New Roman" panose="02020603050405020304" pitchFamily="18" charset="0"/>
              </a:rPr>
              <a:t>BlueStock Fintech | Mutual Fund Analytics Platform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457200" y="320040"/>
            <a:ext cx="5486400" cy="169277"/>
          </a:xfrm>
          <a:prstGeom prst="rect">
            <a:avLst/>
          </a:prstGeom>
          <a:noFill/>
        </p:spPr>
        <p:txBody>
          <a:bodyPr wrap="square" lIns="0" tIns="0" rIns="0" bIns="0" anchor="t">
            <a:spAutoFit/>
          </a:bodyPr>
          <a:lstStyle/>
          <a:p>
            <a:r>
              <a:rPr sz="1100" b="1" i="0" spc="150">
                <a:solidFill>
                  <a:srgbClr val="F58220"/>
                </a:solidFill>
                <a:latin typeface="Times New Roman" panose="02020603050405020304" pitchFamily="18" charset="0"/>
                <a:cs typeface="Times New Roman" panose="02020603050405020304" pitchFamily="18" charset="0"/>
              </a:rPr>
              <a:t>MARKET VISUALIZATIONS</a:t>
            </a:r>
          </a:p>
        </p:txBody>
      </p:sp>
      <p:sp>
        <p:nvSpPr>
          <p:cNvPr id="4" name="TextBox 3"/>
          <p:cNvSpPr txBox="1"/>
          <p:nvPr/>
        </p:nvSpPr>
        <p:spPr>
          <a:xfrm>
            <a:off x="457200" y="566928"/>
            <a:ext cx="8229600" cy="369332"/>
          </a:xfrm>
          <a:prstGeom prst="rect">
            <a:avLst/>
          </a:prstGeom>
          <a:noFill/>
        </p:spPr>
        <p:txBody>
          <a:bodyPr wrap="square" lIns="0" tIns="0" rIns="0" bIns="0" anchor="t">
            <a:spAutoFit/>
          </a:bodyPr>
          <a:lstStyle/>
          <a:p>
            <a:r>
              <a:rPr sz="2400" b="1" i="0">
                <a:solidFill>
                  <a:srgbClr val="0C1E36"/>
                </a:solidFill>
                <a:latin typeface="Times New Roman" panose="02020603050405020304" pitchFamily="18" charset="0"/>
                <a:cs typeface="Times New Roman" panose="02020603050405020304" pitchFamily="18" charset="0"/>
              </a:rPr>
              <a:t>Industry AUM Trends</a:t>
            </a:r>
          </a:p>
        </p:txBody>
      </p:sp>
      <p:sp>
        <p:nvSpPr>
          <p:cNvPr id="5" name="TextBox 4"/>
          <p:cNvSpPr txBox="1"/>
          <p:nvPr/>
        </p:nvSpPr>
        <p:spPr>
          <a:xfrm>
            <a:off x="640080" y="1291480"/>
            <a:ext cx="3840480" cy="2462918"/>
          </a:xfrm>
          <a:prstGeom prst="rect">
            <a:avLst/>
          </a:prstGeom>
          <a:noFill/>
        </p:spPr>
        <p:txBody>
          <a:bodyPr wrap="square" lIns="0" tIns="0" rIns="0" bIns="0" anchor="t">
            <a:spAutoFit/>
          </a:bodyPr>
          <a:lstStyle/>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Industry AUM Trend.  </a:t>
            </a:r>
            <a:r>
              <a:rPr sz="1400" b="0" i="0">
                <a:solidFill>
                  <a:srgbClr val="333333"/>
                </a:solidFill>
                <a:latin typeface="Times New Roman" panose="02020603050405020304" pitchFamily="18" charset="0"/>
                <a:cs typeface="Times New Roman" panose="02020603050405020304" pitchFamily="18" charset="0"/>
              </a:rPr>
              <a:t>Date timeline vs. industry AUM in ₹ Lakh Crore, aggregated across the industry.</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AUM by Fund House.  </a:t>
            </a:r>
            <a:r>
              <a:rPr sz="1400" b="0" i="0">
                <a:solidFill>
                  <a:srgbClr val="333333"/>
                </a:solidFill>
                <a:latin typeface="Times New Roman" panose="02020603050405020304" pitchFamily="18" charset="0"/>
                <a:cs typeface="Times New Roman" panose="02020603050405020304" pitchFamily="18" charset="0"/>
              </a:rPr>
              <a:t>Compares asset sizes across AMCs, sorted descending by latest AUM.</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Insight.  </a:t>
            </a:r>
            <a:r>
              <a:rPr sz="1400" b="0" i="0">
                <a:solidFill>
                  <a:srgbClr val="333333"/>
                </a:solidFill>
                <a:latin typeface="Times New Roman" panose="02020603050405020304" pitchFamily="18" charset="0"/>
                <a:cs typeface="Times New Roman" panose="02020603050405020304" pitchFamily="18" charset="0"/>
              </a:rPr>
              <a:t>Steady growth in industry assets reflects rising retail investor participation.</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Concentration.  </a:t>
            </a:r>
            <a:r>
              <a:rPr sz="1400" b="0" i="0">
                <a:solidFill>
                  <a:srgbClr val="333333"/>
                </a:solidFill>
                <a:latin typeface="Times New Roman" panose="02020603050405020304" pitchFamily="18" charset="0"/>
                <a:cs typeface="Times New Roman" panose="02020603050405020304" pitchFamily="18" charset="0"/>
              </a:rPr>
              <a:t>A small number of top AMCs manage the majority share of total capital.</a:t>
            </a:r>
          </a:p>
        </p:txBody>
      </p:sp>
      <p:sp>
        <p:nvSpPr>
          <p:cNvPr id="6" name="Rounded Rectangle 5"/>
          <p:cNvSpPr/>
          <p:nvPr/>
        </p:nvSpPr>
        <p:spPr>
          <a:xfrm>
            <a:off x="457200" y="4160520"/>
            <a:ext cx="3840480" cy="548640"/>
          </a:xfrm>
          <a:prstGeom prst="roundRect">
            <a:avLst>
              <a:gd name="adj" fmla="val 12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050" b="0" i="1">
                <a:solidFill>
                  <a:srgbClr val="0C1E36"/>
                </a:solidFill>
                <a:latin typeface="Times New Roman" panose="02020603050405020304" pitchFamily="18" charset="0"/>
                <a:cs typeface="Times New Roman" panose="02020603050405020304" pitchFamily="18" charset="0"/>
              </a:rPr>
              <a:t>Mutual fund industry AUM has scaled meaningfully, led by a handful of dominant AMCs.</a:t>
            </a:r>
          </a:p>
        </p:txBody>
      </p:sp>
      <p:pic>
        <p:nvPicPr>
          <p:cNvPr id="7" name="Picture 6" descr="industry_aum_trend.png"/>
          <p:cNvPicPr>
            <a:picLocks noChangeAspect="1"/>
          </p:cNvPicPr>
          <p:nvPr/>
        </p:nvPicPr>
        <p:blipFill>
          <a:blip r:embed="rId2"/>
          <a:stretch>
            <a:fillRect/>
          </a:stretch>
        </p:blipFill>
        <p:spPr>
          <a:xfrm>
            <a:off x="4572000" y="998558"/>
            <a:ext cx="4480560" cy="2834640"/>
          </a:xfrm>
          <a:prstGeom prst="rect">
            <a:avLst/>
          </a:prstGeom>
          <a:ln w="9525">
            <a:solidFill>
              <a:srgbClr val="E2E6EC"/>
            </a:solidFill>
          </a:ln>
          <a:effectLst>
            <a:outerShdw blurRad="90000" dist="30000" dir="5400000" rotWithShape="0">
              <a:srgbClr val="1A1A1A">
                <a:alpha val="25000"/>
              </a:srgbClr>
            </a:outerShdw>
          </a:effectLst>
        </p:spPr>
      </p:pic>
      <p:sp>
        <p:nvSpPr>
          <p:cNvPr id="8" name="TextBox 7"/>
          <p:cNvSpPr txBox="1"/>
          <p:nvPr/>
        </p:nvSpPr>
        <p:spPr>
          <a:xfrm>
            <a:off x="4663440" y="3888061"/>
            <a:ext cx="4389120" cy="153888"/>
          </a:xfrm>
          <a:prstGeom prst="rect">
            <a:avLst/>
          </a:prstGeom>
          <a:noFill/>
        </p:spPr>
        <p:txBody>
          <a:bodyPr wrap="square" lIns="0" tIns="0" rIns="0" bIns="0" anchor="t">
            <a:spAutoFit/>
          </a:bodyPr>
          <a:lstStyle/>
          <a:p>
            <a:pPr algn="ctr"/>
            <a:r>
              <a:rPr sz="1000" b="0" i="1">
                <a:solidFill>
                  <a:srgbClr val="8A93A3"/>
                </a:solidFill>
                <a:latin typeface="Times New Roman" panose="02020603050405020304" pitchFamily="18" charset="0"/>
                <a:cs typeface="Times New Roman" panose="02020603050405020304" pitchFamily="18" charset="0"/>
              </a:rPr>
              <a:t>Industry AUM Trend (₹ Lakh Crore)</a:t>
            </a:r>
          </a:p>
        </p:txBody>
      </p:sp>
      <p:sp>
        <p:nvSpPr>
          <p:cNvPr id="9" name="TextBox 8"/>
          <p:cNvSpPr txBox="1"/>
          <p:nvPr/>
        </p:nvSpPr>
        <p:spPr>
          <a:xfrm>
            <a:off x="8686800" y="4864608"/>
            <a:ext cx="365760" cy="138499"/>
          </a:xfrm>
          <a:prstGeom prst="rect">
            <a:avLst/>
          </a:prstGeom>
          <a:noFill/>
        </p:spPr>
        <p:txBody>
          <a:bodyPr wrap="square" lIns="0" tIns="0" rIns="0" bIns="0" anchor="t">
            <a:spAutoFit/>
          </a:bodyPr>
          <a:lstStyle/>
          <a:p>
            <a:pPr algn="r"/>
            <a:r>
              <a:rPr sz="900" b="0" i="0">
                <a:solidFill>
                  <a:srgbClr val="8A93A3"/>
                </a:solidFill>
                <a:latin typeface="Times New Roman" panose="02020603050405020304" pitchFamily="18" charset="0"/>
                <a:cs typeface="Times New Roman" panose="02020603050405020304" pitchFamily="18" charset="0"/>
              </a:rPr>
              <a:t>11</a:t>
            </a:r>
          </a:p>
        </p:txBody>
      </p:sp>
      <p:sp>
        <p:nvSpPr>
          <p:cNvPr id="10" name="TextBox 9"/>
          <p:cNvSpPr txBox="1"/>
          <p:nvPr/>
        </p:nvSpPr>
        <p:spPr>
          <a:xfrm>
            <a:off x="457200" y="4864608"/>
            <a:ext cx="5486400" cy="138499"/>
          </a:xfrm>
          <a:prstGeom prst="rect">
            <a:avLst/>
          </a:prstGeom>
          <a:noFill/>
        </p:spPr>
        <p:txBody>
          <a:bodyPr wrap="square" lIns="0" tIns="0" rIns="0" bIns="0" anchor="t">
            <a:spAutoFit/>
          </a:bodyPr>
          <a:lstStyle/>
          <a:p>
            <a:r>
              <a:rPr sz="900" b="0" i="0">
                <a:solidFill>
                  <a:srgbClr val="8A93A3"/>
                </a:solidFill>
                <a:latin typeface="Times New Roman" panose="02020603050405020304" pitchFamily="18" charset="0"/>
                <a:cs typeface="Times New Roman" panose="02020603050405020304" pitchFamily="18" charset="0"/>
              </a:rPr>
              <a:t>BlueStock Fintech | Mutual Fund Analytics Platform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457200" y="320040"/>
            <a:ext cx="5486400" cy="169277"/>
          </a:xfrm>
          <a:prstGeom prst="rect">
            <a:avLst/>
          </a:prstGeom>
          <a:noFill/>
        </p:spPr>
        <p:txBody>
          <a:bodyPr wrap="square" lIns="0" tIns="0" rIns="0" bIns="0" anchor="t">
            <a:spAutoFit/>
          </a:bodyPr>
          <a:lstStyle/>
          <a:p>
            <a:r>
              <a:rPr sz="1100" b="1" i="0" spc="150">
                <a:solidFill>
                  <a:srgbClr val="F58220"/>
                </a:solidFill>
                <a:latin typeface="Times New Roman" panose="02020603050405020304" pitchFamily="18" charset="0"/>
                <a:cs typeface="Times New Roman" panose="02020603050405020304" pitchFamily="18" charset="0"/>
              </a:rPr>
              <a:t>MARKET VISUALIZATIONS</a:t>
            </a:r>
          </a:p>
        </p:txBody>
      </p:sp>
      <p:sp>
        <p:nvSpPr>
          <p:cNvPr id="4" name="TextBox 3"/>
          <p:cNvSpPr txBox="1"/>
          <p:nvPr/>
        </p:nvSpPr>
        <p:spPr>
          <a:xfrm>
            <a:off x="457200" y="566928"/>
            <a:ext cx="8229600" cy="369332"/>
          </a:xfrm>
          <a:prstGeom prst="rect">
            <a:avLst/>
          </a:prstGeom>
          <a:noFill/>
        </p:spPr>
        <p:txBody>
          <a:bodyPr wrap="square" lIns="0" tIns="0" rIns="0" bIns="0" anchor="t">
            <a:spAutoFit/>
          </a:bodyPr>
          <a:lstStyle/>
          <a:p>
            <a:r>
              <a:rPr sz="2400" b="1" i="0">
                <a:solidFill>
                  <a:srgbClr val="0C1E36"/>
                </a:solidFill>
                <a:latin typeface="Times New Roman" panose="02020603050405020304" pitchFamily="18" charset="0"/>
                <a:cs typeface="Times New Roman" panose="02020603050405020304" pitchFamily="18" charset="0"/>
              </a:rPr>
              <a:t>SIP &amp; Category Inflow Trends</a:t>
            </a:r>
          </a:p>
        </p:txBody>
      </p:sp>
      <p:sp>
        <p:nvSpPr>
          <p:cNvPr id="5" name="TextBox 4"/>
          <p:cNvSpPr txBox="1"/>
          <p:nvPr/>
        </p:nvSpPr>
        <p:spPr>
          <a:xfrm>
            <a:off x="731520" y="1248156"/>
            <a:ext cx="3840480" cy="2230226"/>
          </a:xfrm>
          <a:prstGeom prst="rect">
            <a:avLst/>
          </a:prstGeom>
          <a:noFill/>
        </p:spPr>
        <p:txBody>
          <a:bodyPr wrap="square" lIns="0" tIns="0" rIns="0" bIns="0" anchor="t">
            <a:spAutoFit/>
          </a:bodyPr>
          <a:lstStyle/>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Monthly SIP Inflow.  </a:t>
            </a:r>
            <a:r>
              <a:rPr sz="1400" b="0" i="0">
                <a:solidFill>
                  <a:srgbClr val="333333"/>
                </a:solidFill>
                <a:latin typeface="Times New Roman" panose="02020603050405020304" pitchFamily="18" charset="0"/>
                <a:cs typeface="Times New Roman" panose="02020603050405020304" pitchFamily="18" charset="0"/>
              </a:rPr>
              <a:t>Tracks retail SIP volumes (₹ Crore) against the Nifty 50 index close.</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Category-wise Inflow.  </a:t>
            </a:r>
            <a:r>
              <a:rPr sz="1400" b="0" i="0">
                <a:solidFill>
                  <a:srgbClr val="333333"/>
                </a:solidFill>
                <a:latin typeface="Times New Roman" panose="02020603050405020304" pitchFamily="18" charset="0"/>
                <a:cs typeface="Times New Roman" panose="02020603050405020304" pitchFamily="18" charset="0"/>
              </a:rPr>
              <a:t>Ranks fund categories by total net inflow for the latest FY25 period.</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Insight.  </a:t>
            </a:r>
            <a:r>
              <a:rPr sz="1400" b="0" i="0">
                <a:solidFill>
                  <a:srgbClr val="333333"/>
                </a:solidFill>
                <a:latin typeface="Times New Roman" panose="02020603050405020304" pitchFamily="18" charset="0"/>
                <a:cs typeface="Times New Roman" panose="02020603050405020304" pitchFamily="18" charset="0"/>
              </a:rPr>
              <a:t>SIP volumes stay stable even during market corrections, acting as a funding cushion.</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Leading categories.  </a:t>
            </a:r>
            <a:r>
              <a:rPr sz="1400" b="0" i="0">
                <a:solidFill>
                  <a:srgbClr val="333333"/>
                </a:solidFill>
                <a:latin typeface="Times New Roman" panose="02020603050405020304" pitchFamily="18" charset="0"/>
                <a:cs typeface="Times New Roman" panose="02020603050405020304" pitchFamily="18" charset="0"/>
              </a:rPr>
              <a:t>Liquid and Sectoral/Thematic funds currently capture the largest net inflows.</a:t>
            </a:r>
          </a:p>
        </p:txBody>
      </p:sp>
      <p:sp>
        <p:nvSpPr>
          <p:cNvPr id="6" name="Rounded Rectangle 5"/>
          <p:cNvSpPr/>
          <p:nvPr/>
        </p:nvSpPr>
        <p:spPr>
          <a:xfrm>
            <a:off x="457200" y="4160520"/>
            <a:ext cx="3840480" cy="548640"/>
          </a:xfrm>
          <a:prstGeom prst="roundRect">
            <a:avLst>
              <a:gd name="adj" fmla="val 12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050" b="0" i="1">
                <a:solidFill>
                  <a:srgbClr val="0C1E36"/>
                </a:solidFill>
                <a:latin typeface="Times New Roman" panose="02020603050405020304" pitchFamily="18" charset="0"/>
                <a:cs typeface="Times New Roman" panose="02020603050405020304" pitchFamily="18" charset="0"/>
              </a:rPr>
              <a:t>Systematic Investment Plans provide a resilient, low-volatility capital base for AMCs.</a:t>
            </a:r>
          </a:p>
        </p:txBody>
      </p:sp>
      <p:pic>
        <p:nvPicPr>
          <p:cNvPr id="7" name="Picture 6" descr="monthly_sip_inflow_trend.png"/>
          <p:cNvPicPr>
            <a:picLocks noChangeAspect="1"/>
          </p:cNvPicPr>
          <p:nvPr/>
        </p:nvPicPr>
        <p:blipFill>
          <a:blip r:embed="rId2"/>
          <a:stretch>
            <a:fillRect/>
          </a:stretch>
        </p:blipFill>
        <p:spPr>
          <a:xfrm>
            <a:off x="4663440" y="914400"/>
            <a:ext cx="4389120" cy="3196745"/>
          </a:xfrm>
          <a:prstGeom prst="rect">
            <a:avLst/>
          </a:prstGeom>
          <a:ln w="9525">
            <a:solidFill>
              <a:srgbClr val="E2E6EC"/>
            </a:solidFill>
          </a:ln>
          <a:effectLst>
            <a:outerShdw blurRad="90000" dist="30000" dir="5400000" rotWithShape="0">
              <a:srgbClr val="1A1A1A">
                <a:alpha val="25000"/>
              </a:srgbClr>
            </a:outerShdw>
          </a:effectLst>
        </p:spPr>
      </p:pic>
      <p:sp>
        <p:nvSpPr>
          <p:cNvPr id="8" name="TextBox 7"/>
          <p:cNvSpPr txBox="1"/>
          <p:nvPr/>
        </p:nvSpPr>
        <p:spPr>
          <a:xfrm>
            <a:off x="4663440" y="4166009"/>
            <a:ext cx="4389120" cy="153888"/>
          </a:xfrm>
          <a:prstGeom prst="rect">
            <a:avLst/>
          </a:prstGeom>
          <a:noFill/>
        </p:spPr>
        <p:txBody>
          <a:bodyPr wrap="square" lIns="0" tIns="0" rIns="0" bIns="0" anchor="t">
            <a:spAutoFit/>
          </a:bodyPr>
          <a:lstStyle/>
          <a:p>
            <a:pPr algn="ctr"/>
            <a:r>
              <a:rPr sz="1000" b="0" i="1">
                <a:solidFill>
                  <a:srgbClr val="8A93A3"/>
                </a:solidFill>
                <a:latin typeface="Times New Roman" panose="02020603050405020304" pitchFamily="18" charset="0"/>
                <a:cs typeface="Times New Roman" panose="02020603050405020304" pitchFamily="18" charset="0"/>
              </a:rPr>
              <a:t>Monthly SIP Inflow vs. Nifty 50 Index</a:t>
            </a:r>
          </a:p>
        </p:txBody>
      </p:sp>
      <p:sp>
        <p:nvSpPr>
          <p:cNvPr id="9" name="TextBox 8"/>
          <p:cNvSpPr txBox="1"/>
          <p:nvPr/>
        </p:nvSpPr>
        <p:spPr>
          <a:xfrm>
            <a:off x="8686800" y="4864608"/>
            <a:ext cx="365760" cy="138499"/>
          </a:xfrm>
          <a:prstGeom prst="rect">
            <a:avLst/>
          </a:prstGeom>
          <a:noFill/>
        </p:spPr>
        <p:txBody>
          <a:bodyPr wrap="square" lIns="0" tIns="0" rIns="0" bIns="0" anchor="t">
            <a:spAutoFit/>
          </a:bodyPr>
          <a:lstStyle/>
          <a:p>
            <a:pPr algn="r"/>
            <a:r>
              <a:rPr sz="900" b="0" i="0">
                <a:solidFill>
                  <a:srgbClr val="8A93A3"/>
                </a:solidFill>
                <a:latin typeface="Times New Roman" panose="02020603050405020304" pitchFamily="18" charset="0"/>
                <a:cs typeface="Times New Roman" panose="02020603050405020304" pitchFamily="18" charset="0"/>
              </a:rPr>
              <a:t>12</a:t>
            </a:r>
          </a:p>
        </p:txBody>
      </p:sp>
      <p:sp>
        <p:nvSpPr>
          <p:cNvPr id="10" name="TextBox 9"/>
          <p:cNvSpPr txBox="1"/>
          <p:nvPr/>
        </p:nvSpPr>
        <p:spPr>
          <a:xfrm>
            <a:off x="457200" y="4864608"/>
            <a:ext cx="5486400" cy="138499"/>
          </a:xfrm>
          <a:prstGeom prst="rect">
            <a:avLst/>
          </a:prstGeom>
          <a:noFill/>
        </p:spPr>
        <p:txBody>
          <a:bodyPr wrap="square" lIns="0" tIns="0" rIns="0" bIns="0" anchor="t">
            <a:spAutoFit/>
          </a:bodyPr>
          <a:lstStyle/>
          <a:p>
            <a:r>
              <a:rPr sz="900" b="0" i="0">
                <a:solidFill>
                  <a:srgbClr val="8A93A3"/>
                </a:solidFill>
                <a:latin typeface="Times New Roman" panose="02020603050405020304" pitchFamily="18" charset="0"/>
                <a:cs typeface="Times New Roman" panose="02020603050405020304" pitchFamily="18" charset="0"/>
              </a:rPr>
              <a:t>BlueStock Fintech | Mutual Fund Analytics Platform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457200" y="320040"/>
            <a:ext cx="5486400" cy="169277"/>
          </a:xfrm>
          <a:prstGeom prst="rect">
            <a:avLst/>
          </a:prstGeom>
          <a:noFill/>
        </p:spPr>
        <p:txBody>
          <a:bodyPr wrap="square" lIns="0" tIns="0" rIns="0" bIns="0" anchor="t">
            <a:spAutoFit/>
          </a:bodyPr>
          <a:lstStyle/>
          <a:p>
            <a:r>
              <a:rPr sz="1100" b="1" i="0" spc="150">
                <a:solidFill>
                  <a:srgbClr val="F58220"/>
                </a:solidFill>
                <a:latin typeface="Times New Roman" panose="02020603050405020304" pitchFamily="18" charset="0"/>
                <a:cs typeface="Times New Roman" panose="02020603050405020304" pitchFamily="18" charset="0"/>
              </a:rPr>
              <a:t>PERFORMANCE VISUALIZATIONS</a:t>
            </a:r>
          </a:p>
        </p:txBody>
      </p:sp>
      <p:sp>
        <p:nvSpPr>
          <p:cNvPr id="4" name="TextBox 3"/>
          <p:cNvSpPr txBox="1"/>
          <p:nvPr/>
        </p:nvSpPr>
        <p:spPr>
          <a:xfrm>
            <a:off x="457200" y="566928"/>
            <a:ext cx="8229600" cy="369332"/>
          </a:xfrm>
          <a:prstGeom prst="rect">
            <a:avLst/>
          </a:prstGeom>
          <a:noFill/>
        </p:spPr>
        <p:txBody>
          <a:bodyPr wrap="square" lIns="0" tIns="0" rIns="0" bIns="0" anchor="t">
            <a:spAutoFit/>
          </a:bodyPr>
          <a:lstStyle/>
          <a:p>
            <a:r>
              <a:rPr sz="2400" b="1" i="0">
                <a:solidFill>
                  <a:srgbClr val="0C1E36"/>
                </a:solidFill>
                <a:latin typeface="Times New Roman" panose="02020603050405020304" pitchFamily="18" charset="0"/>
                <a:cs typeface="Times New Roman" panose="02020603050405020304" pitchFamily="18" charset="0"/>
              </a:rPr>
              <a:t>NAV vs. Benchmark Performance</a:t>
            </a:r>
          </a:p>
        </p:txBody>
      </p:sp>
      <p:sp>
        <p:nvSpPr>
          <p:cNvPr id="5" name="TextBox 4"/>
          <p:cNvSpPr txBox="1"/>
          <p:nvPr/>
        </p:nvSpPr>
        <p:spPr>
          <a:xfrm>
            <a:off x="640080" y="1270385"/>
            <a:ext cx="3840480" cy="2230226"/>
          </a:xfrm>
          <a:prstGeom prst="rect">
            <a:avLst/>
          </a:prstGeom>
          <a:noFill/>
        </p:spPr>
        <p:txBody>
          <a:bodyPr wrap="square" lIns="0" tIns="0" rIns="0" bIns="0" anchor="t">
            <a:spAutoFit/>
          </a:bodyPr>
          <a:lstStyle/>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Daily NAV Trend.  </a:t>
            </a:r>
            <a:r>
              <a:rPr sz="1400" b="0" i="0">
                <a:solidFill>
                  <a:srgbClr val="333333"/>
                </a:solidFill>
                <a:latin typeface="Times New Roman" panose="02020603050405020304" pitchFamily="18" charset="0"/>
                <a:cs typeface="Times New Roman" panose="02020603050405020304" pitchFamily="18" charset="0"/>
              </a:rPr>
              <a:t>Historical price performance for a selected scheme over its full life.</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Fund vs. Benchmark.  </a:t>
            </a:r>
            <a:r>
              <a:rPr sz="1400" b="0" i="0">
                <a:solidFill>
                  <a:srgbClr val="333333"/>
                </a:solidFill>
                <a:latin typeface="Times New Roman" panose="02020603050405020304" pitchFamily="18" charset="0"/>
                <a:cs typeface="Times New Roman" panose="02020603050405020304" pitchFamily="18" charset="0"/>
              </a:rPr>
              <a:t>ABSL Frontline Equity Fund tracked against the NIFTY100 index.</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Insight.  </a:t>
            </a:r>
            <a:r>
              <a:rPr sz="1400" b="0" i="0">
                <a:solidFill>
                  <a:srgbClr val="333333"/>
                </a:solidFill>
                <a:latin typeface="Times New Roman" panose="02020603050405020304" pitchFamily="18" charset="0"/>
                <a:cs typeface="Times New Roman" panose="02020603050405020304" pitchFamily="18" charset="0"/>
              </a:rPr>
              <a:t>Reveals whether the fund manager generated alpha across different market cycles.</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Use case.  </a:t>
            </a:r>
            <a:r>
              <a:rPr sz="1400" b="0" i="0">
                <a:solidFill>
                  <a:srgbClr val="333333"/>
                </a:solidFill>
                <a:latin typeface="Times New Roman" panose="02020603050405020304" pitchFamily="18" charset="0"/>
                <a:cs typeface="Times New Roman" panose="02020603050405020304" pitchFamily="18" charset="0"/>
              </a:rPr>
              <a:t>Lets advisors validate active management value versus a passive benchmark.</a:t>
            </a:r>
          </a:p>
        </p:txBody>
      </p:sp>
      <p:sp>
        <p:nvSpPr>
          <p:cNvPr id="6" name="Rounded Rectangle 5"/>
          <p:cNvSpPr/>
          <p:nvPr/>
        </p:nvSpPr>
        <p:spPr>
          <a:xfrm>
            <a:off x="457200" y="4160520"/>
            <a:ext cx="3840480" cy="548640"/>
          </a:xfrm>
          <a:prstGeom prst="roundRect">
            <a:avLst>
              <a:gd name="adj" fmla="val 12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050" b="0" i="1">
                <a:solidFill>
                  <a:srgbClr val="0C1E36"/>
                </a:solidFill>
                <a:latin typeface="Times New Roman" panose="02020603050405020304" pitchFamily="18" charset="0"/>
                <a:cs typeface="Times New Roman" panose="02020603050405020304" pitchFamily="18" charset="0"/>
              </a:rPr>
              <a:t>The fund has decoupled from its benchmark in recent cycles — a signal of active alpha generation.</a:t>
            </a:r>
          </a:p>
        </p:txBody>
      </p:sp>
      <p:pic>
        <p:nvPicPr>
          <p:cNvPr id="7" name="Picture 6" descr="fund_nav_vs_benchmark.png"/>
          <p:cNvPicPr>
            <a:picLocks noChangeAspect="1"/>
          </p:cNvPicPr>
          <p:nvPr/>
        </p:nvPicPr>
        <p:blipFill>
          <a:blip r:embed="rId2"/>
          <a:stretch>
            <a:fillRect/>
          </a:stretch>
        </p:blipFill>
        <p:spPr>
          <a:xfrm>
            <a:off x="4663440" y="1115568"/>
            <a:ext cx="4389120" cy="2601783"/>
          </a:xfrm>
          <a:prstGeom prst="rect">
            <a:avLst/>
          </a:prstGeom>
          <a:ln w="9525">
            <a:solidFill>
              <a:srgbClr val="E2E6EC"/>
            </a:solidFill>
          </a:ln>
          <a:effectLst>
            <a:outerShdw blurRad="90000" dist="30000" dir="5400000" rotWithShape="0">
              <a:srgbClr val="1A1A1A">
                <a:alpha val="25000"/>
              </a:srgbClr>
            </a:outerShdw>
          </a:effectLst>
        </p:spPr>
      </p:pic>
      <p:sp>
        <p:nvSpPr>
          <p:cNvPr id="8" name="TextBox 7"/>
          <p:cNvSpPr txBox="1"/>
          <p:nvPr/>
        </p:nvSpPr>
        <p:spPr>
          <a:xfrm>
            <a:off x="4663440" y="3866966"/>
            <a:ext cx="4389120" cy="153888"/>
          </a:xfrm>
          <a:prstGeom prst="rect">
            <a:avLst/>
          </a:prstGeom>
          <a:noFill/>
        </p:spPr>
        <p:txBody>
          <a:bodyPr wrap="square" lIns="0" tIns="0" rIns="0" bIns="0" anchor="t">
            <a:spAutoFit/>
          </a:bodyPr>
          <a:lstStyle/>
          <a:p>
            <a:pPr algn="ctr"/>
            <a:r>
              <a:rPr sz="1000" b="0" i="1">
                <a:solidFill>
                  <a:srgbClr val="8A93A3"/>
                </a:solidFill>
                <a:latin typeface="Times New Roman" panose="02020603050405020304" pitchFamily="18" charset="0"/>
                <a:cs typeface="Times New Roman" panose="02020603050405020304" pitchFamily="18" charset="0"/>
              </a:rPr>
              <a:t>Fund NAV vs. NIFTY100 Benchmark</a:t>
            </a:r>
          </a:p>
        </p:txBody>
      </p:sp>
      <p:sp>
        <p:nvSpPr>
          <p:cNvPr id="9" name="TextBox 8"/>
          <p:cNvSpPr txBox="1"/>
          <p:nvPr/>
        </p:nvSpPr>
        <p:spPr>
          <a:xfrm>
            <a:off x="8686800" y="4864608"/>
            <a:ext cx="365760" cy="138499"/>
          </a:xfrm>
          <a:prstGeom prst="rect">
            <a:avLst/>
          </a:prstGeom>
          <a:noFill/>
        </p:spPr>
        <p:txBody>
          <a:bodyPr wrap="square" lIns="0" tIns="0" rIns="0" bIns="0" anchor="t">
            <a:spAutoFit/>
          </a:bodyPr>
          <a:lstStyle/>
          <a:p>
            <a:pPr algn="r"/>
            <a:r>
              <a:rPr sz="900" b="0" i="0">
                <a:solidFill>
                  <a:srgbClr val="8A93A3"/>
                </a:solidFill>
                <a:latin typeface="Times New Roman" panose="02020603050405020304" pitchFamily="18" charset="0"/>
                <a:cs typeface="Times New Roman" panose="02020603050405020304" pitchFamily="18" charset="0"/>
              </a:rPr>
              <a:t>13</a:t>
            </a:r>
          </a:p>
        </p:txBody>
      </p:sp>
      <p:sp>
        <p:nvSpPr>
          <p:cNvPr id="10" name="TextBox 9"/>
          <p:cNvSpPr txBox="1"/>
          <p:nvPr/>
        </p:nvSpPr>
        <p:spPr>
          <a:xfrm>
            <a:off x="457200" y="4864608"/>
            <a:ext cx="5486400" cy="138499"/>
          </a:xfrm>
          <a:prstGeom prst="rect">
            <a:avLst/>
          </a:prstGeom>
          <a:noFill/>
        </p:spPr>
        <p:txBody>
          <a:bodyPr wrap="square" lIns="0" tIns="0" rIns="0" bIns="0" anchor="t">
            <a:spAutoFit/>
          </a:bodyPr>
          <a:lstStyle/>
          <a:p>
            <a:r>
              <a:rPr sz="900" b="0" i="0">
                <a:solidFill>
                  <a:srgbClr val="8A93A3"/>
                </a:solidFill>
                <a:latin typeface="Times New Roman" panose="02020603050405020304" pitchFamily="18" charset="0"/>
                <a:cs typeface="Times New Roman" panose="02020603050405020304" pitchFamily="18" charset="0"/>
              </a:rPr>
              <a:t>BlueStock Fintech | Mutual Fund Analytics Platform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457200" y="320040"/>
            <a:ext cx="5486400" cy="169277"/>
          </a:xfrm>
          <a:prstGeom prst="rect">
            <a:avLst/>
          </a:prstGeom>
          <a:noFill/>
        </p:spPr>
        <p:txBody>
          <a:bodyPr wrap="square" lIns="0" tIns="0" rIns="0" bIns="0" anchor="t">
            <a:spAutoFit/>
          </a:bodyPr>
          <a:lstStyle/>
          <a:p>
            <a:r>
              <a:rPr sz="1100" b="1" i="0" spc="150">
                <a:solidFill>
                  <a:srgbClr val="F58220"/>
                </a:solidFill>
                <a:latin typeface="Times New Roman" panose="02020603050405020304" pitchFamily="18" charset="0"/>
                <a:cs typeface="Times New Roman" panose="02020603050405020304" pitchFamily="18" charset="0"/>
              </a:rPr>
              <a:t>RISK VISUALIZATIONS</a:t>
            </a:r>
          </a:p>
        </p:txBody>
      </p:sp>
      <p:sp>
        <p:nvSpPr>
          <p:cNvPr id="4" name="TextBox 3"/>
          <p:cNvSpPr txBox="1"/>
          <p:nvPr/>
        </p:nvSpPr>
        <p:spPr>
          <a:xfrm>
            <a:off x="457200" y="566928"/>
            <a:ext cx="8229600" cy="369332"/>
          </a:xfrm>
          <a:prstGeom prst="rect">
            <a:avLst/>
          </a:prstGeom>
          <a:noFill/>
        </p:spPr>
        <p:txBody>
          <a:bodyPr wrap="square" lIns="0" tIns="0" rIns="0" bIns="0" anchor="t">
            <a:spAutoFit/>
          </a:bodyPr>
          <a:lstStyle/>
          <a:p>
            <a:r>
              <a:rPr sz="2400" b="1" i="0">
                <a:solidFill>
                  <a:srgbClr val="0C1E36"/>
                </a:solidFill>
                <a:latin typeface="Times New Roman" panose="02020603050405020304" pitchFamily="18" charset="0"/>
                <a:cs typeface="Times New Roman" panose="02020603050405020304" pitchFamily="18" charset="0"/>
              </a:rPr>
              <a:t>Risk &amp; Risk-Adjusted Returns</a:t>
            </a:r>
          </a:p>
        </p:txBody>
      </p:sp>
      <p:sp>
        <p:nvSpPr>
          <p:cNvPr id="5" name="TextBox 4"/>
          <p:cNvSpPr txBox="1"/>
          <p:nvPr/>
        </p:nvSpPr>
        <p:spPr>
          <a:xfrm>
            <a:off x="640081" y="1304124"/>
            <a:ext cx="3840480" cy="2462918"/>
          </a:xfrm>
          <a:prstGeom prst="rect">
            <a:avLst/>
          </a:prstGeom>
          <a:noFill/>
        </p:spPr>
        <p:txBody>
          <a:bodyPr wrap="square" lIns="0" tIns="0" rIns="0" bIns="0" anchor="t">
            <a:spAutoFit/>
          </a:bodyPr>
          <a:lstStyle/>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Risk vs. Return Bubble.  </a:t>
            </a:r>
            <a:r>
              <a:rPr sz="1400" b="0" i="0">
                <a:solidFill>
                  <a:srgbClr val="333333"/>
                </a:solidFill>
                <a:latin typeface="Times New Roman" panose="02020603050405020304" pitchFamily="18" charset="0"/>
                <a:cs typeface="Times New Roman" panose="02020603050405020304" pitchFamily="18" charset="0"/>
              </a:rPr>
              <a:t>1-Year return % vs. volatility (std. dev %); bubble size = AUM in ₹ Crore.</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Alpha vs. Beta Scatter.  </a:t>
            </a:r>
            <a:r>
              <a:rPr sz="1400" b="0" i="0">
                <a:solidFill>
                  <a:srgbClr val="333333"/>
                </a:solidFill>
                <a:latin typeface="Times New Roman" panose="02020603050405020304" pitchFamily="18" charset="0"/>
                <a:cs typeface="Times New Roman" panose="02020603050405020304" pitchFamily="18" charset="0"/>
              </a:rPr>
              <a:t>3-Year return vs. volatility, aggregated across a longer horizon.</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Efficient funds.  </a:t>
            </a:r>
            <a:r>
              <a:rPr sz="1400" b="0" i="0">
                <a:solidFill>
                  <a:srgbClr val="333333"/>
                </a:solidFill>
                <a:latin typeface="Times New Roman" panose="02020603050405020304" pitchFamily="18" charset="0"/>
                <a:cs typeface="Times New Roman" panose="02020603050405020304" pitchFamily="18" charset="0"/>
              </a:rPr>
              <a:t>Sit in the upper-left quadrant — high return, low volatility.</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Insight.  </a:t>
            </a:r>
            <a:r>
              <a:rPr sz="1400" b="0" i="0">
                <a:solidFill>
                  <a:srgbClr val="333333"/>
                </a:solidFill>
                <a:latin typeface="Times New Roman" panose="02020603050405020304" pitchFamily="18" charset="0"/>
                <a:cs typeface="Times New Roman" panose="02020603050405020304" pitchFamily="18" charset="0"/>
              </a:rPr>
              <a:t>Higher volatility does not always yield higher returns, reinforcing risk-adjusted screening.</a:t>
            </a:r>
          </a:p>
        </p:txBody>
      </p:sp>
      <p:sp>
        <p:nvSpPr>
          <p:cNvPr id="6" name="Rounded Rectangle 5"/>
          <p:cNvSpPr/>
          <p:nvPr/>
        </p:nvSpPr>
        <p:spPr>
          <a:xfrm>
            <a:off x="457200" y="4160520"/>
            <a:ext cx="3840480" cy="548640"/>
          </a:xfrm>
          <a:prstGeom prst="roundRect">
            <a:avLst>
              <a:gd name="adj" fmla="val 12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050" b="0" i="1">
                <a:solidFill>
                  <a:srgbClr val="0C1E36"/>
                </a:solidFill>
                <a:latin typeface="Times New Roman" panose="02020603050405020304" pitchFamily="18" charset="0"/>
                <a:cs typeface="Times New Roman" panose="02020603050405020304" pitchFamily="18" charset="0"/>
              </a:rPr>
              <a:t>Equity funds cluster at higher risk/return than Debt, but efficiency varies widely within each group.</a:t>
            </a:r>
          </a:p>
        </p:txBody>
      </p:sp>
      <p:pic>
        <p:nvPicPr>
          <p:cNvPr id="7" name="Picture 6" descr="risk_vs_return_bubble.png"/>
          <p:cNvPicPr>
            <a:picLocks noChangeAspect="1"/>
          </p:cNvPicPr>
          <p:nvPr/>
        </p:nvPicPr>
        <p:blipFill>
          <a:blip r:embed="rId2"/>
          <a:stretch>
            <a:fillRect/>
          </a:stretch>
        </p:blipFill>
        <p:spPr>
          <a:xfrm>
            <a:off x="4572000" y="858941"/>
            <a:ext cx="4480560" cy="2593707"/>
          </a:xfrm>
          <a:prstGeom prst="rect">
            <a:avLst/>
          </a:prstGeom>
          <a:ln w="9525">
            <a:solidFill>
              <a:srgbClr val="E2E6EC"/>
            </a:solidFill>
          </a:ln>
          <a:effectLst>
            <a:outerShdw blurRad="90000" dist="30000" dir="5400000" rotWithShape="0">
              <a:srgbClr val="1A1A1A">
                <a:alpha val="25000"/>
              </a:srgbClr>
            </a:outerShdw>
          </a:effectLst>
        </p:spPr>
      </p:pic>
      <p:sp>
        <p:nvSpPr>
          <p:cNvPr id="8" name="TextBox 7"/>
          <p:cNvSpPr txBox="1"/>
          <p:nvPr/>
        </p:nvSpPr>
        <p:spPr>
          <a:xfrm>
            <a:off x="4663440" y="3735337"/>
            <a:ext cx="4389120" cy="153888"/>
          </a:xfrm>
          <a:prstGeom prst="rect">
            <a:avLst/>
          </a:prstGeom>
          <a:noFill/>
        </p:spPr>
        <p:txBody>
          <a:bodyPr wrap="square" lIns="0" tIns="0" rIns="0" bIns="0" anchor="t">
            <a:spAutoFit/>
          </a:bodyPr>
          <a:lstStyle/>
          <a:p>
            <a:pPr algn="ctr"/>
            <a:r>
              <a:rPr sz="1000" b="0" i="1">
                <a:solidFill>
                  <a:srgbClr val="8A93A3"/>
                </a:solidFill>
                <a:latin typeface="Times New Roman" panose="02020603050405020304" pitchFamily="18" charset="0"/>
                <a:cs typeface="Times New Roman" panose="02020603050405020304" pitchFamily="18" charset="0"/>
              </a:rPr>
              <a:t>Risk vs. Return Profile (3-Year Horizon)</a:t>
            </a:r>
          </a:p>
        </p:txBody>
      </p:sp>
      <p:sp>
        <p:nvSpPr>
          <p:cNvPr id="9" name="TextBox 8"/>
          <p:cNvSpPr txBox="1"/>
          <p:nvPr/>
        </p:nvSpPr>
        <p:spPr>
          <a:xfrm>
            <a:off x="8686800" y="4864608"/>
            <a:ext cx="365760" cy="138499"/>
          </a:xfrm>
          <a:prstGeom prst="rect">
            <a:avLst/>
          </a:prstGeom>
          <a:noFill/>
        </p:spPr>
        <p:txBody>
          <a:bodyPr wrap="square" lIns="0" tIns="0" rIns="0" bIns="0" anchor="t">
            <a:spAutoFit/>
          </a:bodyPr>
          <a:lstStyle/>
          <a:p>
            <a:pPr algn="r"/>
            <a:r>
              <a:rPr sz="900" b="0" i="0">
                <a:solidFill>
                  <a:srgbClr val="8A93A3"/>
                </a:solidFill>
                <a:latin typeface="Times New Roman" panose="02020603050405020304" pitchFamily="18" charset="0"/>
                <a:cs typeface="Times New Roman" panose="02020603050405020304" pitchFamily="18" charset="0"/>
              </a:rPr>
              <a:t>14</a:t>
            </a:r>
          </a:p>
        </p:txBody>
      </p:sp>
      <p:sp>
        <p:nvSpPr>
          <p:cNvPr id="10" name="TextBox 9"/>
          <p:cNvSpPr txBox="1"/>
          <p:nvPr/>
        </p:nvSpPr>
        <p:spPr>
          <a:xfrm>
            <a:off x="457200" y="4864608"/>
            <a:ext cx="5486400" cy="138499"/>
          </a:xfrm>
          <a:prstGeom prst="rect">
            <a:avLst/>
          </a:prstGeom>
          <a:noFill/>
        </p:spPr>
        <p:txBody>
          <a:bodyPr wrap="square" lIns="0" tIns="0" rIns="0" bIns="0" anchor="t">
            <a:spAutoFit/>
          </a:bodyPr>
          <a:lstStyle/>
          <a:p>
            <a:r>
              <a:rPr sz="900" b="0" i="0">
                <a:solidFill>
                  <a:srgbClr val="8A93A3"/>
                </a:solidFill>
                <a:latin typeface="Times New Roman" panose="02020603050405020304" pitchFamily="18" charset="0"/>
                <a:cs typeface="Times New Roman" panose="02020603050405020304" pitchFamily="18" charset="0"/>
              </a:rPr>
              <a:t>BlueStock Fintech | Mutual Fund Analytics Platform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457200" y="320040"/>
            <a:ext cx="5486400" cy="169277"/>
          </a:xfrm>
          <a:prstGeom prst="rect">
            <a:avLst/>
          </a:prstGeom>
          <a:noFill/>
        </p:spPr>
        <p:txBody>
          <a:bodyPr wrap="square" lIns="0" tIns="0" rIns="0" bIns="0" anchor="t">
            <a:spAutoFit/>
          </a:bodyPr>
          <a:lstStyle/>
          <a:p>
            <a:r>
              <a:rPr sz="1100" b="1" i="0" spc="150">
                <a:solidFill>
                  <a:srgbClr val="F58220"/>
                </a:solidFill>
                <a:latin typeface="Times New Roman" panose="02020603050405020304" pitchFamily="18" charset="0"/>
                <a:cs typeface="Times New Roman" panose="02020603050405020304" pitchFamily="18" charset="0"/>
              </a:rPr>
              <a:t>PORTFOLIO VISUALIZATIONS</a:t>
            </a:r>
          </a:p>
        </p:txBody>
      </p:sp>
      <p:sp>
        <p:nvSpPr>
          <p:cNvPr id="4" name="TextBox 3"/>
          <p:cNvSpPr txBox="1"/>
          <p:nvPr/>
        </p:nvSpPr>
        <p:spPr>
          <a:xfrm>
            <a:off x="457200" y="566928"/>
            <a:ext cx="8229600" cy="369332"/>
          </a:xfrm>
          <a:prstGeom prst="rect">
            <a:avLst/>
          </a:prstGeom>
          <a:noFill/>
        </p:spPr>
        <p:txBody>
          <a:bodyPr wrap="square" lIns="0" tIns="0" rIns="0" bIns="0" anchor="t">
            <a:spAutoFit/>
          </a:bodyPr>
          <a:lstStyle/>
          <a:p>
            <a:r>
              <a:rPr sz="2400" b="1" i="0">
                <a:solidFill>
                  <a:srgbClr val="0C1E36"/>
                </a:solidFill>
                <a:latin typeface="Times New Roman" panose="02020603050405020304" pitchFamily="18" charset="0"/>
                <a:cs typeface="Times New Roman" panose="02020603050405020304" pitchFamily="18" charset="0"/>
              </a:rPr>
              <a:t>Portfolio Allocation</a:t>
            </a:r>
          </a:p>
        </p:txBody>
      </p:sp>
      <p:sp>
        <p:nvSpPr>
          <p:cNvPr id="5" name="TextBox 4"/>
          <p:cNvSpPr txBox="1"/>
          <p:nvPr/>
        </p:nvSpPr>
        <p:spPr>
          <a:xfrm>
            <a:off x="580171" y="1248156"/>
            <a:ext cx="3840480" cy="2230226"/>
          </a:xfrm>
          <a:prstGeom prst="rect">
            <a:avLst/>
          </a:prstGeom>
          <a:noFill/>
        </p:spPr>
        <p:txBody>
          <a:bodyPr wrap="square" lIns="0" tIns="0" rIns="0" bIns="0" anchor="t">
            <a:spAutoFit/>
          </a:bodyPr>
          <a:lstStyle/>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Sector Allocation.  </a:t>
            </a:r>
            <a:r>
              <a:rPr sz="1400" b="0" i="0">
                <a:solidFill>
                  <a:srgbClr val="333333"/>
                </a:solidFill>
                <a:latin typeface="Times New Roman" panose="02020603050405020304" pitchFamily="18" charset="0"/>
                <a:cs typeface="Times New Roman" panose="02020603050405020304" pitchFamily="18" charset="0"/>
              </a:rPr>
              <a:t>Percentage allocation by industry sector across all aggregated holdings.</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Top Holdings.  </a:t>
            </a:r>
            <a:r>
              <a:rPr sz="1400" b="0" i="0">
                <a:solidFill>
                  <a:srgbClr val="333333"/>
                </a:solidFill>
                <a:latin typeface="Times New Roman" panose="02020603050405020304" pitchFamily="18" charset="0"/>
                <a:cs typeface="Times New Roman" panose="02020603050405020304" pitchFamily="18" charset="0"/>
              </a:rPr>
              <a:t>Largest individual stock exposures, filtered to the top 10 by weight.</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Insight.  </a:t>
            </a:r>
            <a:r>
              <a:rPr sz="1400" b="0" i="0">
                <a:solidFill>
                  <a:srgbClr val="333333"/>
                </a:solidFill>
                <a:latin typeface="Times New Roman" panose="02020603050405020304" pitchFamily="18" charset="0"/>
                <a:cs typeface="Times New Roman" panose="02020603050405020304" pitchFamily="18" charset="0"/>
              </a:rPr>
              <a:t>Banking and Financial Services hold the largest allocation share.</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Concentration risk.  </a:t>
            </a:r>
            <a:r>
              <a:rPr sz="1400" b="0" i="0">
                <a:solidFill>
                  <a:srgbClr val="333333"/>
                </a:solidFill>
                <a:latin typeface="Times New Roman" panose="02020603050405020304" pitchFamily="18" charset="0"/>
                <a:cs typeface="Times New Roman" panose="02020603050405020304" pitchFamily="18" charset="0"/>
              </a:rPr>
              <a:t>Notable exposure to large-cap names such as ICICI Bank, Infosys, and Grasim.</a:t>
            </a:r>
          </a:p>
        </p:txBody>
      </p:sp>
      <p:sp>
        <p:nvSpPr>
          <p:cNvPr id="6" name="Rounded Rectangle 5"/>
          <p:cNvSpPr/>
          <p:nvPr/>
        </p:nvSpPr>
        <p:spPr>
          <a:xfrm>
            <a:off x="457200" y="4160520"/>
            <a:ext cx="3840480" cy="548640"/>
          </a:xfrm>
          <a:prstGeom prst="roundRect">
            <a:avLst>
              <a:gd name="adj" fmla="val 12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050" b="0" i="1">
                <a:solidFill>
                  <a:srgbClr val="0C1E36"/>
                </a:solidFill>
                <a:latin typeface="Times New Roman" panose="02020603050405020304" pitchFamily="18" charset="0"/>
                <a:cs typeface="Times New Roman" panose="02020603050405020304" pitchFamily="18" charset="0"/>
              </a:rPr>
              <a:t>Sector concentration in Financials warrants active monitoring for diversification risk.</a:t>
            </a:r>
          </a:p>
        </p:txBody>
      </p:sp>
      <p:pic>
        <p:nvPicPr>
          <p:cNvPr id="7" name="Picture 6" descr="portfolio_sector_allocation.png"/>
          <p:cNvPicPr>
            <a:picLocks noChangeAspect="1"/>
          </p:cNvPicPr>
          <p:nvPr/>
        </p:nvPicPr>
        <p:blipFill>
          <a:blip r:embed="rId2"/>
          <a:stretch>
            <a:fillRect/>
          </a:stretch>
        </p:blipFill>
        <p:spPr>
          <a:xfrm>
            <a:off x="4754881" y="694944"/>
            <a:ext cx="4099348" cy="3639312"/>
          </a:xfrm>
          <a:prstGeom prst="rect">
            <a:avLst/>
          </a:prstGeom>
          <a:ln w="9525">
            <a:solidFill>
              <a:srgbClr val="E2E6EC"/>
            </a:solidFill>
          </a:ln>
          <a:effectLst>
            <a:outerShdw blurRad="90000" dist="30000" dir="5400000" rotWithShape="0">
              <a:srgbClr val="1A1A1A">
                <a:alpha val="25000"/>
              </a:srgbClr>
            </a:outerShdw>
          </a:effectLst>
        </p:spPr>
      </p:pic>
      <p:sp>
        <p:nvSpPr>
          <p:cNvPr id="8" name="TextBox 7"/>
          <p:cNvSpPr txBox="1"/>
          <p:nvPr/>
        </p:nvSpPr>
        <p:spPr>
          <a:xfrm>
            <a:off x="4663440" y="4535424"/>
            <a:ext cx="4389120" cy="153888"/>
          </a:xfrm>
          <a:prstGeom prst="rect">
            <a:avLst/>
          </a:prstGeom>
          <a:noFill/>
        </p:spPr>
        <p:txBody>
          <a:bodyPr wrap="square" lIns="0" tIns="0" rIns="0" bIns="0" anchor="t">
            <a:spAutoFit/>
          </a:bodyPr>
          <a:lstStyle/>
          <a:p>
            <a:pPr algn="ctr"/>
            <a:r>
              <a:rPr sz="1000" b="0" i="1">
                <a:solidFill>
                  <a:srgbClr val="8A93A3"/>
                </a:solidFill>
                <a:latin typeface="Times New Roman" panose="02020603050405020304" pitchFamily="18" charset="0"/>
                <a:cs typeface="Times New Roman" panose="02020603050405020304" pitchFamily="18" charset="0"/>
              </a:rPr>
              <a:t>Portfolio Sector Allocation</a:t>
            </a:r>
          </a:p>
        </p:txBody>
      </p:sp>
      <p:sp>
        <p:nvSpPr>
          <p:cNvPr id="9" name="TextBox 8"/>
          <p:cNvSpPr txBox="1"/>
          <p:nvPr/>
        </p:nvSpPr>
        <p:spPr>
          <a:xfrm>
            <a:off x="8686800" y="4864608"/>
            <a:ext cx="365760" cy="138499"/>
          </a:xfrm>
          <a:prstGeom prst="rect">
            <a:avLst/>
          </a:prstGeom>
          <a:noFill/>
        </p:spPr>
        <p:txBody>
          <a:bodyPr wrap="square" lIns="0" tIns="0" rIns="0" bIns="0" anchor="t">
            <a:spAutoFit/>
          </a:bodyPr>
          <a:lstStyle/>
          <a:p>
            <a:pPr algn="r"/>
            <a:r>
              <a:rPr sz="900" b="0" i="0">
                <a:solidFill>
                  <a:srgbClr val="8A93A3"/>
                </a:solidFill>
                <a:latin typeface="Times New Roman" panose="02020603050405020304" pitchFamily="18" charset="0"/>
                <a:cs typeface="Times New Roman" panose="02020603050405020304" pitchFamily="18" charset="0"/>
              </a:rPr>
              <a:t>15</a:t>
            </a:r>
          </a:p>
        </p:txBody>
      </p:sp>
      <p:sp>
        <p:nvSpPr>
          <p:cNvPr id="10" name="TextBox 9"/>
          <p:cNvSpPr txBox="1"/>
          <p:nvPr/>
        </p:nvSpPr>
        <p:spPr>
          <a:xfrm>
            <a:off x="457200" y="4864608"/>
            <a:ext cx="5486400" cy="138499"/>
          </a:xfrm>
          <a:prstGeom prst="rect">
            <a:avLst/>
          </a:prstGeom>
          <a:noFill/>
        </p:spPr>
        <p:txBody>
          <a:bodyPr wrap="square" lIns="0" tIns="0" rIns="0" bIns="0" anchor="t">
            <a:spAutoFit/>
          </a:bodyPr>
          <a:lstStyle/>
          <a:p>
            <a:r>
              <a:rPr sz="900" b="0" i="0">
                <a:solidFill>
                  <a:srgbClr val="8A93A3"/>
                </a:solidFill>
                <a:latin typeface="Times New Roman" panose="02020603050405020304" pitchFamily="18" charset="0"/>
                <a:cs typeface="Times New Roman" panose="02020603050405020304" pitchFamily="18" charset="0"/>
              </a:rPr>
              <a:t>BlueStock Fintech | Mutual Fund Analytics Platform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457200" y="320040"/>
            <a:ext cx="5486400" cy="169277"/>
          </a:xfrm>
          <a:prstGeom prst="rect">
            <a:avLst/>
          </a:prstGeom>
          <a:noFill/>
        </p:spPr>
        <p:txBody>
          <a:bodyPr wrap="square" lIns="0" tIns="0" rIns="0" bIns="0" anchor="t">
            <a:spAutoFit/>
          </a:bodyPr>
          <a:lstStyle/>
          <a:p>
            <a:r>
              <a:rPr sz="1100" b="1" i="0" spc="150">
                <a:solidFill>
                  <a:srgbClr val="F58220"/>
                </a:solidFill>
                <a:latin typeface="Times New Roman" panose="02020603050405020304" pitchFamily="18" charset="0"/>
                <a:cs typeface="Times New Roman" panose="02020603050405020304" pitchFamily="18" charset="0"/>
              </a:rPr>
              <a:t>RECOMMENDATION VISUALIZATIONS</a:t>
            </a:r>
          </a:p>
        </p:txBody>
      </p:sp>
      <p:sp>
        <p:nvSpPr>
          <p:cNvPr id="4" name="TextBox 3"/>
          <p:cNvSpPr txBox="1"/>
          <p:nvPr/>
        </p:nvSpPr>
        <p:spPr>
          <a:xfrm>
            <a:off x="457200" y="566928"/>
            <a:ext cx="8229600" cy="369332"/>
          </a:xfrm>
          <a:prstGeom prst="rect">
            <a:avLst/>
          </a:prstGeom>
          <a:noFill/>
        </p:spPr>
        <p:txBody>
          <a:bodyPr wrap="square" lIns="0" tIns="0" rIns="0" bIns="0" anchor="t">
            <a:spAutoFit/>
          </a:bodyPr>
          <a:lstStyle/>
          <a:p>
            <a:r>
              <a:rPr sz="2400" b="1" i="0">
                <a:solidFill>
                  <a:srgbClr val="0C1E36"/>
                </a:solidFill>
                <a:latin typeface="Times New Roman" panose="02020603050405020304" pitchFamily="18" charset="0"/>
                <a:cs typeface="Times New Roman" panose="02020603050405020304" pitchFamily="18" charset="0"/>
              </a:rPr>
              <a:t>Fund Recommendation Engine</a:t>
            </a:r>
          </a:p>
        </p:txBody>
      </p:sp>
      <p:sp>
        <p:nvSpPr>
          <p:cNvPr id="5" name="TextBox 4"/>
          <p:cNvSpPr txBox="1"/>
          <p:nvPr/>
        </p:nvSpPr>
        <p:spPr>
          <a:xfrm>
            <a:off x="548640" y="1275588"/>
            <a:ext cx="3840480" cy="2230226"/>
          </a:xfrm>
          <a:prstGeom prst="rect">
            <a:avLst/>
          </a:prstGeom>
          <a:noFill/>
        </p:spPr>
        <p:txBody>
          <a:bodyPr wrap="square" lIns="0" tIns="0" rIns="0" bIns="0" anchor="t">
            <a:spAutoFit/>
          </a:bodyPr>
          <a:lstStyle/>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Match Cards.  </a:t>
            </a:r>
            <a:r>
              <a:rPr sz="1400" b="0" i="0">
                <a:solidFill>
                  <a:srgbClr val="333333"/>
                </a:solidFill>
                <a:latin typeface="Times New Roman" panose="02020603050405020304" pitchFamily="18" charset="0"/>
                <a:cs typeface="Times New Roman" panose="02020603050405020304" pitchFamily="18" charset="0"/>
              </a:rPr>
              <a:t>Top-3 recommended funds displayed as scored cards with key ratios.</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Screening Grid.  </a:t>
            </a:r>
            <a:r>
              <a:rPr sz="1400" b="0" i="0">
                <a:solidFill>
                  <a:srgbClr val="333333"/>
                </a:solidFill>
                <a:latin typeface="Times New Roman" panose="02020603050405020304" pitchFamily="18" charset="0"/>
                <a:cs typeface="Times New Roman" panose="02020603050405020304" pitchFamily="18" charset="0"/>
              </a:rPr>
              <a:t>Full comparison table of candidate funds side-by-side.</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Profile used.  </a:t>
            </a:r>
            <a:r>
              <a:rPr sz="1400" b="0" i="0">
                <a:solidFill>
                  <a:srgbClr val="333333"/>
                </a:solidFill>
                <a:latin typeface="Times New Roman" panose="02020603050405020304" pitchFamily="18" charset="0"/>
                <a:cs typeface="Times New Roman" panose="02020603050405020304" pitchFamily="18" charset="0"/>
              </a:rPr>
              <a:t>Goal: Wealth Creation | Risk: Moderate | Horizon: 3–5 Years.</a:t>
            </a:r>
          </a:p>
          <a:p>
            <a:pPr>
              <a:lnSpc>
                <a:spcPct val="108000"/>
              </a:lnSpc>
              <a:spcAft>
                <a:spcPts val="1000"/>
              </a:spcAft>
            </a:pPr>
            <a:r>
              <a:rPr sz="1400" b="1" i="0">
                <a:solidFill>
                  <a:srgbClr val="F58220"/>
                </a:solidFill>
                <a:latin typeface="Times New Roman" panose="02020603050405020304" pitchFamily="18" charset="0"/>
                <a:cs typeface="Times New Roman" panose="02020603050405020304" pitchFamily="18" charset="0"/>
              </a:rPr>
              <a:t>▪  </a:t>
            </a:r>
            <a:r>
              <a:rPr sz="1400" b="1" i="0">
                <a:solidFill>
                  <a:srgbClr val="0C1E36"/>
                </a:solidFill>
                <a:latin typeface="Times New Roman" panose="02020603050405020304" pitchFamily="18" charset="0"/>
                <a:cs typeface="Times New Roman" panose="02020603050405020304" pitchFamily="18" charset="0"/>
              </a:rPr>
              <a:t>Top pick.  </a:t>
            </a:r>
            <a:r>
              <a:rPr sz="1400" b="0" i="0">
                <a:solidFill>
                  <a:srgbClr val="333333"/>
                </a:solidFill>
                <a:latin typeface="Times New Roman" panose="02020603050405020304" pitchFamily="18" charset="0"/>
                <a:cs typeface="Times New Roman" panose="02020603050405020304" pitchFamily="18" charset="0"/>
              </a:rPr>
              <a:t>Nippon India Large Cap Fund led with a 48.87% match score.</a:t>
            </a:r>
          </a:p>
        </p:txBody>
      </p:sp>
      <p:sp>
        <p:nvSpPr>
          <p:cNvPr id="6" name="Rounded Rectangle 5"/>
          <p:cNvSpPr/>
          <p:nvPr/>
        </p:nvSpPr>
        <p:spPr>
          <a:xfrm>
            <a:off x="457200" y="4160520"/>
            <a:ext cx="3840480" cy="548640"/>
          </a:xfrm>
          <a:prstGeom prst="roundRect">
            <a:avLst>
              <a:gd name="adj" fmla="val 12000"/>
            </a:avLst>
          </a:prstGeom>
          <a:solidFill>
            <a:srgbClr val="ECF0F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050" b="0" i="1">
                <a:solidFill>
                  <a:srgbClr val="0C1E36"/>
                </a:solidFill>
                <a:latin typeface="Times New Roman" panose="02020603050405020304" pitchFamily="18" charset="0"/>
                <a:cs typeface="Times New Roman" panose="02020603050405020304" pitchFamily="18" charset="0"/>
              </a:rPr>
              <a:t>The scoring engine balances returns, cost efficiency, and consistency — not returns alone.</a:t>
            </a:r>
          </a:p>
        </p:txBody>
      </p:sp>
      <p:pic>
        <p:nvPicPr>
          <p:cNvPr id="7" name="Picture 6" descr="fund_recommendation_results.png"/>
          <p:cNvPicPr>
            <a:picLocks noChangeAspect="1"/>
          </p:cNvPicPr>
          <p:nvPr/>
        </p:nvPicPr>
        <p:blipFill>
          <a:blip r:embed="rId2"/>
          <a:stretch>
            <a:fillRect/>
          </a:stretch>
        </p:blipFill>
        <p:spPr>
          <a:xfrm>
            <a:off x="4480560" y="1001110"/>
            <a:ext cx="4572000" cy="2593428"/>
          </a:xfrm>
          <a:prstGeom prst="rect">
            <a:avLst/>
          </a:prstGeom>
          <a:ln w="9525">
            <a:solidFill>
              <a:srgbClr val="E2E6EC"/>
            </a:solidFill>
          </a:ln>
          <a:effectLst>
            <a:outerShdw blurRad="90000" dist="30000" dir="5400000" rotWithShape="0">
              <a:srgbClr val="1A1A1A">
                <a:alpha val="25000"/>
              </a:srgbClr>
            </a:outerShdw>
          </a:effectLst>
        </p:spPr>
      </p:pic>
      <p:sp>
        <p:nvSpPr>
          <p:cNvPr id="8" name="TextBox 7"/>
          <p:cNvSpPr txBox="1"/>
          <p:nvPr/>
        </p:nvSpPr>
        <p:spPr>
          <a:xfrm>
            <a:off x="4663440" y="3701503"/>
            <a:ext cx="4389120" cy="153888"/>
          </a:xfrm>
          <a:prstGeom prst="rect">
            <a:avLst/>
          </a:prstGeom>
          <a:noFill/>
        </p:spPr>
        <p:txBody>
          <a:bodyPr wrap="square" lIns="0" tIns="0" rIns="0" bIns="0" anchor="t">
            <a:spAutoFit/>
          </a:bodyPr>
          <a:lstStyle/>
          <a:p>
            <a:pPr algn="ctr"/>
            <a:r>
              <a:rPr sz="1000" b="0" i="1">
                <a:solidFill>
                  <a:srgbClr val="8A93A3"/>
                </a:solidFill>
                <a:latin typeface="Times New Roman" panose="02020603050405020304" pitchFamily="18" charset="0"/>
                <a:cs typeface="Times New Roman" panose="02020603050405020304" pitchFamily="18" charset="0"/>
              </a:rPr>
              <a:t>Fund Recommendation Results</a:t>
            </a:r>
          </a:p>
        </p:txBody>
      </p:sp>
      <p:sp>
        <p:nvSpPr>
          <p:cNvPr id="9" name="TextBox 8"/>
          <p:cNvSpPr txBox="1"/>
          <p:nvPr/>
        </p:nvSpPr>
        <p:spPr>
          <a:xfrm>
            <a:off x="8686800" y="4864608"/>
            <a:ext cx="365760" cy="138499"/>
          </a:xfrm>
          <a:prstGeom prst="rect">
            <a:avLst/>
          </a:prstGeom>
          <a:noFill/>
        </p:spPr>
        <p:txBody>
          <a:bodyPr wrap="square" lIns="0" tIns="0" rIns="0" bIns="0" anchor="t">
            <a:spAutoFit/>
          </a:bodyPr>
          <a:lstStyle/>
          <a:p>
            <a:pPr algn="r"/>
            <a:r>
              <a:rPr sz="900" b="0" i="0">
                <a:solidFill>
                  <a:srgbClr val="8A93A3"/>
                </a:solidFill>
                <a:latin typeface="Times New Roman" panose="02020603050405020304" pitchFamily="18" charset="0"/>
                <a:cs typeface="Times New Roman" panose="02020603050405020304" pitchFamily="18" charset="0"/>
              </a:rPr>
              <a:t>16</a:t>
            </a:r>
          </a:p>
        </p:txBody>
      </p:sp>
      <p:sp>
        <p:nvSpPr>
          <p:cNvPr id="10" name="TextBox 9"/>
          <p:cNvSpPr txBox="1"/>
          <p:nvPr/>
        </p:nvSpPr>
        <p:spPr>
          <a:xfrm>
            <a:off x="457200" y="4864608"/>
            <a:ext cx="5486400" cy="138499"/>
          </a:xfrm>
          <a:prstGeom prst="rect">
            <a:avLst/>
          </a:prstGeom>
          <a:noFill/>
        </p:spPr>
        <p:txBody>
          <a:bodyPr wrap="square" lIns="0" tIns="0" rIns="0" bIns="0" anchor="t">
            <a:spAutoFit/>
          </a:bodyPr>
          <a:lstStyle/>
          <a:p>
            <a:r>
              <a:rPr sz="900" b="0" i="0">
                <a:solidFill>
                  <a:srgbClr val="8A93A3"/>
                </a:solidFill>
                <a:latin typeface="Times New Roman" panose="02020603050405020304" pitchFamily="18" charset="0"/>
                <a:cs typeface="Times New Roman" panose="02020603050405020304" pitchFamily="18" charset="0"/>
              </a:rPr>
              <a:t>BlueStock Fintech | Mutual Fund Analytics Platform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457200" y="320040"/>
            <a:ext cx="5486400" cy="169277"/>
          </a:xfrm>
          <a:prstGeom prst="rect">
            <a:avLst/>
          </a:prstGeom>
          <a:noFill/>
        </p:spPr>
        <p:txBody>
          <a:bodyPr wrap="square" lIns="0" tIns="0" rIns="0" bIns="0" anchor="t">
            <a:spAutoFit/>
          </a:bodyPr>
          <a:lstStyle/>
          <a:p>
            <a:r>
              <a:rPr sz="1100" b="1" i="0" spc="150">
                <a:solidFill>
                  <a:srgbClr val="F58220"/>
                </a:solidFill>
                <a:latin typeface="Times New Roman" panose="02020603050405020304" pitchFamily="18" charset="0"/>
                <a:cs typeface="Times New Roman" panose="02020603050405020304" pitchFamily="18" charset="0"/>
              </a:rPr>
              <a:t>FINDINGS</a:t>
            </a:r>
          </a:p>
        </p:txBody>
      </p:sp>
      <p:sp>
        <p:nvSpPr>
          <p:cNvPr id="4" name="TextBox 3"/>
          <p:cNvSpPr txBox="1"/>
          <p:nvPr/>
        </p:nvSpPr>
        <p:spPr>
          <a:xfrm>
            <a:off x="457200" y="566928"/>
            <a:ext cx="8229600" cy="369332"/>
          </a:xfrm>
          <a:prstGeom prst="rect">
            <a:avLst/>
          </a:prstGeom>
          <a:noFill/>
        </p:spPr>
        <p:txBody>
          <a:bodyPr wrap="square" lIns="0" tIns="0" rIns="0" bIns="0" anchor="t">
            <a:spAutoFit/>
          </a:bodyPr>
          <a:lstStyle/>
          <a:p>
            <a:r>
              <a:rPr sz="2400" b="1" i="0">
                <a:solidFill>
                  <a:srgbClr val="0C1E36"/>
                </a:solidFill>
                <a:latin typeface="Times New Roman" panose="02020603050405020304" pitchFamily="18" charset="0"/>
                <a:cs typeface="Times New Roman" panose="02020603050405020304" pitchFamily="18" charset="0"/>
              </a:rPr>
              <a:t>Business Insights</a:t>
            </a:r>
          </a:p>
        </p:txBody>
      </p:sp>
      <p:sp>
        <p:nvSpPr>
          <p:cNvPr id="5" name="Rounded Rectangle 4"/>
          <p:cNvSpPr/>
          <p:nvPr/>
        </p:nvSpPr>
        <p:spPr>
          <a:xfrm>
            <a:off x="457200" y="1417320"/>
            <a:ext cx="3931920" cy="1508760"/>
          </a:xfrm>
          <a:prstGeom prst="roundRect">
            <a:avLst>
              <a:gd name="adj" fmla="val 5000"/>
            </a:avLst>
          </a:prstGeom>
          <a:solidFill>
            <a:srgbClr val="FFFFF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wrap="square" lIns="201168" tIns="146304" rIns="201168" bIns="109728" rtlCol="0" anchor="ctr"/>
          <a:lstStyle/>
          <a:p>
            <a:pPr algn="ctr"/>
            <a:r>
              <a:rPr sz="1400" b="1" i="0">
                <a:solidFill>
                  <a:srgbClr val="F58220"/>
                </a:solidFill>
                <a:latin typeface="Times New Roman" panose="02020603050405020304" pitchFamily="18" charset="0"/>
                <a:cs typeface="Times New Roman" panose="02020603050405020304" pitchFamily="18" charset="0"/>
              </a:rPr>
              <a:t>Cost vs. Alpha Tradeoff</a:t>
            </a:r>
          </a:p>
          <a:p>
            <a:pPr>
              <a:spcBef>
                <a:spcPts val="500"/>
              </a:spcBef>
            </a:pPr>
            <a:r>
              <a:rPr sz="1150" b="0" i="0">
                <a:solidFill>
                  <a:srgbClr val="333333"/>
                </a:solidFill>
                <a:latin typeface="Times New Roman" panose="02020603050405020304" pitchFamily="18" charset="0"/>
                <a:cs typeface="Times New Roman" panose="02020603050405020304" pitchFamily="18" charset="0"/>
              </a:rPr>
              <a:t>High expense ratios often erode active management gains; low-fee funds frequently beat higher-cost peers on net returns.</a:t>
            </a:r>
          </a:p>
        </p:txBody>
      </p:sp>
      <p:sp>
        <p:nvSpPr>
          <p:cNvPr id="6" name="Rounded Rectangle 5"/>
          <p:cNvSpPr/>
          <p:nvPr/>
        </p:nvSpPr>
        <p:spPr>
          <a:xfrm>
            <a:off x="4572000" y="1417320"/>
            <a:ext cx="3931920" cy="1508760"/>
          </a:xfrm>
          <a:prstGeom prst="roundRect">
            <a:avLst>
              <a:gd name="adj" fmla="val 5000"/>
            </a:avLst>
          </a:prstGeom>
          <a:solidFill>
            <a:srgbClr val="FFFFF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wrap="square" lIns="201168" tIns="146304" rIns="201168" bIns="109728" rtlCol="0" anchor="ctr"/>
          <a:lstStyle/>
          <a:p>
            <a:pPr algn="ctr"/>
            <a:r>
              <a:rPr sz="1400" b="1" i="0">
                <a:solidFill>
                  <a:srgbClr val="F58220"/>
                </a:solidFill>
                <a:latin typeface="Times New Roman" panose="02020603050405020304" pitchFamily="18" charset="0"/>
                <a:cs typeface="Times New Roman" panose="02020603050405020304" pitchFamily="18" charset="0"/>
              </a:rPr>
              <a:t>Risk-Adjusted Efficiency</a:t>
            </a:r>
          </a:p>
          <a:p>
            <a:pPr>
              <a:spcBef>
                <a:spcPts val="500"/>
              </a:spcBef>
            </a:pPr>
            <a:r>
              <a:rPr sz="1150" b="0" i="0">
                <a:solidFill>
                  <a:srgbClr val="333333"/>
                </a:solidFill>
                <a:latin typeface="Times New Roman" panose="02020603050405020304" pitchFamily="18" charset="0"/>
                <a:cs typeface="Times New Roman" panose="02020603050405020304" pitchFamily="18" charset="0"/>
              </a:rPr>
              <a:t>Moderate-risk hybrid funds can deliver better Sharpe/Sortino outcomes than pure equity options during corrections.</a:t>
            </a:r>
          </a:p>
        </p:txBody>
      </p:sp>
      <p:sp>
        <p:nvSpPr>
          <p:cNvPr id="7" name="Rounded Rectangle 6"/>
          <p:cNvSpPr/>
          <p:nvPr/>
        </p:nvSpPr>
        <p:spPr>
          <a:xfrm>
            <a:off x="457200" y="3108960"/>
            <a:ext cx="3931920" cy="1508760"/>
          </a:xfrm>
          <a:prstGeom prst="roundRect">
            <a:avLst>
              <a:gd name="adj" fmla="val 5000"/>
            </a:avLst>
          </a:prstGeom>
          <a:solidFill>
            <a:srgbClr val="FFFFF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wrap="square" lIns="201168" tIns="146304" rIns="201168" bIns="109728" rtlCol="0" anchor="ctr"/>
          <a:lstStyle/>
          <a:p>
            <a:pPr algn="ctr"/>
            <a:r>
              <a:rPr sz="1400" b="1" i="0">
                <a:solidFill>
                  <a:srgbClr val="F58220"/>
                </a:solidFill>
                <a:latin typeface="Times New Roman" panose="02020603050405020304" pitchFamily="18" charset="0"/>
                <a:cs typeface="Times New Roman" panose="02020603050405020304" pitchFamily="18" charset="0"/>
              </a:rPr>
              <a:t>SIP Stabilization Effect</a:t>
            </a:r>
          </a:p>
          <a:p>
            <a:pPr>
              <a:spcBef>
                <a:spcPts val="500"/>
              </a:spcBef>
            </a:pPr>
            <a:r>
              <a:rPr sz="1150" b="0" i="0">
                <a:solidFill>
                  <a:srgbClr val="333333"/>
                </a:solidFill>
                <a:latin typeface="Times New Roman" panose="02020603050405020304" pitchFamily="18" charset="0"/>
                <a:cs typeface="Times New Roman" panose="02020603050405020304" pitchFamily="18" charset="0"/>
              </a:rPr>
              <a:t>Monthly SIP volumes show low volatility, acting as a stable funding source during market declines.</a:t>
            </a:r>
          </a:p>
        </p:txBody>
      </p:sp>
      <p:sp>
        <p:nvSpPr>
          <p:cNvPr id="8" name="Rounded Rectangle 7"/>
          <p:cNvSpPr/>
          <p:nvPr/>
        </p:nvSpPr>
        <p:spPr>
          <a:xfrm>
            <a:off x="4572000" y="3108960"/>
            <a:ext cx="3931920" cy="1508760"/>
          </a:xfrm>
          <a:prstGeom prst="roundRect">
            <a:avLst>
              <a:gd name="adj" fmla="val 5000"/>
            </a:avLst>
          </a:prstGeom>
          <a:solidFill>
            <a:srgbClr val="FFFFF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wrap="square" lIns="201168" tIns="146304" rIns="201168" bIns="109728" rtlCol="0" anchor="ctr"/>
          <a:lstStyle/>
          <a:p>
            <a:pPr algn="ctr"/>
            <a:r>
              <a:rPr sz="1400" b="1" i="0">
                <a:solidFill>
                  <a:srgbClr val="F58220"/>
                </a:solidFill>
                <a:latin typeface="Times New Roman" panose="02020603050405020304" pitchFamily="18" charset="0"/>
                <a:cs typeface="Times New Roman" panose="02020603050405020304" pitchFamily="18" charset="0"/>
              </a:rPr>
              <a:t>Demographic Segmentation</a:t>
            </a:r>
          </a:p>
          <a:p>
            <a:pPr>
              <a:spcBef>
                <a:spcPts val="500"/>
              </a:spcBef>
            </a:pPr>
            <a:r>
              <a:rPr sz="1150" b="0" i="0">
                <a:solidFill>
                  <a:srgbClr val="333333"/>
                </a:solidFill>
                <a:latin typeface="Times New Roman" panose="02020603050405020304" pitchFamily="18" charset="0"/>
                <a:cs typeface="Times New Roman" panose="02020603050405020304" pitchFamily="18" charset="0"/>
              </a:rPr>
              <a:t>Maharashtra, Delhi, and Punjab represent major investor hubs — clear targeted marketing opportunities.</a:t>
            </a:r>
          </a:p>
        </p:txBody>
      </p:sp>
      <p:sp>
        <p:nvSpPr>
          <p:cNvPr id="9" name="TextBox 8"/>
          <p:cNvSpPr txBox="1"/>
          <p:nvPr/>
        </p:nvSpPr>
        <p:spPr>
          <a:xfrm>
            <a:off x="8686800" y="4864608"/>
            <a:ext cx="365760" cy="138499"/>
          </a:xfrm>
          <a:prstGeom prst="rect">
            <a:avLst/>
          </a:prstGeom>
          <a:noFill/>
        </p:spPr>
        <p:txBody>
          <a:bodyPr wrap="square" lIns="0" tIns="0" rIns="0" bIns="0" anchor="t">
            <a:spAutoFit/>
          </a:bodyPr>
          <a:lstStyle/>
          <a:p>
            <a:pPr algn="r"/>
            <a:r>
              <a:rPr sz="900" b="0" i="0">
                <a:solidFill>
                  <a:srgbClr val="8A93A3"/>
                </a:solidFill>
                <a:latin typeface="Times New Roman" panose="02020603050405020304" pitchFamily="18" charset="0"/>
                <a:cs typeface="Times New Roman" panose="02020603050405020304" pitchFamily="18" charset="0"/>
              </a:rPr>
              <a:t>17</a:t>
            </a:r>
          </a:p>
        </p:txBody>
      </p:sp>
      <p:sp>
        <p:nvSpPr>
          <p:cNvPr id="10" name="TextBox 9"/>
          <p:cNvSpPr txBox="1"/>
          <p:nvPr/>
        </p:nvSpPr>
        <p:spPr>
          <a:xfrm>
            <a:off x="457200" y="4864608"/>
            <a:ext cx="5486400" cy="138499"/>
          </a:xfrm>
          <a:prstGeom prst="rect">
            <a:avLst/>
          </a:prstGeom>
          <a:noFill/>
        </p:spPr>
        <p:txBody>
          <a:bodyPr wrap="square" lIns="0" tIns="0" rIns="0" bIns="0" anchor="t">
            <a:spAutoFit/>
          </a:bodyPr>
          <a:lstStyle/>
          <a:p>
            <a:r>
              <a:rPr sz="900" b="0" i="0">
                <a:solidFill>
                  <a:srgbClr val="8A93A3"/>
                </a:solidFill>
                <a:latin typeface="Times New Roman" panose="02020603050405020304" pitchFamily="18" charset="0"/>
                <a:cs typeface="Times New Roman" panose="02020603050405020304" pitchFamily="18" charset="0"/>
              </a:rPr>
              <a:t>BlueStock Fintech | Mutual Fund Analytics Platform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457200" y="320040"/>
            <a:ext cx="5486400" cy="169277"/>
          </a:xfrm>
          <a:prstGeom prst="rect">
            <a:avLst/>
          </a:prstGeom>
          <a:noFill/>
        </p:spPr>
        <p:txBody>
          <a:bodyPr wrap="square" lIns="0" tIns="0" rIns="0" bIns="0" anchor="t">
            <a:spAutoFit/>
          </a:bodyPr>
          <a:lstStyle/>
          <a:p>
            <a:r>
              <a:rPr sz="1100" b="1" i="0" spc="150">
                <a:solidFill>
                  <a:srgbClr val="F58220"/>
                </a:solidFill>
                <a:latin typeface="Times New Roman" panose="02020603050405020304" pitchFamily="18" charset="0"/>
                <a:cs typeface="Times New Roman" panose="02020603050405020304" pitchFamily="18" charset="0"/>
              </a:rPr>
              <a:t>RETROSPECTIVE</a:t>
            </a:r>
          </a:p>
        </p:txBody>
      </p:sp>
      <p:sp>
        <p:nvSpPr>
          <p:cNvPr id="4" name="TextBox 3"/>
          <p:cNvSpPr txBox="1"/>
          <p:nvPr/>
        </p:nvSpPr>
        <p:spPr>
          <a:xfrm>
            <a:off x="457200" y="566928"/>
            <a:ext cx="8229600" cy="369332"/>
          </a:xfrm>
          <a:prstGeom prst="rect">
            <a:avLst/>
          </a:prstGeom>
          <a:noFill/>
        </p:spPr>
        <p:txBody>
          <a:bodyPr wrap="square" lIns="0" tIns="0" rIns="0" bIns="0" anchor="t">
            <a:spAutoFit/>
          </a:bodyPr>
          <a:lstStyle/>
          <a:p>
            <a:r>
              <a:rPr sz="2400" b="1" i="0">
                <a:solidFill>
                  <a:srgbClr val="0C1E36"/>
                </a:solidFill>
                <a:latin typeface="Times New Roman" panose="02020603050405020304" pitchFamily="18" charset="0"/>
                <a:cs typeface="Times New Roman" panose="02020603050405020304" pitchFamily="18" charset="0"/>
              </a:rPr>
              <a:t>Challenges Faced</a:t>
            </a:r>
          </a:p>
        </p:txBody>
      </p:sp>
      <p:sp>
        <p:nvSpPr>
          <p:cNvPr id="5" name="TextBox 4"/>
          <p:cNvSpPr txBox="1"/>
          <p:nvPr/>
        </p:nvSpPr>
        <p:spPr>
          <a:xfrm>
            <a:off x="457200" y="1463040"/>
            <a:ext cx="8229600" cy="2042803"/>
          </a:xfrm>
          <a:prstGeom prst="rect">
            <a:avLst/>
          </a:prstGeom>
          <a:noFill/>
        </p:spPr>
        <p:txBody>
          <a:bodyPr wrap="square" lIns="0" tIns="0" rIns="0" bIns="0" anchor="t">
            <a:spAutoFit/>
          </a:bodyPr>
          <a:lstStyle/>
          <a:p>
            <a:pPr>
              <a:lnSpc>
                <a:spcPct val="108000"/>
              </a:lnSpc>
              <a:spcAft>
                <a:spcPts val="2200"/>
              </a:spcAft>
            </a:pPr>
            <a:r>
              <a:rPr sz="1500" b="1" i="0">
                <a:solidFill>
                  <a:srgbClr val="F58220"/>
                </a:solidFill>
                <a:latin typeface="Times New Roman" panose="02020603050405020304" pitchFamily="18" charset="0"/>
                <a:cs typeface="Times New Roman" panose="02020603050405020304" pitchFamily="18" charset="0"/>
              </a:rPr>
              <a:t>▪  </a:t>
            </a:r>
            <a:r>
              <a:rPr sz="1500" b="1" i="0">
                <a:solidFill>
                  <a:srgbClr val="0C1E36"/>
                </a:solidFill>
                <a:latin typeface="Times New Roman" panose="02020603050405020304" pitchFamily="18" charset="0"/>
                <a:cs typeface="Times New Roman" panose="02020603050405020304" pitchFamily="18" charset="0"/>
              </a:rPr>
              <a:t>Selecting Suitable KPIs.  </a:t>
            </a:r>
            <a:r>
              <a:rPr sz="1500" b="0" i="0">
                <a:solidFill>
                  <a:srgbClr val="333333"/>
                </a:solidFill>
                <a:latin typeface="Times New Roman" panose="02020603050405020304" pitchFamily="18" charset="0"/>
                <a:cs typeface="Times New Roman" panose="02020603050405020304" pitchFamily="18" charset="0"/>
              </a:rPr>
              <a:t>Determining which visual KPIs matter most across pages — e.g. NAV history vs. demographic transactions — without overwhelming the user.</a:t>
            </a:r>
          </a:p>
          <a:p>
            <a:pPr>
              <a:lnSpc>
                <a:spcPct val="108000"/>
              </a:lnSpc>
              <a:spcAft>
                <a:spcPts val="2200"/>
              </a:spcAft>
            </a:pPr>
            <a:r>
              <a:rPr sz="1500" b="1" i="0">
                <a:solidFill>
                  <a:srgbClr val="F58220"/>
                </a:solidFill>
                <a:latin typeface="Times New Roman" panose="02020603050405020304" pitchFamily="18" charset="0"/>
                <a:cs typeface="Times New Roman" panose="02020603050405020304" pitchFamily="18" charset="0"/>
              </a:rPr>
              <a:t>▪  </a:t>
            </a:r>
            <a:r>
              <a:rPr sz="1500" b="1" i="0">
                <a:solidFill>
                  <a:srgbClr val="0C1E36"/>
                </a:solidFill>
                <a:latin typeface="Times New Roman" panose="02020603050405020304" pitchFamily="18" charset="0"/>
                <a:cs typeface="Times New Roman" panose="02020603050405020304" pitchFamily="18" charset="0"/>
              </a:rPr>
              <a:t>Designing Recommendation Logic.  </a:t>
            </a:r>
            <a:r>
              <a:rPr sz="1500" b="0" i="0">
                <a:solidFill>
                  <a:srgbClr val="333333"/>
                </a:solidFill>
                <a:latin typeface="Times New Roman" panose="02020603050405020304" pitchFamily="18" charset="0"/>
                <a:cs typeface="Times New Roman" panose="02020603050405020304" pitchFamily="18" charset="0"/>
              </a:rPr>
              <a:t>Constructing a balanced scoring system combining return metrics, risk profiles, and expense ratios to rank funds fairly.</a:t>
            </a:r>
          </a:p>
          <a:p>
            <a:pPr>
              <a:lnSpc>
                <a:spcPct val="108000"/>
              </a:lnSpc>
              <a:spcAft>
                <a:spcPts val="2200"/>
              </a:spcAft>
            </a:pPr>
            <a:r>
              <a:rPr sz="1500" b="1" i="0">
                <a:solidFill>
                  <a:srgbClr val="F58220"/>
                </a:solidFill>
                <a:latin typeface="Times New Roman" panose="02020603050405020304" pitchFamily="18" charset="0"/>
                <a:cs typeface="Times New Roman" panose="02020603050405020304" pitchFamily="18" charset="0"/>
              </a:rPr>
              <a:t>▪  </a:t>
            </a:r>
            <a:r>
              <a:rPr sz="1500" b="1" i="0">
                <a:solidFill>
                  <a:srgbClr val="0C1E36"/>
                </a:solidFill>
                <a:latin typeface="Times New Roman" panose="02020603050405020304" pitchFamily="18" charset="0"/>
                <a:cs typeface="Times New Roman" panose="02020603050405020304" pitchFamily="18" charset="0"/>
              </a:rPr>
              <a:t>Benchmark Selection &amp; Comparison.  </a:t>
            </a:r>
            <a:r>
              <a:rPr sz="1500" b="0" i="0">
                <a:solidFill>
                  <a:srgbClr val="333333"/>
                </a:solidFill>
                <a:latin typeface="Times New Roman" panose="02020603050405020304" pitchFamily="18" charset="0"/>
                <a:cs typeface="Times New Roman" panose="02020603050405020304" pitchFamily="18" charset="0"/>
              </a:rPr>
              <a:t>Choosing appropriate benchmark indices (NIFTY 50 vs. NIFTY Midcap 100) for different fund categories to ensure fair outperformance mapping.</a:t>
            </a:r>
          </a:p>
        </p:txBody>
      </p:sp>
      <p:sp>
        <p:nvSpPr>
          <p:cNvPr id="6" name="TextBox 5"/>
          <p:cNvSpPr txBox="1"/>
          <p:nvPr/>
        </p:nvSpPr>
        <p:spPr>
          <a:xfrm>
            <a:off x="8686800" y="4864608"/>
            <a:ext cx="365760" cy="138499"/>
          </a:xfrm>
          <a:prstGeom prst="rect">
            <a:avLst/>
          </a:prstGeom>
          <a:noFill/>
        </p:spPr>
        <p:txBody>
          <a:bodyPr wrap="square" lIns="0" tIns="0" rIns="0" bIns="0" anchor="t">
            <a:spAutoFit/>
          </a:bodyPr>
          <a:lstStyle/>
          <a:p>
            <a:pPr algn="r"/>
            <a:r>
              <a:rPr sz="900" b="0" i="0">
                <a:solidFill>
                  <a:srgbClr val="8A93A3"/>
                </a:solidFill>
                <a:latin typeface="Times New Roman" panose="02020603050405020304" pitchFamily="18" charset="0"/>
                <a:cs typeface="Times New Roman" panose="02020603050405020304" pitchFamily="18" charset="0"/>
              </a:rPr>
              <a:t>18</a:t>
            </a:r>
          </a:p>
        </p:txBody>
      </p:sp>
      <p:sp>
        <p:nvSpPr>
          <p:cNvPr id="7" name="TextBox 6"/>
          <p:cNvSpPr txBox="1"/>
          <p:nvPr/>
        </p:nvSpPr>
        <p:spPr>
          <a:xfrm>
            <a:off x="457200" y="4864608"/>
            <a:ext cx="5486400" cy="138499"/>
          </a:xfrm>
          <a:prstGeom prst="rect">
            <a:avLst/>
          </a:prstGeom>
          <a:noFill/>
        </p:spPr>
        <p:txBody>
          <a:bodyPr wrap="square" lIns="0" tIns="0" rIns="0" bIns="0" anchor="t">
            <a:spAutoFit/>
          </a:bodyPr>
          <a:lstStyle/>
          <a:p>
            <a:r>
              <a:rPr sz="900" b="0" i="0">
                <a:solidFill>
                  <a:srgbClr val="8A93A3"/>
                </a:solidFill>
                <a:latin typeface="Times New Roman" panose="02020603050405020304" pitchFamily="18" charset="0"/>
                <a:cs typeface="Times New Roman" panose="02020603050405020304" pitchFamily="18" charset="0"/>
              </a:rPr>
              <a:t>BlueStock Fintech | Mutual Fund Analytics Platform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C1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457200" y="320040"/>
            <a:ext cx="5486400" cy="169277"/>
          </a:xfrm>
          <a:prstGeom prst="rect">
            <a:avLst/>
          </a:prstGeom>
          <a:noFill/>
        </p:spPr>
        <p:txBody>
          <a:bodyPr wrap="square" lIns="0" tIns="0" rIns="0" bIns="0" anchor="t">
            <a:spAutoFit/>
          </a:bodyPr>
          <a:lstStyle/>
          <a:p>
            <a:r>
              <a:rPr sz="1100" b="1" i="0" spc="150">
                <a:solidFill>
                  <a:srgbClr val="F58220"/>
                </a:solidFill>
                <a:latin typeface="Times New Roman" panose="02020603050405020304" pitchFamily="18" charset="0"/>
                <a:cs typeface="Times New Roman" panose="02020603050405020304" pitchFamily="18" charset="0"/>
              </a:rPr>
              <a:t>DELIVERABLES</a:t>
            </a:r>
          </a:p>
        </p:txBody>
      </p:sp>
      <p:sp>
        <p:nvSpPr>
          <p:cNvPr id="4" name="TextBox 3"/>
          <p:cNvSpPr txBox="1"/>
          <p:nvPr/>
        </p:nvSpPr>
        <p:spPr>
          <a:xfrm>
            <a:off x="457200" y="566928"/>
            <a:ext cx="8229600" cy="369332"/>
          </a:xfrm>
          <a:prstGeom prst="rect">
            <a:avLst/>
          </a:prstGeom>
          <a:noFill/>
        </p:spPr>
        <p:txBody>
          <a:bodyPr wrap="square" lIns="0" tIns="0" rIns="0" bIns="0" anchor="t">
            <a:spAutoFit/>
          </a:bodyPr>
          <a:lstStyle/>
          <a:p>
            <a:r>
              <a:rPr sz="2400" b="1" i="0">
                <a:solidFill>
                  <a:srgbClr val="FFFFFF"/>
                </a:solidFill>
                <a:latin typeface="Times New Roman" panose="02020603050405020304" pitchFamily="18" charset="0"/>
                <a:cs typeface="Times New Roman" panose="02020603050405020304" pitchFamily="18" charset="0"/>
              </a:rPr>
              <a:t>Project Outcomes</a:t>
            </a:r>
          </a:p>
        </p:txBody>
      </p:sp>
      <p:sp>
        <p:nvSpPr>
          <p:cNvPr id="5" name="Rounded Rectangle 4"/>
          <p:cNvSpPr/>
          <p:nvPr/>
        </p:nvSpPr>
        <p:spPr>
          <a:xfrm>
            <a:off x="457200" y="1691640"/>
            <a:ext cx="1874519" cy="2011680"/>
          </a:xfrm>
          <a:prstGeom prst="roundRect">
            <a:avLst>
              <a:gd name="adj" fmla="val 8000"/>
            </a:avLst>
          </a:prstGeom>
          <a:solidFill>
            <a:srgbClr val="102848"/>
          </a:solidFill>
          <a:ln w="9525">
            <a:solidFill>
              <a:srgbClr val="2A406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000" b="1" i="0">
                <a:solidFill>
                  <a:srgbClr val="F58220"/>
                </a:solidFill>
                <a:latin typeface="Times New Roman" panose="02020603050405020304" pitchFamily="18" charset="0"/>
                <a:cs typeface="Times New Roman" panose="02020603050405020304" pitchFamily="18" charset="0"/>
              </a:rPr>
              <a:t>12</a:t>
            </a:r>
          </a:p>
          <a:p>
            <a:pPr algn="ctr">
              <a:spcBef>
                <a:spcPts val="400"/>
              </a:spcBef>
            </a:pPr>
            <a:r>
              <a:rPr sz="1100" b="0" i="0">
                <a:solidFill>
                  <a:srgbClr val="FFFFFF"/>
                </a:solidFill>
                <a:latin typeface="Times New Roman" panose="02020603050405020304" pitchFamily="18" charset="0"/>
                <a:cs typeface="Times New Roman" panose="02020603050405020304" pitchFamily="18" charset="0"/>
              </a:rPr>
              <a:t>Live Dashboard Pages</a:t>
            </a:r>
          </a:p>
        </p:txBody>
      </p:sp>
      <p:sp>
        <p:nvSpPr>
          <p:cNvPr id="6" name="Rounded Rectangle 5"/>
          <p:cNvSpPr/>
          <p:nvPr/>
        </p:nvSpPr>
        <p:spPr>
          <a:xfrm>
            <a:off x="2496311" y="1691640"/>
            <a:ext cx="1874519" cy="2011680"/>
          </a:xfrm>
          <a:prstGeom prst="roundRect">
            <a:avLst>
              <a:gd name="adj" fmla="val 8000"/>
            </a:avLst>
          </a:prstGeom>
          <a:solidFill>
            <a:srgbClr val="102848"/>
          </a:solidFill>
          <a:ln w="9525">
            <a:solidFill>
              <a:srgbClr val="2A406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000" b="1" i="0">
                <a:solidFill>
                  <a:srgbClr val="F58220"/>
                </a:solidFill>
                <a:latin typeface="Times New Roman" panose="02020603050405020304" pitchFamily="18" charset="0"/>
                <a:cs typeface="Times New Roman" panose="02020603050405020304" pitchFamily="18" charset="0"/>
              </a:rPr>
              <a:t>14</a:t>
            </a:r>
            <a:r>
              <a:rPr lang="en-IN" sz="3000" b="1" i="0">
                <a:solidFill>
                  <a:srgbClr val="F58220"/>
                </a:solidFill>
                <a:latin typeface="Times New Roman" panose="02020603050405020304" pitchFamily="18" charset="0"/>
                <a:cs typeface="Times New Roman" panose="02020603050405020304" pitchFamily="18" charset="0"/>
              </a:rPr>
              <a:t>+</a:t>
            </a:r>
            <a:endParaRPr sz="3000" b="1" i="0">
              <a:solidFill>
                <a:srgbClr val="F58220"/>
              </a:solidFill>
              <a:latin typeface="Times New Roman" panose="02020603050405020304" pitchFamily="18" charset="0"/>
              <a:cs typeface="Times New Roman" panose="02020603050405020304" pitchFamily="18" charset="0"/>
            </a:endParaRPr>
          </a:p>
          <a:p>
            <a:pPr algn="ctr">
              <a:spcBef>
                <a:spcPts val="400"/>
              </a:spcBef>
            </a:pPr>
            <a:r>
              <a:rPr sz="1100" b="0" i="0">
                <a:solidFill>
                  <a:srgbClr val="FFFFFF"/>
                </a:solidFill>
                <a:latin typeface="Times New Roman" panose="02020603050405020304" pitchFamily="18" charset="0"/>
                <a:cs typeface="Times New Roman" panose="02020603050405020304" pitchFamily="18" charset="0"/>
              </a:rPr>
              <a:t>Clean Interactive Charts</a:t>
            </a:r>
          </a:p>
        </p:txBody>
      </p:sp>
      <p:sp>
        <p:nvSpPr>
          <p:cNvPr id="7" name="Rounded Rectangle 6"/>
          <p:cNvSpPr/>
          <p:nvPr/>
        </p:nvSpPr>
        <p:spPr>
          <a:xfrm>
            <a:off x="4535422" y="1691640"/>
            <a:ext cx="1874519" cy="2011680"/>
          </a:xfrm>
          <a:prstGeom prst="roundRect">
            <a:avLst>
              <a:gd name="adj" fmla="val 8000"/>
            </a:avLst>
          </a:prstGeom>
          <a:solidFill>
            <a:srgbClr val="102848"/>
          </a:solidFill>
          <a:ln w="9525">
            <a:solidFill>
              <a:srgbClr val="2A406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000" b="1" i="0">
                <a:solidFill>
                  <a:srgbClr val="F58220"/>
                </a:solidFill>
                <a:latin typeface="Times New Roman" panose="02020603050405020304" pitchFamily="18" charset="0"/>
                <a:cs typeface="Times New Roman" panose="02020603050405020304" pitchFamily="18" charset="0"/>
              </a:rPr>
              <a:t>2</a:t>
            </a:r>
          </a:p>
          <a:p>
            <a:pPr algn="ctr">
              <a:spcBef>
                <a:spcPts val="400"/>
              </a:spcBef>
            </a:pPr>
            <a:r>
              <a:rPr sz="1100" b="0" i="0">
                <a:solidFill>
                  <a:srgbClr val="FFFFFF"/>
                </a:solidFill>
                <a:latin typeface="Times New Roman" panose="02020603050405020304" pitchFamily="18" charset="0"/>
                <a:cs typeface="Times New Roman" panose="02020603050405020304" pitchFamily="18" charset="0"/>
              </a:rPr>
              <a:t>Export Formats (Excel &amp; PDF)</a:t>
            </a:r>
          </a:p>
        </p:txBody>
      </p:sp>
      <p:sp>
        <p:nvSpPr>
          <p:cNvPr id="8" name="Rounded Rectangle 7"/>
          <p:cNvSpPr/>
          <p:nvPr/>
        </p:nvSpPr>
        <p:spPr>
          <a:xfrm>
            <a:off x="6574533" y="1691640"/>
            <a:ext cx="1874519" cy="2011680"/>
          </a:xfrm>
          <a:prstGeom prst="roundRect">
            <a:avLst>
              <a:gd name="adj" fmla="val 8000"/>
            </a:avLst>
          </a:prstGeom>
          <a:solidFill>
            <a:srgbClr val="102848"/>
          </a:solidFill>
          <a:ln w="9525">
            <a:solidFill>
              <a:srgbClr val="2A406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000" b="1" i="0">
                <a:solidFill>
                  <a:srgbClr val="F58220"/>
                </a:solidFill>
                <a:latin typeface="Times New Roman" panose="02020603050405020304" pitchFamily="18" charset="0"/>
                <a:cs typeface="Times New Roman" panose="02020603050405020304" pitchFamily="18" charset="0"/>
              </a:rPr>
              <a:t>Weekly</a:t>
            </a:r>
          </a:p>
          <a:p>
            <a:pPr algn="ctr">
              <a:spcBef>
                <a:spcPts val="400"/>
              </a:spcBef>
            </a:pPr>
            <a:r>
              <a:rPr sz="1100" b="0" i="0">
                <a:solidFill>
                  <a:srgbClr val="FFFFFF"/>
                </a:solidFill>
                <a:latin typeface="Times New Roman" panose="02020603050405020304" pitchFamily="18" charset="0"/>
                <a:cs typeface="Times New Roman" panose="02020603050405020304" pitchFamily="18" charset="0"/>
              </a:rPr>
              <a:t>HTML Report Updates</a:t>
            </a:r>
          </a:p>
        </p:txBody>
      </p:sp>
      <p:sp>
        <p:nvSpPr>
          <p:cNvPr id="9" name="TextBox 8"/>
          <p:cNvSpPr txBox="1"/>
          <p:nvPr/>
        </p:nvSpPr>
        <p:spPr>
          <a:xfrm>
            <a:off x="8686800" y="4864608"/>
            <a:ext cx="365760" cy="138499"/>
          </a:xfrm>
          <a:prstGeom prst="rect">
            <a:avLst/>
          </a:prstGeom>
          <a:noFill/>
        </p:spPr>
        <p:txBody>
          <a:bodyPr wrap="square" lIns="0" tIns="0" rIns="0" bIns="0" anchor="t">
            <a:spAutoFit/>
          </a:bodyPr>
          <a:lstStyle/>
          <a:p>
            <a:pPr algn="r"/>
            <a:r>
              <a:rPr sz="900" b="0" i="0">
                <a:solidFill>
                  <a:srgbClr val="8A93A3"/>
                </a:solidFill>
                <a:latin typeface="Times New Roman" panose="02020603050405020304" pitchFamily="18" charset="0"/>
                <a:cs typeface="Times New Roman" panose="02020603050405020304" pitchFamily="18" charset="0"/>
              </a:rPr>
              <a:t>19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5486400" cy="274320"/>
          </a:xfrm>
          <a:prstGeom prst="rect">
            <a:avLst/>
          </a:prstGeom>
          <a:noFill/>
        </p:spPr>
        <p:txBody>
          <a:bodyPr wrap="square" lIns="0" tIns="0" rIns="0" bIns="0" anchor="t">
            <a:spAutoFit/>
          </a:bodyPr>
          <a:lstStyle/>
          <a:p>
            <a:r>
              <a:rPr sz="1100" b="1" i="0" spc="150">
                <a:solidFill>
                  <a:srgbClr val="F58220"/>
                </a:solidFill>
                <a:latin typeface="Calibri"/>
              </a:rPr>
              <a:t>LOOKING AHEAD</a:t>
            </a:r>
          </a:p>
        </p:txBody>
      </p:sp>
      <p:sp>
        <p:nvSpPr>
          <p:cNvPr id="4" name="TextBox 3"/>
          <p:cNvSpPr txBox="1"/>
          <p:nvPr/>
        </p:nvSpPr>
        <p:spPr>
          <a:xfrm>
            <a:off x="457200" y="566928"/>
            <a:ext cx="8229600" cy="548640"/>
          </a:xfrm>
          <a:prstGeom prst="rect">
            <a:avLst/>
          </a:prstGeom>
          <a:noFill/>
        </p:spPr>
        <p:txBody>
          <a:bodyPr wrap="square" lIns="0" tIns="0" rIns="0" bIns="0" anchor="t">
            <a:spAutoFit/>
          </a:bodyPr>
          <a:lstStyle/>
          <a:p>
            <a:r>
              <a:rPr lang="en-IN" sz="2400" b="1" i="0">
                <a:solidFill>
                  <a:srgbClr val="0C1E36"/>
                </a:solidFill>
                <a:latin typeface="Calibri"/>
              </a:rPr>
              <a:t>Future Scope &amp; </a:t>
            </a:r>
            <a:r>
              <a:rPr sz="2400" b="1" i="0">
                <a:solidFill>
                  <a:srgbClr val="0C1E36"/>
                </a:solidFill>
                <a:latin typeface="Calibri"/>
              </a:rPr>
              <a:t>Conclusion</a:t>
            </a:r>
          </a:p>
        </p:txBody>
      </p:sp>
      <p:sp>
        <p:nvSpPr>
          <p:cNvPr id="5" name="TextBox 4"/>
          <p:cNvSpPr txBox="1"/>
          <p:nvPr/>
        </p:nvSpPr>
        <p:spPr>
          <a:xfrm>
            <a:off x="457200" y="1325880"/>
            <a:ext cx="3931920" cy="274320"/>
          </a:xfrm>
          <a:prstGeom prst="rect">
            <a:avLst/>
          </a:prstGeom>
          <a:noFill/>
        </p:spPr>
        <p:txBody>
          <a:bodyPr wrap="square" lIns="0" tIns="0" rIns="0" bIns="0" anchor="t">
            <a:spAutoFit/>
          </a:bodyPr>
          <a:lstStyle/>
          <a:p>
            <a:r>
              <a:rPr sz="1300" b="1" i="0">
                <a:solidFill>
                  <a:srgbClr val="0C1E36"/>
                </a:solidFill>
                <a:latin typeface="Calibri"/>
              </a:rPr>
              <a:t>Future Scope</a:t>
            </a:r>
          </a:p>
        </p:txBody>
      </p:sp>
      <p:sp>
        <p:nvSpPr>
          <p:cNvPr id="6" name="TextBox 5"/>
          <p:cNvSpPr txBox="1"/>
          <p:nvPr/>
        </p:nvSpPr>
        <p:spPr>
          <a:xfrm>
            <a:off x="457200" y="1691640"/>
            <a:ext cx="3931920" cy="1645920"/>
          </a:xfrm>
          <a:prstGeom prst="rect">
            <a:avLst/>
          </a:prstGeom>
          <a:noFill/>
        </p:spPr>
        <p:txBody>
          <a:bodyPr wrap="square" lIns="0" tIns="0" rIns="0" bIns="0" anchor="t">
            <a:spAutoFit/>
          </a:bodyPr>
          <a:lstStyle/>
          <a:p>
            <a:pPr>
              <a:lnSpc>
                <a:spcPct val="108000"/>
              </a:lnSpc>
              <a:spcAft>
                <a:spcPts val="1000"/>
              </a:spcAft>
            </a:pPr>
            <a:r>
              <a:rPr sz="1300" b="1" i="0">
                <a:solidFill>
                  <a:srgbClr val="F58220"/>
                </a:solidFill>
                <a:latin typeface="Calibri"/>
              </a:rPr>
              <a:t>▪  </a:t>
            </a:r>
            <a:r>
              <a:rPr sz="1300" b="0" i="0">
                <a:solidFill>
                  <a:srgbClr val="333333"/>
                </a:solidFill>
                <a:latin typeface="Calibri"/>
              </a:rPr>
              <a:t>Automated cloud scaling for the ETL pipeline</a:t>
            </a:r>
          </a:p>
          <a:p>
            <a:pPr>
              <a:lnSpc>
                <a:spcPct val="108000"/>
              </a:lnSpc>
              <a:spcAft>
                <a:spcPts val="1000"/>
              </a:spcAft>
            </a:pPr>
            <a:r>
              <a:rPr sz="1300" b="1" i="0">
                <a:solidFill>
                  <a:srgbClr val="F58220"/>
                </a:solidFill>
                <a:latin typeface="Calibri"/>
              </a:rPr>
              <a:t>▪  </a:t>
            </a:r>
            <a:r>
              <a:rPr sz="1300" b="0" i="0">
                <a:solidFill>
                  <a:srgbClr val="333333"/>
                </a:solidFill>
                <a:latin typeface="Calibri"/>
              </a:rPr>
              <a:t>Live AMFI streaming data channels</a:t>
            </a:r>
          </a:p>
          <a:p>
            <a:pPr>
              <a:lnSpc>
                <a:spcPct val="108000"/>
              </a:lnSpc>
              <a:spcAft>
                <a:spcPts val="1000"/>
              </a:spcAft>
            </a:pPr>
            <a:r>
              <a:rPr sz="1300" b="1" i="0">
                <a:solidFill>
                  <a:srgbClr val="F58220"/>
                </a:solidFill>
                <a:latin typeface="Calibri"/>
              </a:rPr>
              <a:t>▪  </a:t>
            </a:r>
            <a:r>
              <a:rPr sz="1300" b="0" i="0">
                <a:solidFill>
                  <a:srgbClr val="333333"/>
                </a:solidFill>
                <a:latin typeface="Calibri"/>
              </a:rPr>
              <a:t>Real-time portfolio alerts for advisors</a:t>
            </a:r>
          </a:p>
        </p:txBody>
      </p:sp>
      <p:sp>
        <p:nvSpPr>
          <p:cNvPr id="7" name="TextBox 6"/>
          <p:cNvSpPr txBox="1"/>
          <p:nvPr/>
        </p:nvSpPr>
        <p:spPr>
          <a:xfrm>
            <a:off x="4709160" y="1325880"/>
            <a:ext cx="3977639" cy="274320"/>
          </a:xfrm>
          <a:prstGeom prst="rect">
            <a:avLst/>
          </a:prstGeom>
          <a:noFill/>
        </p:spPr>
        <p:txBody>
          <a:bodyPr wrap="square" lIns="0" tIns="0" rIns="0" bIns="0" anchor="t">
            <a:spAutoFit/>
          </a:bodyPr>
          <a:lstStyle/>
          <a:p>
            <a:r>
              <a:rPr sz="1300" b="1" i="0">
                <a:solidFill>
                  <a:srgbClr val="0C1E36"/>
                </a:solidFill>
                <a:latin typeface="Calibri"/>
              </a:rPr>
              <a:t>Conclusion</a:t>
            </a:r>
          </a:p>
        </p:txBody>
      </p:sp>
      <p:sp>
        <p:nvSpPr>
          <p:cNvPr id="8" name="TextBox 7"/>
          <p:cNvSpPr txBox="1"/>
          <p:nvPr/>
        </p:nvSpPr>
        <p:spPr>
          <a:xfrm>
            <a:off x="4709160" y="1691640"/>
            <a:ext cx="3977639" cy="2377440"/>
          </a:xfrm>
          <a:prstGeom prst="rect">
            <a:avLst/>
          </a:prstGeom>
          <a:noFill/>
        </p:spPr>
        <p:txBody>
          <a:bodyPr wrap="square" lIns="0" tIns="0" rIns="0" bIns="0" anchor="t">
            <a:spAutoFit/>
          </a:bodyPr>
          <a:lstStyle/>
          <a:p>
            <a:pPr>
              <a:lnSpc>
                <a:spcPct val="108000"/>
              </a:lnSpc>
              <a:spcAft>
                <a:spcPts val="1000"/>
              </a:spcAft>
            </a:pPr>
            <a:r>
              <a:rPr sz="1250" b="1" i="0">
                <a:solidFill>
                  <a:srgbClr val="F58220"/>
                </a:solidFill>
                <a:latin typeface="Calibri"/>
              </a:rPr>
              <a:t>▪  </a:t>
            </a:r>
            <a:r>
              <a:rPr sz="1250" b="0" i="0">
                <a:solidFill>
                  <a:srgbClr val="333333"/>
                </a:solidFill>
                <a:latin typeface="Calibri"/>
              </a:rPr>
              <a:t>Successfully designed and launched the platform during the BlueStock Fintech internship</a:t>
            </a:r>
          </a:p>
          <a:p>
            <a:pPr>
              <a:lnSpc>
                <a:spcPct val="108000"/>
              </a:lnSpc>
              <a:spcAft>
                <a:spcPts val="1000"/>
              </a:spcAft>
            </a:pPr>
            <a:r>
              <a:rPr sz="1250" b="1" i="0">
                <a:solidFill>
                  <a:srgbClr val="F58220"/>
                </a:solidFill>
                <a:latin typeface="Calibri"/>
              </a:rPr>
              <a:t>▪  </a:t>
            </a:r>
            <a:r>
              <a:rPr sz="1250" b="0" i="0">
                <a:solidFill>
                  <a:srgbClr val="333333"/>
                </a:solidFill>
                <a:latin typeface="Calibri"/>
              </a:rPr>
              <a:t>Centralizes fragmented data, automates price collection, and enables interactive risk-return analysis</a:t>
            </a:r>
          </a:p>
          <a:p>
            <a:pPr>
              <a:lnSpc>
                <a:spcPct val="108000"/>
              </a:lnSpc>
              <a:spcAft>
                <a:spcPts val="1000"/>
              </a:spcAft>
            </a:pPr>
            <a:r>
              <a:rPr sz="1250" b="1" i="0">
                <a:solidFill>
                  <a:srgbClr val="F58220"/>
                </a:solidFill>
                <a:latin typeface="Calibri"/>
              </a:rPr>
              <a:t>▪  </a:t>
            </a:r>
            <a:r>
              <a:rPr sz="1250" b="0" i="0">
                <a:solidFill>
                  <a:srgbClr val="333333"/>
                </a:solidFill>
                <a:latin typeface="Calibri"/>
              </a:rPr>
              <a:t>Demonstrates that data-driven interfaces help demystify mutual fund analytics for rational wealth planning</a:t>
            </a:r>
          </a:p>
        </p:txBody>
      </p:sp>
      <p:sp>
        <p:nvSpPr>
          <p:cNvPr id="9" name="Rounded Rectangle 8"/>
          <p:cNvSpPr/>
          <p:nvPr/>
        </p:nvSpPr>
        <p:spPr>
          <a:xfrm>
            <a:off x="457200" y="4343400"/>
            <a:ext cx="8229600" cy="502920"/>
          </a:xfrm>
          <a:prstGeom prst="roundRect">
            <a:avLst>
              <a:gd name="adj" fmla="val 15000"/>
            </a:avLst>
          </a:prstGeom>
          <a:solidFill>
            <a:srgbClr val="0C1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i="0">
                <a:solidFill>
                  <a:srgbClr val="FFFFFF"/>
                </a:solidFill>
                <a:latin typeface="Calibri"/>
              </a:rPr>
              <a:t>Thank You  —  Mohammad Zuheer, Data Analyst Intern, BlueStock Fintech</a:t>
            </a:r>
          </a:p>
        </p:txBody>
      </p:sp>
      <p:sp>
        <p:nvSpPr>
          <p:cNvPr id="10" name="TextBox 9"/>
          <p:cNvSpPr txBox="1"/>
          <p:nvPr/>
        </p:nvSpPr>
        <p:spPr>
          <a:xfrm>
            <a:off x="8686800" y="4864608"/>
            <a:ext cx="365760" cy="228600"/>
          </a:xfrm>
          <a:prstGeom prst="rect">
            <a:avLst/>
          </a:prstGeom>
          <a:noFill/>
        </p:spPr>
        <p:txBody>
          <a:bodyPr wrap="square" lIns="0" tIns="0" rIns="0" bIns="0" anchor="t">
            <a:spAutoFit/>
          </a:bodyPr>
          <a:lstStyle/>
          <a:p>
            <a:pPr algn="r"/>
            <a:r>
              <a:rPr sz="900" b="0" i="0">
                <a:solidFill>
                  <a:srgbClr val="8A93A3"/>
                </a:solidFill>
                <a:latin typeface="Calibri"/>
              </a:rPr>
              <a:t>20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C1F36E-15B1-3D5A-D0C2-B29651FA9FAB}"/>
              </a:ext>
            </a:extLst>
          </p:cNvPr>
          <p:cNvSpPr txBox="1"/>
          <p:nvPr/>
        </p:nvSpPr>
        <p:spPr>
          <a:xfrm>
            <a:off x="445376" y="835572"/>
            <a:ext cx="8253247" cy="3416320"/>
          </a:xfrm>
          <a:prstGeom prst="rect">
            <a:avLst/>
          </a:prstGeom>
          <a:noFill/>
        </p:spPr>
        <p:txBody>
          <a:bodyPr wrap="square" rtlCol="0">
            <a:spAutoFit/>
          </a:bodyPr>
          <a:lstStyle/>
          <a:p>
            <a:r>
              <a:rPr lang="en-US" b="1">
                <a:latin typeface="Times New Roman" panose="02020603050405020304" pitchFamily="18" charset="0"/>
                <a:cs typeface="Times New Roman" panose="02020603050405020304" pitchFamily="18" charset="0"/>
              </a:rPr>
              <a:t>Live link-</a:t>
            </a:r>
            <a:r>
              <a:rPr lang="en-US" b="1" u="sng">
                <a:latin typeface="Times New Roman" panose="02020603050405020304" pitchFamily="18" charset="0"/>
                <a:cs typeface="Times New Roman" panose="02020603050405020304" pitchFamily="18" charset="0"/>
                <a:hlinkClick r:id="rId2"/>
              </a:rPr>
              <a:t>https://bluestock-mf-analytics.streamlit.app/</a:t>
            </a:r>
            <a:endParaRPr lang="en-US" b="1" u="sng">
              <a:latin typeface="Times New Roman" panose="02020603050405020304" pitchFamily="18" charset="0"/>
              <a:cs typeface="Times New Roman" panose="02020603050405020304" pitchFamily="18" charset="0"/>
            </a:endParaRPr>
          </a:p>
          <a:p>
            <a:endParaRPr lang="en-US" b="1" u="sng">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a:t>
            </a:r>
            <a:r>
              <a:rPr lang="en-US" b="1">
                <a:latin typeface="Times New Roman" panose="02020603050405020304" pitchFamily="18" charset="0"/>
                <a:cs typeface="Times New Roman" panose="02020603050405020304" pitchFamily="18" charset="0"/>
              </a:rPr>
              <a:t>Note:</a:t>
            </a:r>
            <a:r>
              <a:rPr lang="en-US">
                <a:latin typeface="Times New Roman" panose="02020603050405020304" pitchFamily="18" charset="0"/>
                <a:cs typeface="Times New Roman" panose="02020603050405020304" pitchFamily="18" charset="0"/>
              </a:rPr>
              <a:t> </a:t>
            </a: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I scheduled my local ETL pipeline to run automatically every day at 8:00 PM on my computer. However, this only updates the database file locally on my machine. Since the live website reads the database file hosted on my GitHub repository (and Streamlit Cloud servers reset periodically), I must push the updated local database to GitHub to show the daily 8:00 PM updates on the live website. I have to push it manually every time because my local computer is isolated from the cloud, and the Streamlit Cloud server has no direct access to read files from my local system.</a:t>
            </a: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94641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TotalTime>
  <Words>2780</Words>
  <Application>Microsoft Office PowerPoint</Application>
  <PresentationFormat>On-screen Show (16:9)</PresentationFormat>
  <Paragraphs>297</Paragraphs>
  <Slides>24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Consolas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MOHAMMAD ZUHEER ZUHEER</cp:lastModifiedBy>
  <cp:revision>8</cp:revision>
  <dcterms:created xsi:type="dcterms:W3CDTF">2013-01-27T09:14:16Z</dcterms:created>
  <dcterms:modified xsi:type="dcterms:W3CDTF">2026-07-13T08:22:41Z</dcterms:modified>
  <cp:category/>
</cp:coreProperties>
</file>